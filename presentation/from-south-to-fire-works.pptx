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315"/>
  </p:normalViewPr>
  <p:slideViewPr>
    <p:cSldViewPr snapToGrid="0">
      <p:cViewPr varScale="1">
        <p:scale>
          <a:sx n="106" d="100"/>
          <a:sy n="106" d="100"/>
        </p:scale>
        <p:origin x="1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sz="1862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rPr>
              <a:t>USD per active hour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USD per active hour</c:v>
          </c:tx>
          <c:spPr>
            <a:solidFill>
              <a:srgbClr val="156082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Foundry reference</c:v>
                </c:pt>
                <c:pt idx="1">
                  <c:v>Fireworks B200</c:v>
                </c:pt>
                <c:pt idx="2">
                  <c:v>Fireworks H200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80</c:v>
                </c:pt>
                <c:pt idx="1">
                  <c:v>13</c:v>
                </c:pt>
                <c:pt idx="2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190-674F-9C70-9C73DAA2B3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97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majorGridlines>
          <c:spPr>
            <a:ln w="9525" cmpd="sng">
              <a:solidFill>
                <a:schemeClr val="tx1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1197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per active hour</c:v>
                </c:pt>
              </c:strCache>
            </c:strRef>
          </c:tx>
          <c:spPr>
            <a:solidFill>
              <a:srgbClr val="3486F6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75" b="1">
                    <a:solidFill>
                      <a:srgbClr val="242424"/>
                    </a:solidFill>
                    <a:latin typeface="Instrument Sans regular"/>
                    <a:ea typeface="Instrument Sans regular"/>
                    <a:cs typeface="Instrument Sans regula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Foundry reference</c:v>
                </c:pt>
                <c:pt idx="1">
                  <c:v>Fireworks B200</c:v>
                </c:pt>
                <c:pt idx="2">
                  <c:v>Fireworks H200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13</c:v>
                </c:pt>
                <c:pt idx="2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252-AC4D-9952-39D8EC2A43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Accuracy</c:v>
          </c:tx>
          <c:spPr>
            <a:solidFill>
              <a:srgbClr val="3486F6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050" b="1">
                    <a:solidFill>
                      <a:srgbClr val="242424"/>
                    </a:solidFill>
                    <a:latin typeface="Instrument Sans regular"/>
                    <a:ea typeface="Instrument Sans regular"/>
                    <a:cs typeface="Instrument Sans regula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GPT-4o agent</c:v>
                </c:pt>
                <c:pt idx="1">
                  <c:v>GPT-5.6 agent</c:v>
                </c:pt>
                <c:pt idx="2">
                  <c:v>GPT-5.6 Luna</c:v>
                </c:pt>
                <c:pt idx="3">
                  <c:v>Qwen3 0.6B FT</c:v>
                </c:pt>
                <c:pt idx="4">
                  <c:v>Qwen3.5 0.8B FT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78.150000000000006</c:v>
                </c:pt>
                <c:pt idx="1">
                  <c:v>84.71</c:v>
                </c:pt>
                <c:pt idx="2">
                  <c:v>85.19</c:v>
                </c:pt>
                <c:pt idx="3">
                  <c:v>85.06</c:v>
                </c:pt>
                <c:pt idx="4">
                  <c:v>86.88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9C6-B548-AAC0-A8E6AF613AB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Accuracy (%)</c:v>
          </c:tx>
          <c:spPr>
            <a:solidFill>
              <a:srgbClr val="3486F6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75" b="1">
                    <a:solidFill>
                      <a:srgbClr val="242424"/>
                    </a:solidFill>
                    <a:latin typeface="Instrument Sans regular"/>
                    <a:ea typeface="Instrument Sans regular"/>
                    <a:cs typeface="Instrument Sans regula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GPT-4o agent</c:v>
              </c:pt>
              <c:pt idx="1">
                <c:v>GPT-5.6 agent</c:v>
              </c:pt>
              <c:pt idx="2">
                <c:v>GPT-5.6 direct</c:v>
              </c:pt>
              <c:pt idx="3">
                <c:v>Qwen3 0.6B FT</c:v>
              </c:pt>
              <c:pt idx="4">
                <c:v>Qwen3.5 0.8B FT</c:v>
              </c:pt>
            </c:strLit>
          </c:cat>
          <c:val>
            <c:numLit>
              <c:formatCode>General</c:formatCode>
              <c:ptCount val="5"/>
              <c:pt idx="0">
                <c:v>78.150000000000006</c:v>
              </c:pt>
              <c:pt idx="1">
                <c:v>84.71</c:v>
              </c:pt>
              <c:pt idx="2">
                <c:v>85.19</c:v>
              </c:pt>
              <c:pt idx="3">
                <c:v>85.06</c:v>
              </c:pt>
              <c:pt idx="4">
                <c:v>86.88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85A-B743-8657-C79BA72028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Total tokens</c:v>
          </c:tx>
          <c:spPr>
            <a:solidFill>
              <a:srgbClr val="765AE8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75" b="1">
                    <a:solidFill>
                      <a:srgbClr val="242424"/>
                    </a:solidFill>
                    <a:latin typeface="Instrument Sans regular"/>
                    <a:ea typeface="Instrument Sans regular"/>
                    <a:cs typeface="Instrument Sans regula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Qwen3.5 0.8B FT</c:v>
              </c:pt>
              <c:pt idx="1">
                <c:v>GPT-5.6 direct</c:v>
              </c:pt>
            </c:strLit>
          </c:cat>
          <c:val>
            <c:numLit>
              <c:formatCode>General</c:formatCode>
              <c:ptCount val="2"/>
              <c:pt idx="0">
                <c:v>38779</c:v>
              </c:pt>
              <c:pt idx="1">
                <c:v>1368780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C99-1646-870D-AA91673F285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Accuracy (%)</c:v>
          </c:tx>
          <c:spPr>
            <a:solidFill>
              <a:srgbClr val="3486F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242424"/>
                    </a:solidFill>
                    <a:latin typeface="Instrument Sans regular"/>
                    <a:ea typeface="Instrument Sans regular"/>
                    <a:cs typeface="Instrument Sans regula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GPT-4o agent</c:v>
              </c:pt>
              <c:pt idx="1">
                <c:v>GPT-5.6 agent</c:v>
              </c:pt>
              <c:pt idx="2">
                <c:v>GPT-5.6 direct</c:v>
              </c:pt>
              <c:pt idx="3">
                <c:v>Qwen3 0.6B FT</c:v>
              </c:pt>
              <c:pt idx="4">
                <c:v>Qwen3.5 0.8B FT</c:v>
              </c:pt>
            </c:strLit>
          </c:cat>
          <c:val>
            <c:numLit>
              <c:formatCode>General</c:formatCode>
              <c:ptCount val="5"/>
              <c:pt idx="0">
                <c:v>78.150000000000006</c:v>
              </c:pt>
              <c:pt idx="1">
                <c:v>84.71</c:v>
              </c:pt>
              <c:pt idx="2">
                <c:v>85.19</c:v>
              </c:pt>
              <c:pt idx="3">
                <c:v>85.06</c:v>
              </c:pt>
              <c:pt idx="4">
                <c:v>86.88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425-4442-9640-C3CE7D3708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Total tokens</c:v>
          </c:tx>
          <c:spPr>
            <a:solidFill>
              <a:srgbClr val="765AE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242424"/>
                    </a:solidFill>
                    <a:latin typeface="Instrument Sans regular"/>
                    <a:ea typeface="Instrument Sans regular"/>
                    <a:cs typeface="Instrument Sans regula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Qwen3.5 0.8B FT</c:v>
              </c:pt>
              <c:pt idx="1">
                <c:v>GPT-5.6 direct</c:v>
              </c:pt>
            </c:strLit>
          </c:cat>
          <c:val>
            <c:numLit>
              <c:formatCode>General</c:formatCode>
              <c:ptCount val="2"/>
              <c:pt idx="0">
                <c:v>38779</c:v>
              </c:pt>
              <c:pt idx="1">
                <c:v>1368780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758-594B-9753-BEA2422D5B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Decision accuracy (%)</c:v>
          </c:tx>
          <c:spPr>
            <a:solidFill>
              <a:srgbClr val="15936F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75" b="1">
                    <a:solidFill>
                      <a:srgbClr val="242424"/>
                    </a:solidFill>
                    <a:latin typeface="Instrument Sans regular"/>
                    <a:ea typeface="Instrument Sans regular"/>
                    <a:cs typeface="Instrument Sans regula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Qwen3-4B FT v2</c:v>
              </c:pt>
              <c:pt idx="1">
                <c:v>GPT-5</c:v>
              </c:pt>
              <c:pt idx="2">
                <c:v>Qwen3-4B base</c:v>
              </c:pt>
            </c:strLit>
          </c:cat>
          <c:val>
            <c:numLit>
              <c:formatCode>General</c:formatCode>
              <c:ptCount val="3"/>
              <c:pt idx="0">
                <c:v>54.37</c:v>
              </c:pt>
              <c:pt idx="1">
                <c:v>37.86</c:v>
              </c:pt>
              <c:pt idx="2">
                <c:v>27.18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9F0-A147-87C0-142223F132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50112"/>
        <c:crosses val="autoZero"/>
        <c:crossBetween val="between"/>
        <c:majorUnit val="10"/>
      </c:valAx>
    </c:plotArea>
    <c:plotVisOnly val="1"/>
    <c:dispBlanksAs val="zero"/>
    <c:showDLblsOverMax val="1"/>
  </c:char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Judge score / 100</c:v>
          </c:tx>
          <c:spPr>
            <a:solidFill>
              <a:srgbClr val="765AE8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75" b="1">
                    <a:solidFill>
                      <a:srgbClr val="242424"/>
                    </a:solidFill>
                    <a:latin typeface="Instrument Sans regular"/>
                    <a:ea typeface="Instrument Sans regular"/>
                    <a:cs typeface="Instrument Sans regula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Qwen3-4B FT v2</c:v>
              </c:pt>
              <c:pt idx="1">
                <c:v>GPT-5</c:v>
              </c:pt>
              <c:pt idx="2">
                <c:v>Qwen3-4B base</c:v>
              </c:pt>
            </c:strLit>
          </c:cat>
          <c:val>
            <c:numLit>
              <c:formatCode>General</c:formatCode>
              <c:ptCount val="3"/>
              <c:pt idx="0">
                <c:v>60.4</c:v>
              </c:pt>
              <c:pt idx="1">
                <c:v>63.7</c:v>
              </c:pt>
              <c:pt idx="2">
                <c:v>43.12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B74-C14C-BDE7-DD529958795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50112"/>
        <c:crosses val="autoZero"/>
        <c:crossBetween val="between"/>
        <c:majorUnit val="10"/>
      </c:valAx>
    </c:plotArea>
    <c:plotVisOnly val="1"/>
    <c:dispBlanksAs val="zero"/>
    <c:showDLblsOverMax val="1"/>
  </c:char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Decision accuracy (%)</c:v>
          </c:tx>
          <c:spPr>
            <a:solidFill>
              <a:srgbClr val="15936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242424"/>
                    </a:solidFill>
                    <a:latin typeface="Instrument Sans regular"/>
                    <a:ea typeface="Instrument Sans regular"/>
                    <a:cs typeface="Instrument Sans regula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Qwen3-4B FT v2</c:v>
              </c:pt>
              <c:pt idx="1">
                <c:v>GPT-5</c:v>
              </c:pt>
              <c:pt idx="2">
                <c:v>Qwen3-4B base</c:v>
              </c:pt>
            </c:strLit>
          </c:cat>
          <c:val>
            <c:numLit>
              <c:formatCode>General</c:formatCode>
              <c:ptCount val="3"/>
              <c:pt idx="0">
                <c:v>54.37</c:v>
              </c:pt>
              <c:pt idx="1">
                <c:v>37.86</c:v>
              </c:pt>
              <c:pt idx="2">
                <c:v>27.18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885-B84A-9B76-30EE616151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50112"/>
        <c:crosses val="autoZero"/>
        <c:crossBetween val="between"/>
        <c:majorUnit val="10"/>
      </c:valAx>
    </c:plotArea>
    <c:plotVisOnly val="1"/>
    <c:dispBlanksAs val="zero"/>
    <c:showDLblsOverMax val="1"/>
  </c:char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Judge score / 100</c:v>
          </c:tx>
          <c:spPr>
            <a:solidFill>
              <a:srgbClr val="765AE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242424"/>
                    </a:solidFill>
                    <a:latin typeface="Instrument Sans regular"/>
                    <a:ea typeface="Instrument Sans regular"/>
                    <a:cs typeface="Instrument Sans regula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Qwen3-4B FT v2</c:v>
              </c:pt>
              <c:pt idx="1">
                <c:v>GPT-5</c:v>
              </c:pt>
              <c:pt idx="2">
                <c:v>Qwen3-4B base</c:v>
              </c:pt>
            </c:strLit>
          </c:cat>
          <c:val>
            <c:numLit>
              <c:formatCode>General</c:formatCode>
              <c:ptCount val="3"/>
              <c:pt idx="0">
                <c:v>60.4</c:v>
              </c:pt>
              <c:pt idx="1">
                <c:v>63.7</c:v>
              </c:pt>
              <c:pt idx="2">
                <c:v>43.12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DD0-F746-8479-96112B0459D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50112"/>
        <c:crosses val="autoZero"/>
        <c:crossBetween val="between"/>
        <c:majorUnit val="10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Fireworks is a first-party inference provider in Foundry, with PayGo and PTU options. Direct Fireworks is evaluated as an alternative route, not a missing integration.</a:t>
            </a:r>
            <a:endParaRPr lang="es-419"/>
          </a:p>
          <a:p>
            <a:r>
              <a:rPr lang="en-US"/>
              <a:t>Sources: https://fireworks.ai/partners/microsoft and Microsoft Foundry Fireworks documentation. </a:t>
            </a:r>
            <a:br>
              <a:rPr lang="en-US"/>
            </a:b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Microsoft lists A100, H100, H200 and MI300 families on the pricing page, but publishes no numerical public rate. B200 is not listed. Fireworks rates: https://fireworks.ai/pricing. </a:t>
            </a:r>
            <a:endParaRPr lang="es-419"/>
          </a:p>
          <a:p>
            <a:r>
              <a:rPr lang="en-US"/>
              <a:t>Sources: https://fireworks.ai/partners/microsoft and Microsoft Foundry Fireworks documentation. </a:t>
            </a:r>
            <a:br>
              <a:rPr lang="en-US"/>
            </a:b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case: Banking77 is an intent-classification benchmark for banking and financial-services conversations. It tests whether a model can map customer queries to one of 77 predefined support intents. </a:t>
            </a:r>
            <a:br>
              <a:rPr lang="es-419"/>
            </a:br>
            <a:r>
              <a:t>Best-model comparison: Qwen3.5-0.8B LoRA versus GPT-5.6 Luna direct. </a:t>
            </a:r>
            <a:br>
              <a:rPr lang="es-419"/>
            </a:br>
            <a:r>
              <a:t>Accuracy: 86.88% versus 85.19%. </a:t>
            </a:r>
            <a:br>
              <a:rPr lang="es-419"/>
            </a:br>
            <a:r>
              <a:t>Total tokens: 38,779 versus 1,368,780 across the same 3,080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case: this custom dataset is derived from the Amazon Reviews 2023 dataset. </a:t>
            </a:r>
            <a:br>
              <a:rPr lang="es-419"/>
            </a:br>
            <a:r>
              <a:t>It was prepared to train and evaluate a shopping copilot that reviews product evidence and recommends BUY</a:t>
            </a:r>
            <a:r>
              <a:rPr lang="es-419"/>
              <a:t>, CONDITIONAL BUY, INSUFFICIENT EVIDENCE</a:t>
            </a:r>
            <a:r>
              <a:t> or NOT BUY. </a:t>
            </a:r>
            <a:br>
              <a:rPr lang="es-419"/>
            </a:br>
            <a:r>
              <a:rPr lang="es-419"/>
              <a:t>GPT 6 Sol was used as blind judge of all models in the benchmark</a:t>
            </a:r>
            <a:br>
              <a:rPr lang="es-419"/>
            </a:br>
            <a:br>
              <a:rPr lang="es-419"/>
            </a:br>
            <a:r>
              <a:t>Best-model comparison: Qwen3-4B FT v2 versus GPT-5. Same 103 cases. </a:t>
            </a:r>
            <a:br>
              <a:rPr lang="es-419"/>
            </a:br>
            <a:r>
              <a:t>Decision accuracy: 54.37% versus 37.86%. </a:t>
            </a:r>
            <a:br>
              <a:rPr lang="es-419"/>
            </a:br>
            <a:r>
              <a:t>Blind judge score: 60.40 versus 63.70. </a:t>
            </a:r>
            <a:br>
              <a:rPr lang="es-419"/>
            </a:br>
            <a:r>
              <a:t>Total tokens: 247,281 versus 469,953.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Microsoft pricing source: https://devblogs.microsoft.com/foundry/whats-new-in-azure-ai-foundry-august-2025/</a:t>
            </a:r>
            <a:br>
              <a:rPr lang="es-419"/>
            </a:br>
            <a:r>
              <a:t>GPT-5 Global Standard pricing: $1.25 per million input tokens and $10 per million output tokens. </a:t>
            </a:r>
            <a:br>
              <a:rPr lang="es-419"/>
            </a:br>
            <a:r>
              <a:t>Observed usage across 103 Amazon cases: 223,680 input tokens and 246,273 output tokens. </a:t>
            </a:r>
            <a:br>
              <a:rPr lang="es-419"/>
            </a:br>
            <a:r>
              <a:t>Monthly estimates assume 1,000 requests/hour: 720h = $19,169.69 and 3.285B tokens; 176h = $4,685.92 and 803M tokens; 80h = $2,129.97 and 365M tokens.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Partnership value proposition for discussion. No official Southworks and Fireworks AI partnership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image" Target="../media/image3.png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chart" Target="../charts/chart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10500" y="1066800"/>
            <a:ext cx="3714750" cy="3714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91432FC-5112-41C7-8F59-F82457A5BD4E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✦ southworks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6645C9-0EF9-4CE5-9D92-E89777F870DF}"/>
              </a:ext>
            </a:extLst>
          </p:cNvPr>
          <p:cNvSpPr>
            <a:spLocks noGrp="1"/>
          </p:cNvSpPr>
          <p:nvPr/>
        </p:nvSpPr>
        <p:spPr>
          <a:xfrm>
            <a:off x="457200" y="2190750"/>
            <a:ext cx="69532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43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43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Specialized AI,</a:t>
            </a:r>
          </a:p>
          <a:p>
            <a:pPr algn="l">
              <a:buNone/>
              <a:defRPr sz="43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43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Better Economics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0297A8-2A98-425C-B258-63600C800DFC}"/>
              </a:ext>
            </a:extLst>
          </p:cNvPr>
          <p:cNvSpPr>
            <a:spLocks noGrp="1"/>
          </p:cNvSpPr>
          <p:nvPr/>
        </p:nvSpPr>
        <p:spPr>
          <a:xfrm>
            <a:off x="495300" y="3810000"/>
            <a:ext cx="6762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875" b="0">
                <a:solidFill>
                  <a:srgbClr val="FFFFFF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875" b="0">
                <a:solidFill>
                  <a:srgbClr val="FFFFFF"/>
                </a:solidFill>
                <a:latin typeface="PP Telegraf regular"/>
                <a:ea typeface="PP Telegraf regular"/>
                <a:cs typeface="PP Telegraf regular"/>
              </a:rPr>
              <a:t>A Southworks and Fireworks AI partnership opportunity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F2C2B6-8242-418F-A542-7D8C70057615}"/>
              </a:ext>
            </a:extLst>
          </p:cNvPr>
          <p:cNvSpPr>
            <a:spLocks noGrp="1"/>
          </p:cNvSpPr>
          <p:nvPr/>
        </p:nvSpPr>
        <p:spPr>
          <a:xfrm>
            <a:off x="495300" y="44577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7696" lnSpcReduction="10000"/>
          </a:bodyPr>
          <a:lstStyle/>
          <a:p>
            <a:pPr algn="l">
              <a:buNone/>
              <a:defRPr sz="1275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0">
              <a:solidFill>
                <a:srgbClr val="FFFFFF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D4B6EB-C21D-47D7-8AF8-6E7F557EF20F}"/>
              </a:ext>
            </a:extLst>
          </p:cNvPr>
          <p:cNvSpPr>
            <a:spLocks noGrp="1"/>
          </p:cNvSpPr>
          <p:nvPr/>
        </p:nvSpPr>
        <p:spPr>
          <a:xfrm>
            <a:off x="438150" y="61912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</p:spTree>
    <p:extLst>
      <p:ext uri="{BB962C8B-B14F-4D97-AF65-F5344CB8AC3E}">
        <p14:creationId xmlns:p14="http://schemas.microsoft.com/office/powerpoint/2010/main" val="1312465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4AA3D8B-9F64-472C-8940-DE170ABFA3D4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800207-3080-403D-9B22-81A98302F28C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55E22D-9156-471A-B917-E75EB9EE31AA}"/>
              </a:ext>
            </a:extLst>
          </p:cNvPr>
          <p:cNvSpPr>
            <a:spLocks noGrp="1"/>
          </p:cNvSpPr>
          <p:nvPr/>
        </p:nvSpPr>
        <p:spPr>
          <a:xfrm>
            <a:off x="2016187" y="288365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0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SOUTHWORKS</a:t>
            </a:r>
            <a:r>
              <a:rPr sz="23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 can turn specialization into Fireworks adoption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4B8B97-C7F6-4477-9772-528609C38E0D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419E1D-FB6E-4796-8652-850F75990093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EC0BF3-6F04-4F34-9FD1-C16FC54248F4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24B77D-FA8F-4804-B149-524F1E066834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1138"/>
          </a:bodyPr>
          <a:lstStyle/>
          <a:p>
            <a:pPr algn="ctr">
              <a:buNone/>
              <a:defRPr sz="18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5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SOUTHWORKS</a:t>
            </a:r>
            <a:r>
              <a:rPr sz="18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 combines compact-model fine-tuning, enterprise integration and economic validation. The partnership opportunity is to move suitable inference workloads to Fireworks while preserving the surrounding application estate.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58CC60-F88D-428C-9148-36010E782814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48" lnSpcReduction="10000"/>
          </a:bodyPr>
          <a:lstStyle/>
          <a:p>
            <a:pPr algn="l">
              <a:buNone/>
              <a:defRPr sz="165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3AB792-99B0-4C1C-8E03-294F0E246110}"/>
              </a:ext>
            </a:extLst>
          </p:cNvPr>
          <p:cNvSpPr>
            <a:spLocks noGrp="1"/>
          </p:cNvSpPr>
          <p:nvPr/>
        </p:nvSpPr>
        <p:spPr>
          <a:xfrm>
            <a:off x="1428750" y="195262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Evidence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0B8390-0C5E-441F-A674-1FBA753161C5}"/>
              </a:ext>
            </a:extLst>
          </p:cNvPr>
          <p:cNvSpPr>
            <a:spLocks noGrp="1"/>
          </p:cNvSpPr>
          <p:nvPr/>
        </p:nvSpPr>
        <p:spPr>
          <a:xfrm>
            <a:off x="3238500" y="1952625"/>
            <a:ext cx="7810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highlight>
                  <a:srgbClr val="FFFF00"/>
                </a:highlight>
                <a:latin typeface="Instrument Sans regular"/>
                <a:ea typeface="Instrument Sans regular"/>
                <a:cs typeface="Instrument Sans regular"/>
              </a:rPr>
              <a:t>A 0.8B fine-tuned model reached 86.88% accuracy on Banking77, above the 85.19% generalist baseline.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67B8EF-8CE8-4D8C-872B-1AC61E2F9998}"/>
              </a:ext>
            </a:extLst>
          </p:cNvPr>
          <p:cNvSpPr>
            <a:spLocks noGrp="1"/>
          </p:cNvSpPr>
          <p:nvPr/>
        </p:nvSpPr>
        <p:spPr>
          <a:xfrm>
            <a:off x="742950" y="2828925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48" lnSpcReduction="10000"/>
          </a:bodyPr>
          <a:lstStyle/>
          <a:p>
            <a:pPr algn="l">
              <a:buNone/>
              <a:defRPr sz="165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67B036-AA38-4288-BD66-F1A431FB1E79}"/>
              </a:ext>
            </a:extLst>
          </p:cNvPr>
          <p:cNvSpPr>
            <a:spLocks noGrp="1"/>
          </p:cNvSpPr>
          <p:nvPr/>
        </p:nvSpPr>
        <p:spPr>
          <a:xfrm>
            <a:off x="1428750" y="282892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Economics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623D25-65A1-48CF-8A5F-756B9607CC58}"/>
              </a:ext>
            </a:extLst>
          </p:cNvPr>
          <p:cNvSpPr>
            <a:spLocks noGrp="1"/>
          </p:cNvSpPr>
          <p:nvPr/>
        </p:nvSpPr>
        <p:spPr>
          <a:xfrm>
            <a:off x="3238500" y="2828925"/>
            <a:ext cx="7810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highlight>
                  <a:srgbClr val="FFFF00"/>
                </a:highlight>
                <a:latin typeface="Instrument Sans regular"/>
                <a:ea typeface="Instrument Sans regular"/>
                <a:cs typeface="Instrument Sans regular"/>
              </a:rPr>
              <a:t>Direct Fireworks GPU rates provide a transparent cost lever. Actual savings depend on utilization, throughput and SLA.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A84483-0BC8-42CC-9B34-4DFC0C9A3AB7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48" lnSpcReduction="10000"/>
          </a:bodyPr>
          <a:lstStyle/>
          <a:p>
            <a:pPr algn="l">
              <a:buNone/>
              <a:defRPr sz="165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A6656B-F055-4247-8516-862F1424341D}"/>
              </a:ext>
            </a:extLst>
          </p:cNvPr>
          <p:cNvSpPr>
            <a:spLocks noGrp="1"/>
          </p:cNvSpPr>
          <p:nvPr/>
        </p:nvSpPr>
        <p:spPr>
          <a:xfrm>
            <a:off x="1428750" y="370522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Enterprise path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99ED9E-242F-4281-BB5E-5DDE625864CB}"/>
              </a:ext>
            </a:extLst>
          </p:cNvPr>
          <p:cNvSpPr>
            <a:spLocks noGrp="1"/>
          </p:cNvSpPr>
          <p:nvPr/>
        </p:nvSpPr>
        <p:spPr>
          <a:xfrm>
            <a:off x="3238500" y="3705225"/>
            <a:ext cx="7810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Customers can retain Azure applications and route selected inference calls to Fireworks endpoints.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79891A-DC38-4408-B5E3-FAF68A49B49D}"/>
              </a:ext>
            </a:extLst>
          </p:cNvPr>
          <p:cNvSpPr>
            <a:spLocks noGrp="1"/>
          </p:cNvSpPr>
          <p:nvPr/>
        </p:nvSpPr>
        <p:spPr>
          <a:xfrm>
            <a:off x="742950" y="4581525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48" lnSpcReduction="10000"/>
          </a:bodyPr>
          <a:lstStyle/>
          <a:p>
            <a:pPr algn="l">
              <a:buNone/>
              <a:defRPr sz="165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F22419-3259-4A9F-B968-E7DDB9163116}"/>
              </a:ext>
            </a:extLst>
          </p:cNvPr>
          <p:cNvSpPr>
            <a:spLocks noGrp="1"/>
          </p:cNvSpPr>
          <p:nvPr/>
        </p:nvSpPr>
        <p:spPr>
          <a:xfrm>
            <a:off x="1428750" y="458152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Joint motion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FBC0C3-F9EB-4C54-BC68-12C3ADFBD269}"/>
              </a:ext>
            </a:extLst>
          </p:cNvPr>
          <p:cNvSpPr>
            <a:spLocks noGrp="1"/>
          </p:cNvSpPr>
          <p:nvPr/>
        </p:nvSpPr>
        <p:spPr>
          <a:xfrm>
            <a:off x="3238500" y="4581525"/>
            <a:ext cx="7810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Southworks can assess workloads, fine-tune, integrate, benchmark and operate customer pilots.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60E463-B64A-4E84-814A-04A477CD02BE}"/>
              </a:ext>
            </a:extLst>
          </p:cNvPr>
          <p:cNvSpPr>
            <a:spLocks noGrp="1"/>
          </p:cNvSpPr>
          <p:nvPr/>
        </p:nvSpPr>
        <p:spPr>
          <a:xfrm>
            <a:off x="800100" y="55816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1">
              <a:solidFill>
                <a:srgbClr val="15936F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00A73C-6BB6-4769-ABD8-0BAC382465F9}"/>
              </a:ext>
            </a:extLst>
          </p:cNvPr>
          <p:cNvSpPr>
            <a:spLocks noGrp="1"/>
          </p:cNvSpPr>
          <p:nvPr/>
        </p:nvSpPr>
        <p:spPr>
          <a:xfrm>
            <a:off x="2571750" y="5543550"/>
            <a:ext cx="8572500" cy="3619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833"/>
          </a:bodyPr>
          <a:lstStyle/>
          <a:p>
            <a:pPr algn="l">
              <a:buNone/>
              <a:defRPr sz="17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700" b="1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pic>
        <p:nvPicPr>
          <p:cNvPr id="68" name="Picture 6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9DCDB8A-0E7A-453F-82BF-CC8092BB7FA3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EA3D1F-7076-4036-97CB-CF6CEC2EAC30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SUMMARY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6A078A-7DCD-41CF-A916-2B917725A45D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Southworks can turn specialization into Fireworks adoption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5B74F1-B0A0-40BD-B0B4-5326FD846E00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AAEF91-3400-49BC-9AAF-17087FF0247F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A6FCF6-9528-4A4F-B890-7D69FED6BCDA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D19C8C-97C4-428A-863B-F9DEE3A64BF7}"/>
              </a:ext>
            </a:extLst>
          </p:cNvPr>
          <p:cNvSpPr>
            <a:spLocks noGrp="1"/>
          </p:cNvSpPr>
          <p:nvPr/>
        </p:nvSpPr>
        <p:spPr>
          <a:xfrm>
            <a:off x="800100" y="952500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623"/>
          </a:bodyPr>
          <a:lstStyle/>
          <a:p>
            <a:pPr algn="ctr">
              <a:buNone/>
              <a:defRPr sz="18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Southworks combines compact-model fine-tuning, enterprise integration and economic validation. The partnership opportunity is to move suitable inference workloads to Fireworks while preserving the surrounding application estate.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16F708-ED10-4F43-9389-EABC4F9AE94C}"/>
              </a:ext>
            </a:extLst>
          </p:cNvPr>
          <p:cNvSpPr>
            <a:spLocks noGrp="1"/>
          </p:cNvSpPr>
          <p:nvPr/>
        </p:nvSpPr>
        <p:spPr>
          <a:xfrm>
            <a:off x="742950" y="1962150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48" lnSpcReduction="10000"/>
          </a:bodyPr>
          <a:lstStyle/>
          <a:p>
            <a:pPr algn="l">
              <a:buNone/>
              <a:defRPr sz="165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01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F181407-DDA4-4666-BBE6-EE05E6DCD537}"/>
              </a:ext>
            </a:extLst>
          </p:cNvPr>
          <p:cNvSpPr>
            <a:spLocks noGrp="1"/>
          </p:cNvSpPr>
          <p:nvPr/>
        </p:nvSpPr>
        <p:spPr>
          <a:xfrm>
            <a:off x="1428750" y="196215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Evidence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250041-2696-47B4-9E97-C38AA03313C6}"/>
              </a:ext>
            </a:extLst>
          </p:cNvPr>
          <p:cNvSpPr>
            <a:spLocks noGrp="1"/>
          </p:cNvSpPr>
          <p:nvPr/>
        </p:nvSpPr>
        <p:spPr>
          <a:xfrm>
            <a:off x="3238500" y="1962150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Our own experiments show that a small, domain-specialized model can match or exceed a general-purpose LLM on a narrowly defined task.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636CBCE-C6E3-4552-8BDA-3ECF7D91EC8E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48" lnSpcReduction="10000"/>
          </a:bodyPr>
          <a:lstStyle/>
          <a:p>
            <a:pPr algn="l">
              <a:buNone/>
              <a:defRPr sz="165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02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E573F1-BE2A-4BAC-B68F-245CBF31A603}"/>
              </a:ext>
            </a:extLst>
          </p:cNvPr>
          <p:cNvSpPr>
            <a:spLocks noGrp="1"/>
          </p:cNvSpPr>
          <p:nvPr/>
        </p:nvSpPr>
        <p:spPr>
          <a:xfrm>
            <a:off x="1428750" y="28575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Economics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CA1186-6E68-43AD-85EC-5884882B3D49}"/>
              </a:ext>
            </a:extLst>
          </p:cNvPr>
          <p:cNvSpPr>
            <a:spLocks noGrp="1"/>
          </p:cNvSpPr>
          <p:nvPr/>
        </p:nvSpPr>
        <p:spPr>
          <a:xfrm>
            <a:off x="3238500" y="2857500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Fireworks offers a broader choice of deployable open models and a materially lower-cost path for dedicated inference than the comparable Foundry options assessed.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4E32C82-2E2D-42B0-9E42-72D4B3D4FB05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48" lnSpcReduction="10000"/>
          </a:bodyPr>
          <a:lstStyle/>
          <a:p>
            <a:pPr algn="l">
              <a:buNone/>
              <a:defRPr sz="165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03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CE2F595-E0F3-4029-A526-5BF54AF5E550}"/>
              </a:ext>
            </a:extLst>
          </p:cNvPr>
          <p:cNvSpPr>
            <a:spLocks noGrp="1"/>
          </p:cNvSpPr>
          <p:nvPr/>
        </p:nvSpPr>
        <p:spPr>
          <a:xfrm>
            <a:off x="1428750" y="375285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Enterprise path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75494B2-4DFE-462F-949F-6074B1FFB8D2}"/>
              </a:ext>
            </a:extLst>
          </p:cNvPr>
          <p:cNvSpPr>
            <a:spLocks noGrp="1"/>
          </p:cNvSpPr>
          <p:nvPr/>
        </p:nvSpPr>
        <p:spPr>
          <a:xfrm>
            <a:off x="3238500" y="3752850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Customers can retain Azure applications and route selected inference calls to Fireworks endpoints.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1A354B-C98F-49BC-82AF-AF53505D1022}"/>
              </a:ext>
            </a:extLst>
          </p:cNvPr>
          <p:cNvSpPr>
            <a:spLocks noGrp="1"/>
          </p:cNvSpPr>
          <p:nvPr/>
        </p:nvSpPr>
        <p:spPr>
          <a:xfrm>
            <a:off x="742950" y="4648200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48" lnSpcReduction="10000"/>
          </a:bodyPr>
          <a:lstStyle/>
          <a:p>
            <a:pPr algn="l">
              <a:buNone/>
              <a:defRPr sz="165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04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0EE871F-EA6F-4BFE-99FC-777971285533}"/>
              </a:ext>
            </a:extLst>
          </p:cNvPr>
          <p:cNvSpPr>
            <a:spLocks noGrp="1"/>
          </p:cNvSpPr>
          <p:nvPr/>
        </p:nvSpPr>
        <p:spPr>
          <a:xfrm>
            <a:off x="1428750" y="46482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Joint motion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8B0309E-342E-4341-AB8A-C012D0A67DF7}"/>
              </a:ext>
            </a:extLst>
          </p:cNvPr>
          <p:cNvSpPr>
            <a:spLocks noGrp="1"/>
          </p:cNvSpPr>
          <p:nvPr/>
        </p:nvSpPr>
        <p:spPr>
          <a:xfrm>
            <a:off x="3238500" y="4648200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Southworks can assess workloads, fine-tune, integrate, benchmark and operate customer pilots.</a:t>
            </a:r>
          </a:p>
        </p:txBody>
      </p:sp>
    </p:spTree>
    <p:extLst>
      <p:ext uri="{BB962C8B-B14F-4D97-AF65-F5344CB8AC3E}">
        <p14:creationId xmlns:p14="http://schemas.microsoft.com/office/powerpoint/2010/main" val="1323360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283092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44616C-0C4F-420B-9A0E-A478920E2E77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E4852F-F93E-4CC9-85D6-4918FF9981D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CHALLENGE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D5B098-E137-47F8-879B-7B4BB84FC1A6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Enterprise AI cost depends on workload shape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6A4A3-0EDD-454D-8226-9DA24FC1052D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E710A3-EA01-47A4-80CC-CB4BC018E281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16298E-736D-45EE-8DD0-A415B1C0FD95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A24E4C-C077-40B2-B83A-1C218A7D7607}"/>
              </a:ext>
            </a:extLst>
          </p:cNvPr>
          <p:cNvSpPr>
            <a:spLocks noGrp="1"/>
          </p:cNvSpPr>
          <p:nvPr/>
        </p:nvSpPr>
        <p:spPr>
          <a:xfrm>
            <a:off x="857250" y="9144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528" lnSpcReduction="10000"/>
          </a:bodyPr>
          <a:lstStyle/>
          <a:p>
            <a:pPr algn="ctr">
              <a:buNone/>
              <a:defRPr sz="18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same application can face very different unit economics depending on whether it pays per token, reserves capacity, or pays only for active GPU time.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2E5B13-FDCB-4530-96D7-CD746B061949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3524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81C2E0-740C-4391-B3BF-89375C0E5ED9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1762125" cy="285750"/>
          </a:xfrm>
          <a:prstGeom prst="roundRect">
            <a:avLst>
              <a:gd name="adj" fmla="val 26667"/>
            </a:avLst>
          </a:prstGeom>
          <a:solidFill>
            <a:srgbClr val="765A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E2F9AE-EFF9-499F-9A2B-9067937D999C}"/>
              </a:ext>
            </a:extLst>
          </p:cNvPr>
          <p:cNvSpPr>
            <a:spLocks noGrp="1"/>
          </p:cNvSpPr>
          <p:nvPr/>
        </p:nvSpPr>
        <p:spPr>
          <a:xfrm>
            <a:off x="876299" y="2067258"/>
            <a:ext cx="1609725" cy="26946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GENERALIST</a:t>
            </a:r>
            <a:r>
              <a:rPr sz="95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 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9D42C5-7B48-45F1-8897-AFF89F40C067}"/>
              </a:ext>
            </a:extLst>
          </p:cNvPr>
          <p:cNvSpPr>
            <a:spLocks noGrp="1"/>
          </p:cNvSpPr>
          <p:nvPr/>
        </p:nvSpPr>
        <p:spPr>
          <a:xfrm>
            <a:off x="838200" y="2609850"/>
            <a:ext cx="2952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194" lnSpcReduction="10000"/>
          </a:bodyPr>
          <a:lstStyle/>
          <a:p>
            <a:pPr algn="l">
              <a:buNone/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No training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34BF48-C0FA-4910-B3D9-6E2D1316A91A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95275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Per-token billing</a:t>
            </a:r>
          </a:p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Flexible reasoning</a:t>
            </a:r>
          </a:p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Cost follows tokens and volume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AAF024-6855-49DA-9D5A-025823F7C74F}"/>
              </a:ext>
            </a:extLst>
          </p:cNvPr>
          <p:cNvSpPr>
            <a:spLocks noGrp="1"/>
          </p:cNvSpPr>
          <p:nvPr/>
        </p:nvSpPr>
        <p:spPr>
          <a:xfrm>
            <a:off x="838200" y="471487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l">
              <a:buNone/>
              <a:defRPr sz="12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1">
              <a:solidFill>
                <a:srgbClr val="765AE8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B4F76BF-D381-4641-9813-39441775D235}"/>
              </a:ext>
            </a:extLst>
          </p:cNvPr>
          <p:cNvSpPr>
            <a:spLocks noGrp="1"/>
          </p:cNvSpPr>
          <p:nvPr/>
        </p:nvSpPr>
        <p:spPr>
          <a:xfrm>
            <a:off x="4448175" y="1809750"/>
            <a:ext cx="3524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4B0FEC-3D0C-4250-8354-CC121C32F123}"/>
              </a:ext>
            </a:extLst>
          </p:cNvPr>
          <p:cNvSpPr>
            <a:spLocks noGrp="1"/>
          </p:cNvSpPr>
          <p:nvPr/>
        </p:nvSpPr>
        <p:spPr>
          <a:xfrm>
            <a:off x="4676775" y="2038350"/>
            <a:ext cx="1762125" cy="285750"/>
          </a:xfrm>
          <a:prstGeom prst="roundRect">
            <a:avLst>
              <a:gd name="adj" fmla="val 26667"/>
            </a:avLst>
          </a:prstGeom>
          <a:solidFill>
            <a:srgbClr val="3486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8DBE46-594E-4507-8556-2096642EB442}"/>
              </a:ext>
            </a:extLst>
          </p:cNvPr>
          <p:cNvSpPr>
            <a:spLocks noGrp="1"/>
          </p:cNvSpPr>
          <p:nvPr/>
        </p:nvSpPr>
        <p:spPr>
          <a:xfrm>
            <a:off x="4752974" y="2067258"/>
            <a:ext cx="1609725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5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FOUNDRY </a:t>
            </a:r>
            <a:r>
              <a:rPr sz="10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CAPACITY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352319-432D-4D1C-A829-518B415D20BF}"/>
              </a:ext>
            </a:extLst>
          </p:cNvPr>
          <p:cNvSpPr>
            <a:spLocks noGrp="1"/>
          </p:cNvSpPr>
          <p:nvPr/>
        </p:nvSpPr>
        <p:spPr>
          <a:xfrm>
            <a:off x="4714875" y="2609850"/>
            <a:ext cx="2952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194" lnSpcReduction="10000"/>
          </a:bodyPr>
          <a:lstStyle/>
          <a:p>
            <a:pPr algn="l">
              <a:buNone/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Custom model option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91FE65-F857-405C-A150-72480B64DCF2}"/>
              </a:ext>
            </a:extLst>
          </p:cNvPr>
          <p:cNvSpPr>
            <a:spLocks noGrp="1"/>
          </p:cNvSpPr>
          <p:nvPr/>
        </p:nvSpPr>
        <p:spPr>
          <a:xfrm>
            <a:off x="4714875" y="3219450"/>
            <a:ext cx="295275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PTU or GPU capacity</a:t>
            </a:r>
          </a:p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Enterprise procurement</a:t>
            </a:r>
          </a:p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Idle capacity may still bill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9A2E72-30C5-4522-B30D-1C2F169014C6}"/>
              </a:ext>
            </a:extLst>
          </p:cNvPr>
          <p:cNvSpPr>
            <a:spLocks noGrp="1"/>
          </p:cNvSpPr>
          <p:nvPr/>
        </p:nvSpPr>
        <p:spPr>
          <a:xfrm>
            <a:off x="4714875" y="471487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l">
              <a:buNone/>
              <a:def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1">
              <a:solidFill>
                <a:srgbClr val="3486F6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1DA0B8-8EA0-423F-B822-6422274FA54E}"/>
              </a:ext>
            </a:extLst>
          </p:cNvPr>
          <p:cNvSpPr>
            <a:spLocks noGrp="1"/>
          </p:cNvSpPr>
          <p:nvPr/>
        </p:nvSpPr>
        <p:spPr>
          <a:xfrm>
            <a:off x="8324850" y="1809750"/>
            <a:ext cx="3524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0DE3B9C-D326-44C2-B67A-CA6460127F84}"/>
              </a:ext>
            </a:extLst>
          </p:cNvPr>
          <p:cNvSpPr>
            <a:spLocks noGrp="1"/>
          </p:cNvSpPr>
          <p:nvPr/>
        </p:nvSpPr>
        <p:spPr>
          <a:xfrm>
            <a:off x="8553450" y="2038350"/>
            <a:ext cx="1762125" cy="285750"/>
          </a:xfrm>
          <a:prstGeom prst="roundRect">
            <a:avLst>
              <a:gd name="adj" fmla="val 26667"/>
            </a:avLst>
          </a:prstGeom>
          <a:solidFill>
            <a:srgbClr val="15936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3C74CE-F8CD-4CE6-A86E-23AC7F157DC6}"/>
              </a:ext>
            </a:extLst>
          </p:cNvPr>
          <p:cNvSpPr>
            <a:spLocks noGrp="1"/>
          </p:cNvSpPr>
          <p:nvPr/>
        </p:nvSpPr>
        <p:spPr>
          <a:xfrm>
            <a:off x="8629649" y="2067258"/>
            <a:ext cx="1609725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5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FIREWORKS </a:t>
            </a:r>
            <a:r>
              <a:rPr sz="10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DIRECT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F66A0A-4898-479B-AEE9-1D10DD0CF82D}"/>
              </a:ext>
            </a:extLst>
          </p:cNvPr>
          <p:cNvSpPr>
            <a:spLocks noGrp="1"/>
          </p:cNvSpPr>
          <p:nvPr/>
        </p:nvSpPr>
        <p:spPr>
          <a:xfrm>
            <a:off x="8591550" y="2609850"/>
            <a:ext cx="2952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194" lnSpcReduction="10000"/>
          </a:bodyPr>
          <a:lstStyle/>
          <a:p>
            <a:pPr algn="l">
              <a:buNone/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Fine-tuned endpoint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98FBF8-0676-4DF9-B317-5EC9D6AA9822}"/>
              </a:ext>
            </a:extLst>
          </p:cNvPr>
          <p:cNvSpPr>
            <a:spLocks noGrp="1"/>
          </p:cNvSpPr>
          <p:nvPr/>
        </p:nvSpPr>
        <p:spPr>
          <a:xfrm>
            <a:off x="8591550" y="3219450"/>
            <a:ext cx="295275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Per GPU second</a:t>
            </a:r>
          </a:p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Configurable serving</a:t>
            </a:r>
          </a:p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Economics follow active GPU hours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2D4F37-5C7D-4916-8DD4-9E34E0F43113}"/>
              </a:ext>
            </a:extLst>
          </p:cNvPr>
          <p:cNvSpPr>
            <a:spLocks noGrp="1"/>
          </p:cNvSpPr>
          <p:nvPr/>
        </p:nvSpPr>
        <p:spPr>
          <a:xfrm>
            <a:off x="8591550" y="471487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l">
              <a:buNone/>
              <a:def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1">
              <a:solidFill>
                <a:srgbClr val="15936F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A86DE2-BE07-4B14-98DC-DC215B857853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l">
              <a:buNone/>
              <a:defRPr sz="127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1">
              <a:solidFill>
                <a:srgbClr val="FF6339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816F2E-99EE-4FDD-88E4-D10CE05753A3}"/>
              </a:ext>
            </a:extLst>
          </p:cNvPr>
          <p:cNvSpPr>
            <a:spLocks noGrp="1"/>
          </p:cNvSpPr>
          <p:nvPr/>
        </p:nvSpPr>
        <p:spPr>
          <a:xfrm>
            <a:off x="2209800" y="5391150"/>
            <a:ext cx="895350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8816"/>
          </a:bodyPr>
          <a:lstStyle/>
          <a:p>
            <a:pPr algn="l">
              <a:buNone/>
              <a:def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650" b="1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527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094113B-5023-4DDA-A255-26359408B714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6F0C48-BD10-4965-BBB6-67B84613557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OPPORTUNITY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968DF5-0D62-4FED-9D52-2E6BCEDBE102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Direct Fireworks deployment adds </a:t>
            </a:r>
            <a:r>
              <a:rPr sz="230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 cheaper</a:t>
            </a:r>
            <a:r>
              <a:rPr sz="23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 option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8B3AC1-4924-40B5-B48E-84EFCA683F88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1023F-FBC0-47AB-ADCA-594C2D7A8669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E017A4-DEE3-4AFC-8E68-2950D2E34F56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92EED1-97F6-43B8-9D0D-767D99CF53F7}"/>
              </a:ext>
            </a:extLst>
          </p:cNvPr>
          <p:cNvSpPr>
            <a:spLocks noGrp="1"/>
          </p:cNvSpPr>
          <p:nvPr/>
        </p:nvSpPr>
        <p:spPr>
          <a:xfrm>
            <a:off x="1000125" y="895350"/>
            <a:ext cx="10191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167" lnSpcReduction="10000"/>
          </a:bodyPr>
          <a:lstStyle/>
          <a:p>
            <a:pPr algn="ctr">
              <a:buNone/>
              <a:defRPr sz="18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Fireworks models are already available inside Microsoft Foundry. Direct deployment is a separate commercial and technical option for selected workloads.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1DC36F-76F4-4F7A-903D-45C761553D02}"/>
              </a:ext>
            </a:extLst>
          </p:cNvPr>
          <p:cNvSpPr>
            <a:spLocks noGrp="1"/>
          </p:cNvSpPr>
          <p:nvPr/>
        </p:nvSpPr>
        <p:spPr>
          <a:xfrm>
            <a:off x="704850" y="1952625"/>
            <a:ext cx="4000500" cy="2857500"/>
          </a:xfrm>
          <a:prstGeom prst="roundRect">
            <a:avLst>
              <a:gd name="adj" fmla="val 2667"/>
            </a:avLst>
          </a:prstGeom>
          <a:solidFill>
            <a:srgbClr val="F5F8FC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B6E043-2EA6-499A-BF34-E330952D1AB2}"/>
              </a:ext>
            </a:extLst>
          </p:cNvPr>
          <p:cNvSpPr>
            <a:spLocks noGrp="1"/>
          </p:cNvSpPr>
          <p:nvPr/>
        </p:nvSpPr>
        <p:spPr>
          <a:xfrm>
            <a:off x="990600" y="215265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RETAIN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FABBBD-387F-4B3C-A196-9E6062768CE5}"/>
              </a:ext>
            </a:extLst>
          </p:cNvPr>
          <p:cNvSpPr>
            <a:spLocks noGrp="1"/>
          </p:cNvSpPr>
          <p:nvPr/>
        </p:nvSpPr>
        <p:spPr>
          <a:xfrm>
            <a:off x="990600" y="25336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387"/>
          </a:bodyPr>
          <a:lstStyle/>
          <a:p>
            <a:pPr algn="l">
              <a:buNone/>
              <a:defRPr sz="20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0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Existing enterprise platform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64C776-45D2-4B4F-BCEA-239B9FA2B822}"/>
              </a:ext>
            </a:extLst>
          </p:cNvPr>
          <p:cNvSpPr>
            <a:spLocks noGrp="1"/>
          </p:cNvSpPr>
          <p:nvPr/>
        </p:nvSpPr>
        <p:spPr>
          <a:xfrm>
            <a:off x="1066800" y="2952252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246"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Azure applications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D13898-251D-456F-B81D-A1A5B219AF0C}"/>
              </a:ext>
            </a:extLst>
          </p:cNvPr>
          <p:cNvSpPr>
            <a:spLocks noGrp="1"/>
          </p:cNvSpPr>
          <p:nvPr/>
        </p:nvSpPr>
        <p:spPr>
          <a:xfrm>
            <a:off x="1066800" y="3409452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246"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Enterprise systems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E6C89A-8132-43A1-94C9-CF38B8CB5868}"/>
              </a:ext>
            </a:extLst>
          </p:cNvPr>
          <p:cNvSpPr>
            <a:spLocks noGrp="1"/>
          </p:cNvSpPr>
          <p:nvPr/>
        </p:nvSpPr>
        <p:spPr>
          <a:xfrm>
            <a:off x="1066800" y="3866652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246"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Foundry services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4BB43B-6B74-4200-A0A6-8709500256EE}"/>
              </a:ext>
            </a:extLst>
          </p:cNvPr>
          <p:cNvSpPr>
            <a:spLocks noGrp="1"/>
          </p:cNvSpPr>
          <p:nvPr/>
        </p:nvSpPr>
        <p:spPr>
          <a:xfrm>
            <a:off x="1066800" y="4323852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246"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Identity and governance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BB8ACB-EABF-44DA-BCDB-9740BD719452}"/>
              </a:ext>
            </a:extLst>
          </p:cNvPr>
          <p:cNvSpPr>
            <a:spLocks noGrp="1"/>
          </p:cNvSpPr>
          <p:nvPr/>
        </p:nvSpPr>
        <p:spPr>
          <a:xfrm>
            <a:off x="4953000" y="3105150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8045BF-52D9-4403-9E2A-EC710D0C0D3D}"/>
              </a:ext>
            </a:extLst>
          </p:cNvPr>
          <p:cNvSpPr>
            <a:spLocks noGrp="1"/>
          </p:cNvSpPr>
          <p:nvPr/>
        </p:nvSpPr>
        <p:spPr>
          <a:xfrm>
            <a:off x="4667250" y="3524250"/>
            <a:ext cx="10477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000"/>
          </a:bodyPr>
          <a:lstStyle/>
          <a:p>
            <a:pPr algn="ctr">
              <a:buNone/>
              <a:defRPr sz="12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Route suitable</a:t>
            </a:r>
          </a:p>
          <a:p>
            <a:pPr algn="ctr">
              <a:buNone/>
              <a:defRPr sz="12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inference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908CB1E-D062-407B-95A9-C536F8DF5CC9}"/>
              </a:ext>
            </a:extLst>
          </p:cNvPr>
          <p:cNvSpPr>
            <a:spLocks noGrp="1"/>
          </p:cNvSpPr>
          <p:nvPr/>
        </p:nvSpPr>
        <p:spPr>
          <a:xfrm>
            <a:off x="5810250" y="1952625"/>
            <a:ext cx="5676900" cy="2857500"/>
          </a:xfrm>
          <a:prstGeom prst="roundRect">
            <a:avLst>
              <a:gd name="adj" fmla="val 2667"/>
            </a:avLst>
          </a:prstGeom>
          <a:solidFill>
            <a:srgbClr val="F0FAF7"/>
          </a:solidFill>
          <a:ln w="9525">
            <a:solidFill>
              <a:srgbClr val="159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86F030-1784-44C0-8C11-6EAB556DD3BD}"/>
              </a:ext>
            </a:extLst>
          </p:cNvPr>
          <p:cNvSpPr>
            <a:spLocks noGrp="1"/>
          </p:cNvSpPr>
          <p:nvPr/>
        </p:nvSpPr>
        <p:spPr>
          <a:xfrm>
            <a:off x="6096000" y="215265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ADD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8500E2-53FC-40F1-B09E-F40E2DD1096D}"/>
              </a:ext>
            </a:extLst>
          </p:cNvPr>
          <p:cNvSpPr>
            <a:spLocks noGrp="1"/>
          </p:cNvSpPr>
          <p:nvPr/>
        </p:nvSpPr>
        <p:spPr>
          <a:xfrm>
            <a:off x="6096000" y="2533650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827"/>
          </a:bodyPr>
          <a:lstStyle/>
          <a:p>
            <a:pPr algn="l">
              <a:buNone/>
              <a:defRPr sz="20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0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Fireworks direct execution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E5A390-E689-4E89-A79B-6AD90C5566AE}"/>
              </a:ext>
            </a:extLst>
          </p:cNvPr>
          <p:cNvSpPr>
            <a:spLocks noGrp="1"/>
          </p:cNvSpPr>
          <p:nvPr/>
        </p:nvSpPr>
        <p:spPr>
          <a:xfrm>
            <a:off x="6162239" y="2975660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Fine-tuned </a:t>
            </a:r>
            <a:r>
              <a:rPr lang="es-419"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Model</a:t>
            </a: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 endpoint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D3C7DF-D0A0-42D4-9AFC-1460CF99C252}"/>
              </a:ext>
            </a:extLst>
          </p:cNvPr>
          <p:cNvSpPr>
            <a:spLocks noGrp="1"/>
          </p:cNvSpPr>
          <p:nvPr/>
        </p:nvSpPr>
        <p:spPr>
          <a:xfrm>
            <a:off x="6162239" y="3375710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GPU-second billing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21EB38-513C-4E3F-94E2-A6204B1F692F}"/>
              </a:ext>
            </a:extLst>
          </p:cNvPr>
          <p:cNvSpPr>
            <a:spLocks noGrp="1"/>
          </p:cNvSpPr>
          <p:nvPr/>
        </p:nvSpPr>
        <p:spPr>
          <a:xfrm>
            <a:off x="6162239" y="3775760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Model-specific optimization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242A73-44B9-41BD-BC43-485631A3C7BB}"/>
              </a:ext>
            </a:extLst>
          </p:cNvPr>
          <p:cNvSpPr>
            <a:spLocks noGrp="1"/>
          </p:cNvSpPr>
          <p:nvPr/>
        </p:nvSpPr>
        <p:spPr>
          <a:xfrm>
            <a:off x="6162239" y="4175810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Optional autoscaling configuration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073591-E47E-4815-94F8-35D89CCB1728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1">
              <a:solidFill>
                <a:srgbClr val="D24747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BC1702-69CD-445A-AFDE-09E86E3F87B5}"/>
              </a:ext>
            </a:extLst>
          </p:cNvPr>
          <p:cNvSpPr>
            <a:spLocks noGrp="1"/>
          </p:cNvSpPr>
          <p:nvPr/>
        </p:nvSpPr>
        <p:spPr>
          <a:xfrm>
            <a:off x="2952750" y="5295900"/>
            <a:ext cx="8001000" cy="4000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88"/>
          </a:bodyPr>
          <a:lstStyle/>
          <a:p>
            <a:pPr algn="l">
              <a:buNone/>
              <a:defRPr sz="15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550" b="1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544247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499751-7E1F-4E36-B167-D1349BDD1492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05DE95-48C9-46C9-A79E-645C0E84A95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9722" lnSpcReduction="10000"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ECONOMICS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BB5D5F-CA20-40AA-9A40-E14D0465C7A9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00" b="0">
                <a:solidFill>
                  <a:srgbClr val="242424"/>
                </a:solidFill>
                <a:highlight>
                  <a:srgbClr val="FFFF00"/>
                </a:highlight>
                <a:latin typeface="Instrument Sans regular"/>
                <a:ea typeface="Instrument Sans regular"/>
                <a:cs typeface="Instrument Sans regular"/>
              </a:rPr>
              <a:t>Hourly rates show a large opportunity, not a finished TCO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5A445F-51C8-43C2-BC48-45F8593CF1DA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AE0D97-289F-490E-859E-B6E3DCDB4371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E88C5D-92A8-4C6D-A99E-BCA592AF55BA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="628650" y="1181100"/>
          <a:ext cx="5810250" cy="3314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E7E9652-94E6-43BB-B686-3DDF5C730E22}"/>
              </a:ext>
            </a:extLst>
          </p:cNvPr>
          <p:cNvSpPr>
            <a:spLocks noGrp="1"/>
          </p:cNvSpPr>
          <p:nvPr/>
        </p:nvSpPr>
        <p:spPr>
          <a:xfrm>
            <a:off x="6858000" y="1238250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7CADDB-40AA-4225-8D4B-F95E0173DB3D}"/>
              </a:ext>
            </a:extLst>
          </p:cNvPr>
          <p:cNvSpPr>
            <a:spLocks noGrp="1"/>
          </p:cNvSpPr>
          <p:nvPr/>
        </p:nvSpPr>
        <p:spPr>
          <a:xfrm>
            <a:off x="7048500" y="1371600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98"/>
          </a:bodyPr>
          <a:lstStyle/>
          <a:p>
            <a:pPr algn="l">
              <a:buNone/>
              <a:defRPr sz="3225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225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90%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14284D-C276-4EF3-91DB-A7C0A9DD288E}"/>
              </a:ext>
            </a:extLst>
          </p:cNvPr>
          <p:cNvSpPr>
            <a:spLocks noGrp="1"/>
          </p:cNvSpPr>
          <p:nvPr/>
        </p:nvSpPr>
        <p:spPr>
          <a:xfrm>
            <a:off x="7048500" y="2019300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118"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headline difference at $8/h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09F2634-817A-4B89-89BE-CC5F421F3A41}"/>
              </a:ext>
            </a:extLst>
          </p:cNvPr>
          <p:cNvSpPr>
            <a:spLocks noGrp="1"/>
          </p:cNvSpPr>
          <p:nvPr/>
        </p:nvSpPr>
        <p:spPr>
          <a:xfrm>
            <a:off x="9144000" y="1238250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2362E2-5784-484A-85F0-99B2DAB63B36}"/>
              </a:ext>
            </a:extLst>
          </p:cNvPr>
          <p:cNvSpPr>
            <a:spLocks noGrp="1"/>
          </p:cNvSpPr>
          <p:nvPr/>
        </p:nvSpPr>
        <p:spPr>
          <a:xfrm>
            <a:off x="9334500" y="1371600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98"/>
          </a:bodyPr>
          <a:lstStyle/>
          <a:p>
            <a:pPr algn="l">
              <a:buNone/>
              <a:defRPr sz="3225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225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83.75%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2BF21C-5F77-4D43-95C3-782921B2CBC8}"/>
              </a:ext>
            </a:extLst>
          </p:cNvPr>
          <p:cNvSpPr>
            <a:spLocks noGrp="1"/>
          </p:cNvSpPr>
          <p:nvPr/>
        </p:nvSpPr>
        <p:spPr>
          <a:xfrm>
            <a:off x="9334500" y="2019300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118"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headline difference at $13/h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9E8C2A-AD47-47CE-B1A7-7212A9F7666F}"/>
              </a:ext>
            </a:extLst>
          </p:cNvPr>
          <p:cNvSpPr>
            <a:spLocks noGrp="1"/>
          </p:cNvSpPr>
          <p:nvPr/>
        </p:nvSpPr>
        <p:spPr>
          <a:xfrm>
            <a:off x="6858000" y="2952750"/>
            <a:ext cx="4381500" cy="1809750"/>
          </a:xfrm>
          <a:prstGeom prst="roundRect">
            <a:avLst>
              <a:gd name="adj" fmla="val 4211"/>
            </a:avLst>
          </a:prstGeom>
          <a:solidFill>
            <a:srgbClr val="FFF8EE"/>
          </a:solidFill>
          <a:ln w="9525">
            <a:solidFill>
              <a:srgbClr val="FF633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6B92FD-5BEF-4A18-BC31-0F8BEAF094B5}"/>
              </a:ext>
            </a:extLst>
          </p:cNvPr>
          <p:cNvSpPr>
            <a:spLocks noGrp="1"/>
          </p:cNvSpPr>
          <p:nvPr/>
        </p:nvSpPr>
        <p:spPr>
          <a:xfrm>
            <a:off x="7086600" y="316230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buNone/>
              <a:defRPr sz="135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Qualification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CB335D-F5CB-4955-B354-186939B686BD}"/>
              </a:ext>
            </a:extLst>
          </p:cNvPr>
          <p:cNvSpPr>
            <a:spLocks noGrp="1"/>
          </p:cNvSpPr>
          <p:nvPr/>
        </p:nvSpPr>
        <p:spPr>
          <a:xfrm>
            <a:off x="7086600" y="3562350"/>
            <a:ext cx="3886200" cy="981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$80/h is a user-provided Foundry scenario. The exact model, PTU allocation, region, reservation and SLA require confirmation. Equivalent model names do not guarantee equivalent throughput.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123D76-ED78-4702-B629-E6776C632999}"/>
              </a:ext>
            </a:extLst>
          </p:cNvPr>
          <p:cNvSpPr>
            <a:spLocks noGrp="1"/>
          </p:cNvSpPr>
          <p:nvPr/>
        </p:nvSpPr>
        <p:spPr>
          <a:xfrm>
            <a:off x="752039" y="513727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1">
              <a:solidFill>
                <a:srgbClr val="15936F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00F4A8-89EF-466A-9756-C6721AFD3737}"/>
              </a:ext>
            </a:extLst>
          </p:cNvPr>
          <p:cNvSpPr>
            <a:spLocks noGrp="1"/>
          </p:cNvSpPr>
          <p:nvPr/>
        </p:nvSpPr>
        <p:spPr>
          <a:xfrm>
            <a:off x="3228539" y="5099175"/>
            <a:ext cx="8096250" cy="4762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096"/>
          </a:bodyPr>
          <a:lstStyle/>
          <a:p>
            <a:pPr algn="l">
              <a:buNone/>
              <a:def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400" b="0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DBBA6D-0948-4260-B9EC-E8893A367D59}"/>
              </a:ext>
            </a:extLst>
          </p:cNvPr>
          <p:cNvSpPr>
            <a:spLocks noGrp="1"/>
          </p:cNvSpPr>
          <p:nvPr/>
        </p:nvSpPr>
        <p:spPr>
          <a:xfrm>
            <a:off x="762000" y="5638800"/>
            <a:ext cx="1238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708" lnSpcReduction="20000"/>
          </a:bodyPr>
          <a:lstStyle/>
          <a:p>
            <a:pPr algn="l">
              <a:buNone/>
              <a:defRPr sz="12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Foundry note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177437-85F0-4551-BA31-0169898E6AB0}"/>
              </a:ext>
            </a:extLst>
          </p:cNvPr>
          <p:cNvSpPr>
            <a:spLocks noGrp="1"/>
          </p:cNvSpPr>
          <p:nvPr/>
        </p:nvSpPr>
        <p:spPr>
          <a:xfrm>
            <a:off x="2095500" y="5600700"/>
            <a:ext cx="9144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265"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PTUs bill allocated capacity by time. A 50 PTU minimum exists for some deployment types, but PTU count is not a universal $/hour conversion.</a:t>
            </a:r>
          </a:p>
        </p:txBody>
      </p:sp>
      <p:pic>
        <p:nvPicPr>
          <p:cNvPr id="70" name="Picture 6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33350"/>
            <a:ext cx="12192000" cy="6858000"/>
          </a:xfrm>
          <a:prstGeom prst="rect">
            <a:avLst/>
          </a:prstGeom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85C68BC-CE13-41A6-88A1-0CDFE43BA724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581492-922B-42A6-974D-BFC6EDAB02E4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ECONOMICS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616744-1652-4478-B4AC-ABD60EDA8274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Fireworks offers a lower-cost path to specialized deployment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93D4CF-1E11-48B8-8AC1-E7C71251EA1C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760529-BE99-4BF4-84C4-8AC676BCD581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43BDFD-1169-4496-927F-D9C2A691C0FB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77" name="Chart"/>
          <p:cNvGraphicFramePr/>
          <p:nvPr/>
        </p:nvGraphicFramePr>
        <p:xfrm>
          <a:off x="552450" y="1181100"/>
          <a:ext cx="542925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E12356C-87CE-4456-9DB2-2B3987EC306E}"/>
              </a:ext>
            </a:extLst>
          </p:cNvPr>
          <p:cNvSpPr>
            <a:spLocks noGrp="1"/>
          </p:cNvSpPr>
          <p:nvPr/>
        </p:nvSpPr>
        <p:spPr>
          <a:xfrm>
            <a:off x="6334125" y="1181100"/>
            <a:ext cx="23812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050EE38-9C18-4B00-945B-55358F89EEB7}"/>
              </a:ext>
            </a:extLst>
          </p:cNvPr>
          <p:cNvSpPr>
            <a:spLocks noGrp="1"/>
          </p:cNvSpPr>
          <p:nvPr/>
        </p:nvSpPr>
        <p:spPr>
          <a:xfrm>
            <a:off x="6543675" y="1352550"/>
            <a:ext cx="19621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Managed H200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FAD81A-DC4D-4B2D-B49A-41F312D80020}"/>
              </a:ext>
            </a:extLst>
          </p:cNvPr>
          <p:cNvSpPr>
            <a:spLocks noGrp="1"/>
          </p:cNvSpPr>
          <p:nvPr/>
        </p:nvSpPr>
        <p:spPr>
          <a:xfrm>
            <a:off x="6543675" y="1771650"/>
            <a:ext cx="19621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569" lnSpcReduction="20000"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Available in Foundry preview. Public list price is not exposed; Microsoft directs customers to the Azure Pricing Calculator.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845888A-F0C4-4D81-B25B-BD4596CB2B72}"/>
              </a:ext>
            </a:extLst>
          </p:cNvPr>
          <p:cNvSpPr>
            <a:spLocks noGrp="1"/>
          </p:cNvSpPr>
          <p:nvPr/>
        </p:nvSpPr>
        <p:spPr>
          <a:xfrm>
            <a:off x="8905875" y="1181100"/>
            <a:ext cx="25717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7CE8D9F-ECBA-430F-BD02-FAE25A40E4C8}"/>
              </a:ext>
            </a:extLst>
          </p:cNvPr>
          <p:cNvSpPr>
            <a:spLocks noGrp="1"/>
          </p:cNvSpPr>
          <p:nvPr/>
        </p:nvSpPr>
        <p:spPr>
          <a:xfrm>
            <a:off x="9115425" y="1352550"/>
            <a:ext cx="21526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Managed B200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90A0010-66D4-4701-A3D2-3F54F7CF4DC0}"/>
              </a:ext>
            </a:extLst>
          </p:cNvPr>
          <p:cNvSpPr>
            <a:spLocks noGrp="1"/>
          </p:cNvSpPr>
          <p:nvPr/>
        </p:nvSpPr>
        <p:spPr>
          <a:xfrm>
            <a:off x="9115425" y="1771650"/>
            <a:ext cx="21526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569" lnSpcReduction="20000"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Not listed in the current Foundry managed-compute accelerator catalog. No public managed B200 rate is available.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DC3F0D2-FF42-49B1-A1E6-9F2993882748}"/>
              </a:ext>
            </a:extLst>
          </p:cNvPr>
          <p:cNvSpPr>
            <a:spLocks noGrp="1"/>
          </p:cNvSpPr>
          <p:nvPr/>
        </p:nvSpPr>
        <p:spPr>
          <a:xfrm>
            <a:off x="6334125" y="2781300"/>
            <a:ext cx="514350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08C012-91A3-4C55-84B9-BDD1E5795076}"/>
              </a:ext>
            </a:extLst>
          </p:cNvPr>
          <p:cNvSpPr>
            <a:spLocks noGrp="1"/>
          </p:cNvSpPr>
          <p:nvPr/>
        </p:nvSpPr>
        <p:spPr>
          <a:xfrm>
            <a:off x="6543675" y="2952750"/>
            <a:ext cx="47244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Why Fireworks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BC46A66-ECB9-472A-A8C3-FF9FB7F3E462}"/>
              </a:ext>
            </a:extLst>
          </p:cNvPr>
          <p:cNvSpPr>
            <a:spLocks noGrp="1"/>
          </p:cNvSpPr>
          <p:nvPr/>
        </p:nvSpPr>
        <p:spPr>
          <a:xfrm>
            <a:off x="6543675" y="3371850"/>
            <a:ext cx="472440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Public, simple GPU-second pricing and access to H200/B200 create a clearer and currently cheaper deployment path for the specialist models evaluated.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50269D0-C7B1-4BEB-9A28-89FF22CC2097}"/>
              </a:ext>
            </a:extLst>
          </p:cNvPr>
          <p:cNvSpPr>
            <a:spLocks noGrp="1"/>
          </p:cNvSpPr>
          <p:nvPr/>
        </p:nvSpPr>
        <p:spPr>
          <a:xfrm>
            <a:off x="666750" y="468630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Commercial comparison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468E7D6-6BFD-4A38-BC4F-DB87723972BD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Fireworks public rates: H200 $8 per GPU-hour; B200 $13. The $80/hour Foundry reference remains a </a:t>
            </a:r>
            <a:r>
              <a:rPr lang="es-419"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use case</a:t>
            </a: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 scenari</a:t>
            </a:r>
            <a:r>
              <a:rPr lang="es-419"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o</a:t>
            </a: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A1CEFB3-B91D-4B44-A725-901450FC883E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195262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 lnSpcReduction="10000"/>
          </a:bodyPr>
          <a:lstStyle/>
          <a:p>
            <a:pPr algn="l">
              <a:buNone/>
              <a:defRPr sz="112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Foundry </a:t>
            </a:r>
            <a:r>
              <a:rPr sz="13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Managed-compute</a:t>
            </a:r>
            <a:r>
              <a:rPr sz="112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 caveat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1006105-508E-46EC-B78C-16243E36DD26}"/>
              </a:ext>
            </a:extLst>
          </p:cNvPr>
          <p:cNvSpPr>
            <a:spLocks noGrp="1"/>
          </p:cNvSpPr>
          <p:nvPr/>
        </p:nvSpPr>
        <p:spPr>
          <a:xfrm>
            <a:off x="2686050" y="5657850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lang="en-US"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Foundry pricing and availability are not specified for B200; use a portal quote for a contractual TCO.</a:t>
            </a:r>
          </a:p>
        </p:txBody>
      </p:sp>
    </p:spTree>
    <p:extLst>
      <p:ext uri="{BB962C8B-B14F-4D97-AF65-F5344CB8AC3E}">
        <p14:creationId xmlns:p14="http://schemas.microsoft.com/office/powerpoint/2010/main" val="92957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830A338-BE3A-4F07-B361-394552917C2E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52E522-6526-4756-9A5B-48799195044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4722"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1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CREDENTIALS</a:t>
            </a:r>
            <a:endParaRPr sz="1100"/>
          </a:p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endParaRPr sz="1000" b="1">
              <a:solidFill>
                <a:srgbClr val="242424"/>
              </a:solidFill>
              <a:latin typeface="PP Telegraf regular"/>
              <a:ea typeface="PP Telegraf regular"/>
              <a:cs typeface="PP Telegraf regula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CA2CB0-D490-4585-9654-BC2F104DE53D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Enterprise engineering credibility is already established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BE616B-57E6-4167-9190-325600F0BA2D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FFE3F1-71AA-49DC-AB39-B58989205929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DA3C3F-B8E7-490E-B474-9FB2A1189F50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BA30DD-FD40-4294-8694-A1356A5093E5}"/>
              </a:ext>
            </a:extLst>
          </p:cNvPr>
          <p:cNvSpPr>
            <a:spLocks noGrp="1"/>
          </p:cNvSpPr>
          <p:nvPr/>
        </p:nvSpPr>
        <p:spPr>
          <a:xfrm>
            <a:off x="838200" y="9144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528" lnSpcReduction="10000"/>
          </a:bodyPr>
          <a:lstStyle/>
          <a:p>
            <a:pPr algn="ctr">
              <a:buNone/>
              <a:defRPr sz="18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Southworks brings customer access and production engineering experience. The proposed partnership adds Fireworks specialization to that base.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615B20-866D-46F1-AA68-20F00252A24C}"/>
              </a:ext>
            </a:extLst>
          </p:cNvPr>
          <p:cNvSpPr>
            <a:spLocks noGrp="1"/>
          </p:cNvSpPr>
          <p:nvPr/>
        </p:nvSpPr>
        <p:spPr>
          <a:xfrm>
            <a:off x="704850" y="18288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414516-EAD5-4D4D-87D4-E70ADD2D4F24}"/>
              </a:ext>
            </a:extLst>
          </p:cNvPr>
          <p:cNvSpPr>
            <a:spLocks noGrp="1"/>
          </p:cNvSpPr>
          <p:nvPr/>
        </p:nvSpPr>
        <p:spPr>
          <a:xfrm>
            <a:off x="895350" y="1962150"/>
            <a:ext cx="2762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98"/>
          </a:bodyPr>
          <a:lstStyle/>
          <a:p>
            <a:pPr algn="l">
              <a:buNone/>
              <a:defRPr sz="3225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225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20+ years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40249F-1877-414D-A050-F9F5E5353899}"/>
              </a:ext>
            </a:extLst>
          </p:cNvPr>
          <p:cNvSpPr>
            <a:spLocks noGrp="1"/>
          </p:cNvSpPr>
          <p:nvPr/>
        </p:nvSpPr>
        <p:spPr>
          <a:xfrm>
            <a:off x="895350" y="26098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working with Microsoft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562829-BF11-4B09-BFFA-EF74292E44F8}"/>
              </a:ext>
            </a:extLst>
          </p:cNvPr>
          <p:cNvSpPr>
            <a:spLocks noGrp="1"/>
          </p:cNvSpPr>
          <p:nvPr/>
        </p:nvSpPr>
        <p:spPr>
          <a:xfrm>
            <a:off x="4524375" y="18288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B2BCD1-F734-451A-B2F4-86B842EA8D4A}"/>
              </a:ext>
            </a:extLst>
          </p:cNvPr>
          <p:cNvSpPr>
            <a:spLocks noGrp="1"/>
          </p:cNvSpPr>
          <p:nvPr/>
        </p:nvSpPr>
        <p:spPr>
          <a:xfrm>
            <a:off x="4714875" y="1962150"/>
            <a:ext cx="2762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98"/>
          </a:bodyPr>
          <a:lstStyle/>
          <a:p>
            <a:pPr algn="l">
              <a:buNone/>
              <a:defRPr sz="3225" b="0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225" b="0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2025 winner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35D1E6-DDB6-4871-B520-E7BBD0F263A6}"/>
              </a:ext>
            </a:extLst>
          </p:cNvPr>
          <p:cNvSpPr>
            <a:spLocks noGrp="1"/>
          </p:cNvSpPr>
          <p:nvPr/>
        </p:nvSpPr>
        <p:spPr>
          <a:xfrm>
            <a:off x="4714875" y="26098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921"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Microsoft Partner of the Year, Gaming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A51E8D-38CB-41C1-A816-077FE0C5134C}"/>
              </a:ext>
            </a:extLst>
          </p:cNvPr>
          <p:cNvSpPr>
            <a:spLocks noGrp="1"/>
          </p:cNvSpPr>
          <p:nvPr/>
        </p:nvSpPr>
        <p:spPr>
          <a:xfrm>
            <a:off x="8343900" y="18288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2741BA-3FA2-4F48-B832-0D22D77AE5F1}"/>
              </a:ext>
            </a:extLst>
          </p:cNvPr>
          <p:cNvSpPr>
            <a:spLocks noGrp="1"/>
          </p:cNvSpPr>
          <p:nvPr/>
        </p:nvSpPr>
        <p:spPr>
          <a:xfrm>
            <a:off x="8534400" y="1962150"/>
            <a:ext cx="2762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98"/>
          </a:bodyPr>
          <a:lstStyle/>
          <a:p>
            <a:pPr algn="l">
              <a:buNone/>
              <a:defRPr sz="3225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225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2025 finalist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9D5ECE-B3E7-4546-ABFD-676D76D32EFB}"/>
              </a:ext>
            </a:extLst>
          </p:cNvPr>
          <p:cNvSpPr>
            <a:spLocks noGrp="1"/>
          </p:cNvSpPr>
          <p:nvPr/>
        </p:nvSpPr>
        <p:spPr>
          <a:xfrm>
            <a:off x="8534400" y="26098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Innovate with Azure AI Platform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426E6-7A5F-435A-B391-5E998296D57E}"/>
              </a:ext>
            </a:extLst>
          </p:cNvPr>
          <p:cNvSpPr>
            <a:spLocks noGrp="1"/>
          </p:cNvSpPr>
          <p:nvPr/>
        </p:nvSpPr>
        <p:spPr>
          <a:xfrm>
            <a:off x="781050" y="38576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Cloud and modernization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B509FE-3BB6-41C4-988E-E500B4DA5074}"/>
              </a:ext>
            </a:extLst>
          </p:cNvPr>
          <p:cNvSpPr>
            <a:spLocks noGrp="1"/>
          </p:cNvSpPr>
          <p:nvPr/>
        </p:nvSpPr>
        <p:spPr>
          <a:xfrm>
            <a:off x="781050" y="4305300"/>
            <a:ext cx="30480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Azure migration, cloud-native systems and production operations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484B41-C140-431F-8348-48A66211EB86}"/>
              </a:ext>
            </a:extLst>
          </p:cNvPr>
          <p:cNvSpPr>
            <a:spLocks noGrp="1"/>
          </p:cNvSpPr>
          <p:nvPr/>
        </p:nvSpPr>
        <p:spPr>
          <a:xfrm>
            <a:off x="4552950" y="38576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AI applications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6DDCD7-C9F7-4BD4-9A43-5802B0861279}"/>
              </a:ext>
            </a:extLst>
          </p:cNvPr>
          <p:cNvSpPr>
            <a:spLocks noGrp="1"/>
          </p:cNvSpPr>
          <p:nvPr/>
        </p:nvSpPr>
        <p:spPr>
          <a:xfrm>
            <a:off x="4552950" y="4305300"/>
            <a:ext cx="30480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Assistants, agents and applied AI experiences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196542-4DCE-46B4-9429-4A292D6C4703}"/>
              </a:ext>
            </a:extLst>
          </p:cNvPr>
          <p:cNvSpPr>
            <a:spLocks noGrp="1"/>
          </p:cNvSpPr>
          <p:nvPr/>
        </p:nvSpPr>
        <p:spPr>
          <a:xfrm>
            <a:off x="8324850" y="38576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Enterprise delivery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368DB0-68EC-4F3F-B7A3-2A752CA665D7}"/>
              </a:ext>
            </a:extLst>
          </p:cNvPr>
          <p:cNvSpPr>
            <a:spLocks noGrp="1"/>
          </p:cNvSpPr>
          <p:nvPr/>
        </p:nvSpPr>
        <p:spPr>
          <a:xfrm>
            <a:off x="8324850" y="4305300"/>
            <a:ext cx="30480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Security, reliability, integration and DevOps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FB0352-6F4E-4F12-A89B-95288829A424}"/>
              </a:ext>
            </a:extLst>
          </p:cNvPr>
          <p:cNvSpPr>
            <a:spLocks noGrp="1"/>
          </p:cNvSpPr>
          <p:nvPr/>
        </p:nvSpPr>
        <p:spPr>
          <a:xfrm>
            <a:off x="781050" y="5429250"/>
            <a:ext cx="1762125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1">
              <a:solidFill>
                <a:srgbClr val="FF6339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ACBF18-23B3-479E-93DA-358FA02F3E89}"/>
              </a:ext>
            </a:extLst>
          </p:cNvPr>
          <p:cNvSpPr>
            <a:spLocks noGrp="1"/>
          </p:cNvSpPr>
          <p:nvPr/>
        </p:nvSpPr>
        <p:spPr>
          <a:xfrm>
            <a:off x="2571750" y="5391150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098"/>
          </a:bodyPr>
          <a:lstStyle/>
          <a:p>
            <a:pPr algn="l">
              <a:buNone/>
              <a:defRPr sz="17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700" b="1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995824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icture 4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AD36B1A-3028-4FAC-9E64-4EF7066F144D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7C172B-3200-4E05-9E16-F97AFC7132E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9722" lnSpcReduction="10000"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METHOD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0CB1A-DBCC-44C8-83DC-A591028E4AFE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Specialization is an end-to-end optimization cycle</a:t>
            </a:r>
            <a:br/>
            <a:r>
              <a:rPr sz="2300">
                <a:solidFill>
                  <a:srgbClr val="242424"/>
                </a:solidFill>
                <a:highlight>
                  <a:srgbClr val="FFFF00"/>
                </a:highlight>
                <a:latin typeface="Instrument Sans regular"/>
                <a:ea typeface="Instrument Sans regular"/>
                <a:cs typeface="Instrument Sans regular"/>
              </a:rPr>
              <a:t>Change to technical – add loop</a:t>
            </a:r>
            <a:endParaRPr sz="2300" b="0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0EA03C-78B8-42F9-9209-F1C91D00376E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DEAD73-082E-4FFF-A2EB-8AB3B4E79584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89B99B-0ED7-41E9-8DD1-E872F2860AFA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04AF92-1D23-421E-BAAD-DE12B401B9C9}"/>
              </a:ext>
            </a:extLst>
          </p:cNvPr>
          <p:cNvSpPr>
            <a:spLocks noGrp="1"/>
          </p:cNvSpPr>
          <p:nvPr/>
        </p:nvSpPr>
        <p:spPr>
          <a:xfrm>
            <a:off x="476250" y="1790700"/>
            <a:ext cx="1619250" cy="2120402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3831EA-0D46-499B-847F-E189AA98FF2C}"/>
              </a:ext>
            </a:extLst>
          </p:cNvPr>
          <p:cNvSpPr>
            <a:spLocks noGrp="1"/>
          </p:cNvSpPr>
          <p:nvPr/>
        </p:nvSpPr>
        <p:spPr>
          <a:xfrm>
            <a:off x="476250" y="1790700"/>
            <a:ext cx="1619250" cy="514350"/>
          </a:xfrm>
          <a:prstGeom prst="rect">
            <a:avLst/>
          </a:prstGeom>
          <a:solidFill>
            <a:srgbClr val="3486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2372AF-EB0E-4461-ACA1-4ACF13F224D3}"/>
              </a:ext>
            </a:extLst>
          </p:cNvPr>
          <p:cNvSpPr>
            <a:spLocks noGrp="1"/>
          </p:cNvSpPr>
          <p:nvPr/>
        </p:nvSpPr>
        <p:spPr>
          <a:xfrm>
            <a:off x="619125" y="19145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487AE3-F128-42FF-9363-A04C9D56AAB9}"/>
              </a:ext>
            </a:extLst>
          </p:cNvPr>
          <p:cNvSpPr>
            <a:spLocks noGrp="1"/>
          </p:cNvSpPr>
          <p:nvPr/>
        </p:nvSpPr>
        <p:spPr>
          <a:xfrm>
            <a:off x="904875" y="19145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Workload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ED07C9-0D69-4334-8918-F586E041BFCA}"/>
              </a:ext>
            </a:extLst>
          </p:cNvPr>
          <p:cNvSpPr>
            <a:spLocks noGrp="1"/>
          </p:cNvSpPr>
          <p:nvPr/>
        </p:nvSpPr>
        <p:spPr>
          <a:xfrm>
            <a:off x="647700" y="2647950"/>
            <a:ext cx="127635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Select a stable, high-cost task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198FC4-C2BE-4121-A265-06DC9A6FDB4D}"/>
              </a:ext>
            </a:extLst>
          </p:cNvPr>
          <p:cNvSpPr>
            <a:spLocks noGrp="1"/>
          </p:cNvSpPr>
          <p:nvPr/>
        </p:nvSpPr>
        <p:spPr>
          <a:xfrm>
            <a:off x="2105025" y="29527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1A518EC-582B-479F-95AD-01997ABD4DB7}"/>
              </a:ext>
            </a:extLst>
          </p:cNvPr>
          <p:cNvSpPr>
            <a:spLocks noGrp="1"/>
          </p:cNvSpPr>
          <p:nvPr/>
        </p:nvSpPr>
        <p:spPr>
          <a:xfrm>
            <a:off x="2381250" y="1790700"/>
            <a:ext cx="1619250" cy="2120402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57BCA1-0F2C-4799-8678-321DC79721BD}"/>
              </a:ext>
            </a:extLst>
          </p:cNvPr>
          <p:cNvSpPr>
            <a:spLocks noGrp="1"/>
          </p:cNvSpPr>
          <p:nvPr/>
        </p:nvSpPr>
        <p:spPr>
          <a:xfrm>
            <a:off x="2381250" y="1790700"/>
            <a:ext cx="1619250" cy="514350"/>
          </a:xfrm>
          <a:prstGeom prst="rect">
            <a:avLst/>
          </a:prstGeom>
          <a:solidFill>
            <a:srgbClr val="15936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4279DC-B191-434B-A41E-BCD588504326}"/>
              </a:ext>
            </a:extLst>
          </p:cNvPr>
          <p:cNvSpPr>
            <a:spLocks noGrp="1"/>
          </p:cNvSpPr>
          <p:nvPr/>
        </p:nvSpPr>
        <p:spPr>
          <a:xfrm>
            <a:off x="2524125" y="19145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A718BC-ACF2-42C8-9BE4-E428D7DBBBE1}"/>
              </a:ext>
            </a:extLst>
          </p:cNvPr>
          <p:cNvSpPr>
            <a:spLocks noGrp="1"/>
          </p:cNvSpPr>
          <p:nvPr/>
        </p:nvSpPr>
        <p:spPr>
          <a:xfrm>
            <a:off x="2809875" y="19145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Data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B8DA3C-2EBE-41AA-8F96-074D4A638D14}"/>
              </a:ext>
            </a:extLst>
          </p:cNvPr>
          <p:cNvSpPr>
            <a:spLocks noGrp="1"/>
          </p:cNvSpPr>
          <p:nvPr/>
        </p:nvSpPr>
        <p:spPr>
          <a:xfrm>
            <a:off x="2552700" y="2647950"/>
            <a:ext cx="1276350" cy="1333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ctr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Prepare representative </a:t>
            </a:r>
            <a:r>
              <a:rPr sz="135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business dataset</a:t>
            </a:r>
            <a:endParaRPr sz="1350" b="0">
              <a:solidFill>
                <a:srgbClr val="667085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5F3240-81D4-4B54-9C89-09B002D96DED}"/>
              </a:ext>
            </a:extLst>
          </p:cNvPr>
          <p:cNvSpPr>
            <a:spLocks noGrp="1"/>
          </p:cNvSpPr>
          <p:nvPr/>
        </p:nvSpPr>
        <p:spPr>
          <a:xfrm>
            <a:off x="4010025" y="29527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7A90C43-9B2F-4CF9-979F-257994CCC2AE}"/>
              </a:ext>
            </a:extLst>
          </p:cNvPr>
          <p:cNvSpPr>
            <a:spLocks noGrp="1"/>
          </p:cNvSpPr>
          <p:nvPr/>
        </p:nvSpPr>
        <p:spPr>
          <a:xfrm>
            <a:off x="4286250" y="1790700"/>
            <a:ext cx="1619250" cy="2120402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456B95-5EFA-4998-AA07-4B6D9E82E4E1}"/>
              </a:ext>
            </a:extLst>
          </p:cNvPr>
          <p:cNvSpPr>
            <a:spLocks noGrp="1"/>
          </p:cNvSpPr>
          <p:nvPr/>
        </p:nvSpPr>
        <p:spPr>
          <a:xfrm>
            <a:off x="4286250" y="1790700"/>
            <a:ext cx="1619250" cy="514350"/>
          </a:xfrm>
          <a:prstGeom prst="rect">
            <a:avLst/>
          </a:prstGeom>
          <a:solidFill>
            <a:srgbClr val="765A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E262FA-DF50-44E6-9F43-76BC2FAA00ED}"/>
              </a:ext>
            </a:extLst>
          </p:cNvPr>
          <p:cNvSpPr>
            <a:spLocks noGrp="1"/>
          </p:cNvSpPr>
          <p:nvPr/>
        </p:nvSpPr>
        <p:spPr>
          <a:xfrm>
            <a:off x="4429125" y="19145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9AD755-D061-4E29-8B69-3A273479BDED}"/>
              </a:ext>
            </a:extLst>
          </p:cNvPr>
          <p:cNvSpPr>
            <a:spLocks noGrp="1"/>
          </p:cNvSpPr>
          <p:nvPr/>
        </p:nvSpPr>
        <p:spPr>
          <a:xfrm>
            <a:off x="4714875" y="19145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Fine-tune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08CB88-22EC-449B-A138-FAC0329077B7}"/>
              </a:ext>
            </a:extLst>
          </p:cNvPr>
          <p:cNvSpPr>
            <a:spLocks noGrp="1"/>
          </p:cNvSpPr>
          <p:nvPr/>
        </p:nvSpPr>
        <p:spPr>
          <a:xfrm>
            <a:off x="4457700" y="2647950"/>
            <a:ext cx="127635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Train a compact model on Fireworks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55ABCC-8FCA-436B-9F66-713E4B428969}"/>
              </a:ext>
            </a:extLst>
          </p:cNvPr>
          <p:cNvSpPr>
            <a:spLocks noGrp="1"/>
          </p:cNvSpPr>
          <p:nvPr/>
        </p:nvSpPr>
        <p:spPr>
          <a:xfrm>
            <a:off x="5915025" y="29527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F110C2D-1DE0-47E2-9952-A85B042C4462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1619250" cy="2120402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4FB326-8A09-426F-87F8-5D7615F61816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1619250" cy="514350"/>
          </a:xfrm>
          <a:prstGeom prst="rect">
            <a:avLst/>
          </a:prstGeom>
          <a:solidFill>
            <a:srgbClr val="176D8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2E5D4A-D4E6-4C03-B09F-048E1EFC1D75}"/>
              </a:ext>
            </a:extLst>
          </p:cNvPr>
          <p:cNvSpPr>
            <a:spLocks noGrp="1"/>
          </p:cNvSpPr>
          <p:nvPr/>
        </p:nvSpPr>
        <p:spPr>
          <a:xfrm>
            <a:off x="6334125" y="19145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FFD754-A86E-41A6-91CD-3F033124C90D}"/>
              </a:ext>
            </a:extLst>
          </p:cNvPr>
          <p:cNvSpPr>
            <a:spLocks noGrp="1"/>
          </p:cNvSpPr>
          <p:nvPr/>
        </p:nvSpPr>
        <p:spPr>
          <a:xfrm>
            <a:off x="6619875" y="19145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Evaluate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44AFBD-35D8-4AE8-B1E2-B9C946560998}"/>
              </a:ext>
            </a:extLst>
          </p:cNvPr>
          <p:cNvSpPr>
            <a:spLocks noGrp="1"/>
          </p:cNvSpPr>
          <p:nvPr/>
        </p:nvSpPr>
        <p:spPr>
          <a:xfrm>
            <a:off x="6362700" y="2647950"/>
            <a:ext cx="1276350" cy="1333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ctr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highlight>
                  <a:srgbClr val="FFFF00"/>
                </a:highlight>
                <a:latin typeface="Instrument Sans regular"/>
                <a:ea typeface="Instrument Sans regular"/>
                <a:cs typeface="Instrument Sans regular"/>
              </a:rPr>
              <a:t>Compare quality, errors and latency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EAB70E9-6F49-46EC-8BA6-B56F0E34DC50}"/>
              </a:ext>
            </a:extLst>
          </p:cNvPr>
          <p:cNvSpPr>
            <a:spLocks noGrp="1"/>
          </p:cNvSpPr>
          <p:nvPr/>
        </p:nvSpPr>
        <p:spPr>
          <a:xfrm>
            <a:off x="7820025" y="29527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39ABA5A-6398-4A30-B8F9-7D64FF3B4BB9}"/>
              </a:ext>
            </a:extLst>
          </p:cNvPr>
          <p:cNvSpPr>
            <a:spLocks noGrp="1"/>
          </p:cNvSpPr>
          <p:nvPr/>
        </p:nvSpPr>
        <p:spPr>
          <a:xfrm>
            <a:off x="8096250" y="1790700"/>
            <a:ext cx="1619250" cy="2120402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BB21693-155D-45B9-8525-E53F0BE81547}"/>
              </a:ext>
            </a:extLst>
          </p:cNvPr>
          <p:cNvSpPr>
            <a:spLocks noGrp="1"/>
          </p:cNvSpPr>
          <p:nvPr/>
        </p:nvSpPr>
        <p:spPr>
          <a:xfrm>
            <a:off x="8096250" y="1790700"/>
            <a:ext cx="1619250" cy="514350"/>
          </a:xfrm>
          <a:prstGeom prst="rect">
            <a:avLst/>
          </a:prstGeom>
          <a:solidFill>
            <a:srgbClr val="FF633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539789-F105-4732-838E-51937A6B34BD}"/>
              </a:ext>
            </a:extLst>
          </p:cNvPr>
          <p:cNvSpPr>
            <a:spLocks noGrp="1"/>
          </p:cNvSpPr>
          <p:nvPr/>
        </p:nvSpPr>
        <p:spPr>
          <a:xfrm>
            <a:off x="8239125" y="19145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8B39F39-B407-4794-8789-19F6656877C7}"/>
              </a:ext>
            </a:extLst>
          </p:cNvPr>
          <p:cNvSpPr>
            <a:spLocks noGrp="1"/>
          </p:cNvSpPr>
          <p:nvPr/>
        </p:nvSpPr>
        <p:spPr>
          <a:xfrm>
            <a:off x="8524875" y="19145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Deploy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9CA88F-6226-4529-BC54-252F30E5F856}"/>
              </a:ext>
            </a:extLst>
          </p:cNvPr>
          <p:cNvSpPr>
            <a:spLocks noGrp="1"/>
          </p:cNvSpPr>
          <p:nvPr/>
        </p:nvSpPr>
        <p:spPr>
          <a:xfrm>
            <a:off x="8267700" y="2647950"/>
            <a:ext cx="127635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Integrate the Fireworks endpoint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7B2AE16-05F2-41F3-9ECF-06563FEA8499}"/>
              </a:ext>
            </a:extLst>
          </p:cNvPr>
          <p:cNvSpPr>
            <a:spLocks noGrp="1"/>
          </p:cNvSpPr>
          <p:nvPr/>
        </p:nvSpPr>
        <p:spPr>
          <a:xfrm>
            <a:off x="9725025" y="29527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D3B68E0-315E-45B4-80B9-C459F97FDF70}"/>
              </a:ext>
            </a:extLst>
          </p:cNvPr>
          <p:cNvSpPr>
            <a:spLocks noGrp="1"/>
          </p:cNvSpPr>
          <p:nvPr/>
        </p:nvSpPr>
        <p:spPr>
          <a:xfrm>
            <a:off x="10001250" y="1790700"/>
            <a:ext cx="1619250" cy="2120402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1F5ECC-D3A2-44CF-A996-FB2AE1C91DFE}"/>
              </a:ext>
            </a:extLst>
          </p:cNvPr>
          <p:cNvSpPr>
            <a:spLocks noGrp="1"/>
          </p:cNvSpPr>
          <p:nvPr/>
        </p:nvSpPr>
        <p:spPr>
          <a:xfrm>
            <a:off x="10001250" y="1790700"/>
            <a:ext cx="1619250" cy="514350"/>
          </a:xfrm>
          <a:prstGeom prst="rect">
            <a:avLst/>
          </a:prstGeom>
          <a:solidFill>
            <a:srgbClr val="3486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EEDF2C-E0C6-460A-805B-3E5887319900}"/>
              </a:ext>
            </a:extLst>
          </p:cNvPr>
          <p:cNvSpPr>
            <a:spLocks noGrp="1"/>
          </p:cNvSpPr>
          <p:nvPr/>
        </p:nvSpPr>
        <p:spPr>
          <a:xfrm>
            <a:off x="10144125" y="19145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068E2C9-8CBC-4BA3-BD88-4CCE3AB1FDA2}"/>
              </a:ext>
            </a:extLst>
          </p:cNvPr>
          <p:cNvSpPr>
            <a:spLocks noGrp="1"/>
          </p:cNvSpPr>
          <p:nvPr/>
        </p:nvSpPr>
        <p:spPr>
          <a:xfrm>
            <a:off x="10429875" y="19145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Optimize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04E1E21-D0D2-4518-818B-BB6D3C9B620A}"/>
              </a:ext>
            </a:extLst>
          </p:cNvPr>
          <p:cNvSpPr>
            <a:spLocks noGrp="1"/>
          </p:cNvSpPr>
          <p:nvPr/>
        </p:nvSpPr>
        <p:spPr>
          <a:xfrm>
            <a:off x="10172700" y="2647950"/>
            <a:ext cx="127635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Track utilization, fallback and unit cost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BC88707-F5C9-4EF2-8FE2-51534363DA1D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1">
              <a:solidFill>
                <a:srgbClr val="D24747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FA22BC5-E8AF-428A-9B6D-4F6DCAD2B75B}"/>
              </a:ext>
            </a:extLst>
          </p:cNvPr>
          <p:cNvSpPr>
            <a:spLocks noGrp="1"/>
          </p:cNvSpPr>
          <p:nvPr/>
        </p:nvSpPr>
        <p:spPr>
          <a:xfrm>
            <a:off x="2714625" y="4895850"/>
            <a:ext cx="8477250" cy="5143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9091"/>
          </a:bodyPr>
          <a:lstStyle/>
          <a:p>
            <a:pPr algn="l">
              <a:buNone/>
              <a:def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650" b="1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pic>
        <p:nvPicPr>
          <p:cNvPr id="178" name="Picture 13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0D65283-BE6D-499F-9CED-727DA606696B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4C0D4E-7514-446F-83DB-AF638E2549D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METHOD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AE5CE60-DAF6-431D-ABEE-7E67BDA5E093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 technical loop turns evaluation errors into better training data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8996DB3-7EDE-4860-BF14-D617DA88E87D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07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62F879F-772B-4509-B50D-412A93692873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65CE29E-4F69-4615-AFC2-620FF288D36E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EECB77B4-214B-45E2-9D5C-388F031BCDC2}"/>
              </a:ext>
            </a:extLst>
          </p:cNvPr>
          <p:cNvSpPr>
            <a:spLocks noGrp="1"/>
          </p:cNvSpPr>
          <p:nvPr/>
        </p:nvSpPr>
        <p:spPr>
          <a:xfrm>
            <a:off x="457200" y="1885950"/>
            <a:ext cx="1619250" cy="2762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219C9B6-9208-45DC-97DE-F7E89C49500D}"/>
              </a:ext>
            </a:extLst>
          </p:cNvPr>
          <p:cNvSpPr>
            <a:spLocks noGrp="1"/>
          </p:cNvSpPr>
          <p:nvPr/>
        </p:nvSpPr>
        <p:spPr>
          <a:xfrm>
            <a:off x="457200" y="1885950"/>
            <a:ext cx="1619250" cy="514350"/>
          </a:xfrm>
          <a:prstGeom prst="rect">
            <a:avLst/>
          </a:prstGeom>
          <a:solidFill>
            <a:srgbClr val="3486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AF9F0BE-4634-4E5C-9CCD-1F7CE16D6DFF}"/>
              </a:ext>
            </a:extLst>
          </p:cNvPr>
          <p:cNvSpPr>
            <a:spLocks noGrp="1"/>
          </p:cNvSpPr>
          <p:nvPr/>
        </p:nvSpPr>
        <p:spPr>
          <a:xfrm>
            <a:off x="600075" y="20097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E55406E-5FB7-471B-8594-62F141F78552}"/>
              </a:ext>
            </a:extLst>
          </p:cNvPr>
          <p:cNvSpPr>
            <a:spLocks noGrp="1"/>
          </p:cNvSpPr>
          <p:nvPr/>
        </p:nvSpPr>
        <p:spPr>
          <a:xfrm>
            <a:off x="885825" y="200977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Workload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412CAD5-E759-4C49-9166-C761352480A8}"/>
              </a:ext>
            </a:extLst>
          </p:cNvPr>
          <p:cNvSpPr>
            <a:spLocks noGrp="1"/>
          </p:cNvSpPr>
          <p:nvPr/>
        </p:nvSpPr>
        <p:spPr>
          <a:xfrm>
            <a:off x="628650" y="2724150"/>
            <a:ext cx="127635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Select a stable, measurable task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BDC2B6D-1DD8-4BE4-88B2-9F878C79B1AF}"/>
              </a:ext>
            </a:extLst>
          </p:cNvPr>
          <p:cNvSpPr>
            <a:spLocks noGrp="1"/>
          </p:cNvSpPr>
          <p:nvPr/>
        </p:nvSpPr>
        <p:spPr>
          <a:xfrm>
            <a:off x="2085975" y="299085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976" lnSpcReduction="10000"/>
          </a:bodyPr>
          <a:lstStyle/>
          <a:p>
            <a:pPr algn="ctr">
              <a:buNone/>
              <a:defRPr sz="210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4DF64FF4-A7D8-41C3-B8F3-53CDBC9E74D9}"/>
              </a:ext>
            </a:extLst>
          </p:cNvPr>
          <p:cNvSpPr>
            <a:spLocks noGrp="1"/>
          </p:cNvSpPr>
          <p:nvPr/>
        </p:nvSpPr>
        <p:spPr>
          <a:xfrm>
            <a:off x="2362200" y="1885950"/>
            <a:ext cx="1619250" cy="2762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4AB566A-53ED-46D7-983E-0F670A2127DE}"/>
              </a:ext>
            </a:extLst>
          </p:cNvPr>
          <p:cNvSpPr>
            <a:spLocks noGrp="1"/>
          </p:cNvSpPr>
          <p:nvPr/>
        </p:nvSpPr>
        <p:spPr>
          <a:xfrm>
            <a:off x="2362200" y="1885950"/>
            <a:ext cx="1619250" cy="514350"/>
          </a:xfrm>
          <a:prstGeom prst="rect">
            <a:avLst/>
          </a:prstGeom>
          <a:solidFill>
            <a:srgbClr val="15936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4B45527-C497-4B67-BACD-0FE4A704641B}"/>
              </a:ext>
            </a:extLst>
          </p:cNvPr>
          <p:cNvSpPr>
            <a:spLocks noGrp="1"/>
          </p:cNvSpPr>
          <p:nvPr/>
        </p:nvSpPr>
        <p:spPr>
          <a:xfrm>
            <a:off x="2505075" y="20097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68869F9-D3A7-489F-83AF-65A9A39318CC}"/>
              </a:ext>
            </a:extLst>
          </p:cNvPr>
          <p:cNvSpPr>
            <a:spLocks noGrp="1"/>
          </p:cNvSpPr>
          <p:nvPr/>
        </p:nvSpPr>
        <p:spPr>
          <a:xfrm>
            <a:off x="2790825" y="200977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Data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E2259B4-899B-47B8-A410-4B2F16BD5297}"/>
              </a:ext>
            </a:extLst>
          </p:cNvPr>
          <p:cNvSpPr>
            <a:spLocks noGrp="1"/>
          </p:cNvSpPr>
          <p:nvPr/>
        </p:nvSpPr>
        <p:spPr>
          <a:xfrm>
            <a:off x="2533650" y="2724150"/>
            <a:ext cx="127635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Prepare representative business examples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AE39F2F-BCBA-445D-B8EB-018433C51FF2}"/>
              </a:ext>
            </a:extLst>
          </p:cNvPr>
          <p:cNvSpPr>
            <a:spLocks noGrp="1"/>
          </p:cNvSpPr>
          <p:nvPr/>
        </p:nvSpPr>
        <p:spPr>
          <a:xfrm>
            <a:off x="3990975" y="299085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976" lnSpcReduction="10000"/>
          </a:bodyPr>
          <a:lstStyle/>
          <a:p>
            <a:pPr algn="ctr">
              <a:buNone/>
              <a:defRPr sz="210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A69BA528-D3A6-46F4-8B70-5DF1A117711A}"/>
              </a:ext>
            </a:extLst>
          </p:cNvPr>
          <p:cNvSpPr>
            <a:spLocks noGrp="1"/>
          </p:cNvSpPr>
          <p:nvPr/>
        </p:nvSpPr>
        <p:spPr>
          <a:xfrm>
            <a:off x="4267200" y="1885950"/>
            <a:ext cx="1619250" cy="2762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8C9475A-C508-4DD1-87C3-0C0584827950}"/>
              </a:ext>
            </a:extLst>
          </p:cNvPr>
          <p:cNvSpPr>
            <a:spLocks noGrp="1"/>
          </p:cNvSpPr>
          <p:nvPr/>
        </p:nvSpPr>
        <p:spPr>
          <a:xfrm>
            <a:off x="4267200" y="1885950"/>
            <a:ext cx="1619250" cy="514350"/>
          </a:xfrm>
          <a:prstGeom prst="rect">
            <a:avLst/>
          </a:prstGeom>
          <a:solidFill>
            <a:srgbClr val="765A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7C1DFC1-29D9-426F-814F-8E19014A2BD5}"/>
              </a:ext>
            </a:extLst>
          </p:cNvPr>
          <p:cNvSpPr>
            <a:spLocks noGrp="1"/>
          </p:cNvSpPr>
          <p:nvPr/>
        </p:nvSpPr>
        <p:spPr>
          <a:xfrm>
            <a:off x="4410075" y="20097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3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9E3DF2F-0419-42B2-96CA-A3BC36BD6742}"/>
              </a:ext>
            </a:extLst>
          </p:cNvPr>
          <p:cNvSpPr>
            <a:spLocks noGrp="1"/>
          </p:cNvSpPr>
          <p:nvPr/>
        </p:nvSpPr>
        <p:spPr>
          <a:xfrm>
            <a:off x="4695825" y="200977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Fine-tune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C6C9EAA-D2E1-4E43-9E5E-D603621CF72D}"/>
              </a:ext>
            </a:extLst>
          </p:cNvPr>
          <p:cNvSpPr>
            <a:spLocks noGrp="1"/>
          </p:cNvSpPr>
          <p:nvPr/>
        </p:nvSpPr>
        <p:spPr>
          <a:xfrm>
            <a:off x="4438650" y="2724150"/>
            <a:ext cx="127635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Train a compact model on Fireworks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34D9CB8-3562-4922-B402-5EB0BE5911A3}"/>
              </a:ext>
            </a:extLst>
          </p:cNvPr>
          <p:cNvSpPr>
            <a:spLocks noGrp="1"/>
          </p:cNvSpPr>
          <p:nvPr/>
        </p:nvSpPr>
        <p:spPr>
          <a:xfrm>
            <a:off x="5895975" y="299085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976" lnSpcReduction="10000"/>
          </a:bodyPr>
          <a:lstStyle/>
          <a:p>
            <a:pPr algn="ctr">
              <a:buNone/>
              <a:defRPr sz="210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C9DAACB8-10E2-4C87-B1F5-C94153CD687E}"/>
              </a:ext>
            </a:extLst>
          </p:cNvPr>
          <p:cNvSpPr>
            <a:spLocks noGrp="1"/>
          </p:cNvSpPr>
          <p:nvPr/>
        </p:nvSpPr>
        <p:spPr>
          <a:xfrm>
            <a:off x="6172200" y="1885950"/>
            <a:ext cx="1619250" cy="2762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FA3BAD0-A341-4505-B098-541574E9A749}"/>
              </a:ext>
            </a:extLst>
          </p:cNvPr>
          <p:cNvSpPr>
            <a:spLocks noGrp="1"/>
          </p:cNvSpPr>
          <p:nvPr/>
        </p:nvSpPr>
        <p:spPr>
          <a:xfrm>
            <a:off x="6172200" y="1885950"/>
            <a:ext cx="1619250" cy="514350"/>
          </a:xfrm>
          <a:prstGeom prst="rect">
            <a:avLst/>
          </a:prstGeom>
          <a:solidFill>
            <a:srgbClr val="176D8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F210C0D-28EE-4708-A50F-157C925F7850}"/>
              </a:ext>
            </a:extLst>
          </p:cNvPr>
          <p:cNvSpPr>
            <a:spLocks noGrp="1"/>
          </p:cNvSpPr>
          <p:nvPr/>
        </p:nvSpPr>
        <p:spPr>
          <a:xfrm>
            <a:off x="6315075" y="20097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4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55043B7-2E5E-4EC5-AB68-BDDEC447FD2A}"/>
              </a:ext>
            </a:extLst>
          </p:cNvPr>
          <p:cNvSpPr>
            <a:spLocks noGrp="1"/>
          </p:cNvSpPr>
          <p:nvPr/>
        </p:nvSpPr>
        <p:spPr>
          <a:xfrm>
            <a:off x="6600825" y="200977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Evaluate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7E5365A-E617-4D1D-AA7A-D71F0DC441DA}"/>
              </a:ext>
            </a:extLst>
          </p:cNvPr>
          <p:cNvSpPr>
            <a:spLocks noGrp="1"/>
          </p:cNvSpPr>
          <p:nvPr/>
        </p:nvSpPr>
        <p:spPr>
          <a:xfrm>
            <a:off x="6343650" y="2724150"/>
            <a:ext cx="127635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Measure held-out accuracy and analyze errors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DE2D9A2-436D-456C-BE98-FE62C938D5CD}"/>
              </a:ext>
            </a:extLst>
          </p:cNvPr>
          <p:cNvSpPr>
            <a:spLocks noGrp="1"/>
          </p:cNvSpPr>
          <p:nvPr/>
        </p:nvSpPr>
        <p:spPr>
          <a:xfrm>
            <a:off x="7800975" y="299085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976" lnSpcReduction="10000"/>
          </a:bodyPr>
          <a:lstStyle/>
          <a:p>
            <a:pPr algn="ctr">
              <a:buNone/>
              <a:defRPr sz="210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C04C0A1B-427E-4FAB-A8AF-217582900CF4}"/>
              </a:ext>
            </a:extLst>
          </p:cNvPr>
          <p:cNvSpPr>
            <a:spLocks noGrp="1"/>
          </p:cNvSpPr>
          <p:nvPr/>
        </p:nvSpPr>
        <p:spPr>
          <a:xfrm>
            <a:off x="8077200" y="1885950"/>
            <a:ext cx="1619250" cy="2762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FD6F110-6420-4631-AAFF-D7B9CA12FB19}"/>
              </a:ext>
            </a:extLst>
          </p:cNvPr>
          <p:cNvSpPr>
            <a:spLocks noGrp="1"/>
          </p:cNvSpPr>
          <p:nvPr/>
        </p:nvSpPr>
        <p:spPr>
          <a:xfrm>
            <a:off x="8077200" y="1885950"/>
            <a:ext cx="1619250" cy="514350"/>
          </a:xfrm>
          <a:prstGeom prst="rect">
            <a:avLst/>
          </a:prstGeom>
          <a:solidFill>
            <a:srgbClr val="FF633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D54F70A-285E-467F-B648-8734BFC54B67}"/>
              </a:ext>
            </a:extLst>
          </p:cNvPr>
          <p:cNvSpPr>
            <a:spLocks noGrp="1"/>
          </p:cNvSpPr>
          <p:nvPr/>
        </p:nvSpPr>
        <p:spPr>
          <a:xfrm>
            <a:off x="8220075" y="20097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5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FC63BFC-292E-48FB-BBED-7C3C8BEAD1F0}"/>
              </a:ext>
            </a:extLst>
          </p:cNvPr>
          <p:cNvSpPr>
            <a:spLocks noGrp="1"/>
          </p:cNvSpPr>
          <p:nvPr/>
        </p:nvSpPr>
        <p:spPr>
          <a:xfrm>
            <a:off x="8505825" y="200977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Deploy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9E9AC2E-2A6F-4AD3-AEAF-1A7D024B97F9}"/>
              </a:ext>
            </a:extLst>
          </p:cNvPr>
          <p:cNvSpPr>
            <a:spLocks noGrp="1"/>
          </p:cNvSpPr>
          <p:nvPr/>
        </p:nvSpPr>
        <p:spPr>
          <a:xfrm>
            <a:off x="8248650" y="2724150"/>
            <a:ext cx="127635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Integrate the Fireworks endpoint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164C9F2-1298-415C-A6BB-B3388CF9BD4D}"/>
              </a:ext>
            </a:extLst>
          </p:cNvPr>
          <p:cNvSpPr>
            <a:spLocks noGrp="1"/>
          </p:cNvSpPr>
          <p:nvPr/>
        </p:nvSpPr>
        <p:spPr>
          <a:xfrm>
            <a:off x="9705975" y="299085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976" lnSpcReduction="10000"/>
          </a:bodyPr>
          <a:lstStyle/>
          <a:p>
            <a:pPr algn="ctr">
              <a:buNone/>
              <a:defRPr sz="210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4CB94057-D063-4A8F-B83A-72AA464791B1}"/>
              </a:ext>
            </a:extLst>
          </p:cNvPr>
          <p:cNvSpPr>
            <a:spLocks noGrp="1"/>
          </p:cNvSpPr>
          <p:nvPr/>
        </p:nvSpPr>
        <p:spPr>
          <a:xfrm>
            <a:off x="9982200" y="1885950"/>
            <a:ext cx="1619250" cy="2762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535E6B7-8C6F-44E6-BB80-684DA052B0AE}"/>
              </a:ext>
            </a:extLst>
          </p:cNvPr>
          <p:cNvSpPr>
            <a:spLocks noGrp="1"/>
          </p:cNvSpPr>
          <p:nvPr/>
        </p:nvSpPr>
        <p:spPr>
          <a:xfrm>
            <a:off x="9982200" y="1885950"/>
            <a:ext cx="1619250" cy="514350"/>
          </a:xfrm>
          <a:prstGeom prst="rect">
            <a:avLst/>
          </a:prstGeom>
          <a:solidFill>
            <a:srgbClr val="3486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4F16ACC-8B85-407A-A4B5-A97157267E01}"/>
              </a:ext>
            </a:extLst>
          </p:cNvPr>
          <p:cNvSpPr>
            <a:spLocks noGrp="1"/>
          </p:cNvSpPr>
          <p:nvPr/>
        </p:nvSpPr>
        <p:spPr>
          <a:xfrm>
            <a:off x="10125075" y="20097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6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3EBD887-D256-42A9-B7FF-4C58360CF797}"/>
              </a:ext>
            </a:extLst>
          </p:cNvPr>
          <p:cNvSpPr>
            <a:spLocks noGrp="1"/>
          </p:cNvSpPr>
          <p:nvPr/>
        </p:nvSpPr>
        <p:spPr>
          <a:xfrm>
            <a:off x="10410825" y="200977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88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Optimize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F99F830-532C-458E-95E4-4404DF5344AB}"/>
              </a:ext>
            </a:extLst>
          </p:cNvPr>
          <p:cNvSpPr>
            <a:spLocks noGrp="1"/>
          </p:cNvSpPr>
          <p:nvPr/>
        </p:nvSpPr>
        <p:spPr>
          <a:xfrm>
            <a:off x="10153650" y="2724150"/>
            <a:ext cx="127635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Track quality, utilization and unit cost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CB80224-8E54-48C8-BB95-1395D954BE5F}"/>
              </a:ext>
            </a:extLst>
          </p:cNvPr>
          <p:cNvSpPr>
            <a:spLocks noGrp="1"/>
          </p:cNvSpPr>
          <p:nvPr/>
        </p:nvSpPr>
        <p:spPr>
          <a:xfrm>
            <a:off x="2476500" y="1123950"/>
            <a:ext cx="5143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0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Use evaluation errors to improve and rebalance the dataset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33E9C5D-5192-4189-913C-699994B3EF3F}"/>
              </a:ext>
            </a:extLst>
          </p:cNvPr>
          <p:cNvSpPr>
            <a:spLocks noGrp="1"/>
          </p:cNvSpPr>
          <p:nvPr/>
        </p:nvSpPr>
        <p:spPr>
          <a:xfrm>
            <a:off x="2133600" y="1257300"/>
            <a:ext cx="5905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528" lnSpcReduction="10000"/>
          </a:bodyPr>
          <a:lstStyle/>
          <a:p>
            <a:pPr algn="ctr">
              <a:buNone/>
              <a:defRPr sz="360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↶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E33DD9A-4123-4C1D-9C30-385A83BFDD2B}"/>
              </a:ext>
            </a:extLst>
          </p:cNvPr>
          <p:cNvSpPr>
            <a:spLocks noGrp="1"/>
          </p:cNvSpPr>
          <p:nvPr/>
        </p:nvSpPr>
        <p:spPr>
          <a:xfrm>
            <a:off x="3886200" y="4914900"/>
            <a:ext cx="4476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ctr">
              <a:buNone/>
              <a:defRPr sz="120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ITERATE UNTIL THE ACCURACY GATE IS MET</a:t>
            </a:r>
          </a:p>
        </p:txBody>
      </p:sp>
      <p:pic>
        <p:nvPicPr>
          <p:cNvPr id="223" name="Picture 2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BD783669-E21E-4D61-A0EB-B9B46DF37632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E1D3BA4-3EEA-47EE-9E82-DC4C33EFD8B9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22" lnSpcReduction="10000"/>
          </a:bodyPr>
          <a:lstStyle/>
          <a:p>
            <a:pPr algn="ctr"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1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METHOD</a:t>
            </a:r>
            <a:endParaRPr sz="1000" b="1">
              <a:solidFill>
                <a:srgbClr val="242424"/>
              </a:solidFill>
              <a:latin typeface="PP Telegraf regular"/>
              <a:ea typeface="PP Telegraf regular"/>
              <a:cs typeface="PP Telegraf regular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70B3430-23C8-429B-9F86-E8442EFEC2F3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Specialized model development cycle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EE26775-A258-4773-A32A-797157C8E69E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07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ADADB0E-D951-407E-9DC9-ED52A71122FC}"/>
              </a:ext>
            </a:extLst>
          </p:cNvPr>
          <p:cNvSpPr>
            <a:spLocks noGrp="1"/>
          </p:cNvSpPr>
          <p:nvPr/>
        </p:nvSpPr>
        <p:spPr>
          <a:xfrm>
            <a:off x="2305050" y="723900"/>
            <a:ext cx="8667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Six controlled steps, with evaluation results feeding the next dataset iteration.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42A87F8-B6C8-4EE1-85AD-7D40F412BE37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474CAC6-09B5-4DD9-B930-797FDDE5BF76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1EA8AC9-CB88-49C6-B36B-691AD77782DA}"/>
              </a:ext>
            </a:extLst>
          </p:cNvPr>
          <p:cNvSpPr>
            <a:spLocks noGrp="1"/>
          </p:cNvSpPr>
          <p:nvPr/>
        </p:nvSpPr>
        <p:spPr>
          <a:xfrm>
            <a:off x="1066800" y="1962150"/>
            <a:ext cx="9620250" cy="38100"/>
          </a:xfrm>
          <a:prstGeom prst="rect">
            <a:avLst/>
          </a:prstGeom>
          <a:solidFill>
            <a:srgbClr val="A9B7C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5777D3D-1115-4F12-93CD-342C54143617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590550" cy="5905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21E0665-554E-402E-AFD0-E0E3CD8048C5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ctr">
              <a:defRPr sz="150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rPr>
              <a:t>1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F15FFC1-3903-443B-A33A-CDF17B230CD5}"/>
              </a:ext>
            </a:extLst>
          </p:cNvPr>
          <p:cNvSpPr>
            <a:spLocks noGrp="1"/>
          </p:cNvSpPr>
          <p:nvPr/>
        </p:nvSpPr>
        <p:spPr>
          <a:xfrm>
            <a:off x="333375" y="2457450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Workload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5664A50-8108-434D-9BF2-7AB087A18B2D}"/>
              </a:ext>
            </a:extLst>
          </p:cNvPr>
          <p:cNvSpPr>
            <a:spLocks noGrp="1"/>
          </p:cNvSpPr>
          <p:nvPr/>
        </p:nvSpPr>
        <p:spPr>
          <a:xfrm>
            <a:off x="228600" y="2876550"/>
            <a:ext cx="16954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Select a stable, measurable task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60BF8B19-3331-4C8F-A4FA-D4F2F0A6C17D}"/>
              </a:ext>
            </a:extLst>
          </p:cNvPr>
          <p:cNvSpPr>
            <a:spLocks noGrp="1"/>
          </p:cNvSpPr>
          <p:nvPr/>
        </p:nvSpPr>
        <p:spPr>
          <a:xfrm>
            <a:off x="2647950" y="1676400"/>
            <a:ext cx="590550" cy="590550"/>
          </a:xfrm>
          <a:prstGeom prst="ellipse">
            <a:avLst/>
          </a:prstGeom>
          <a:solidFill>
            <a:srgbClr val="14384B"/>
          </a:solidFill>
          <a:ln w="9525">
            <a:solidFill>
              <a:srgbClr val="1438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C12D0DD-B8FF-4F4C-B28E-1CFFD0EB8ADE}"/>
              </a:ext>
            </a:extLst>
          </p:cNvPr>
          <p:cNvSpPr>
            <a:spLocks noGrp="1"/>
          </p:cNvSpPr>
          <p:nvPr/>
        </p:nvSpPr>
        <p:spPr>
          <a:xfrm>
            <a:off x="2647950" y="1809750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2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509F601-4458-4462-B5BA-B7BF733FD095}"/>
              </a:ext>
            </a:extLst>
          </p:cNvPr>
          <p:cNvSpPr>
            <a:spLocks noGrp="1"/>
          </p:cNvSpPr>
          <p:nvPr/>
        </p:nvSpPr>
        <p:spPr>
          <a:xfrm>
            <a:off x="2200275" y="2457450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Data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EAA89F7-705C-4D0E-8EC6-E9F9A398B49F}"/>
              </a:ext>
            </a:extLst>
          </p:cNvPr>
          <p:cNvSpPr>
            <a:spLocks noGrp="1"/>
          </p:cNvSpPr>
          <p:nvPr/>
        </p:nvSpPr>
        <p:spPr>
          <a:xfrm>
            <a:off x="2095500" y="2876550"/>
            <a:ext cx="16954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Prepare representative business examples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3A9AFAA6-2779-4EA0-B037-545547E843AD}"/>
              </a:ext>
            </a:extLst>
          </p:cNvPr>
          <p:cNvSpPr>
            <a:spLocks noGrp="1"/>
          </p:cNvSpPr>
          <p:nvPr/>
        </p:nvSpPr>
        <p:spPr>
          <a:xfrm>
            <a:off x="4514850" y="1676400"/>
            <a:ext cx="590550" cy="590550"/>
          </a:xfrm>
          <a:prstGeom prst="ellipse">
            <a:avLst/>
          </a:prstGeom>
          <a:solidFill>
            <a:srgbClr val="14384B"/>
          </a:solidFill>
          <a:ln w="9525">
            <a:solidFill>
              <a:srgbClr val="1438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D702019-FA3B-4442-A43B-A73329C5C270}"/>
              </a:ext>
            </a:extLst>
          </p:cNvPr>
          <p:cNvSpPr>
            <a:spLocks noGrp="1"/>
          </p:cNvSpPr>
          <p:nvPr/>
        </p:nvSpPr>
        <p:spPr>
          <a:xfrm>
            <a:off x="4514850" y="1809750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3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DE6FA32-534E-46CB-BBE0-B24E7C9046E9}"/>
              </a:ext>
            </a:extLst>
          </p:cNvPr>
          <p:cNvSpPr>
            <a:spLocks noGrp="1"/>
          </p:cNvSpPr>
          <p:nvPr/>
        </p:nvSpPr>
        <p:spPr>
          <a:xfrm>
            <a:off x="4067175" y="2457450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Fine-tune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D3CF290-9DDA-4A8C-A820-7D26CCA0DAA4}"/>
              </a:ext>
            </a:extLst>
          </p:cNvPr>
          <p:cNvSpPr>
            <a:spLocks noGrp="1"/>
          </p:cNvSpPr>
          <p:nvPr/>
        </p:nvSpPr>
        <p:spPr>
          <a:xfrm>
            <a:off x="3962400" y="2876550"/>
            <a:ext cx="16954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Train a compact model on Fireworks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5EBE2EAC-08F6-46DF-BC39-05830F5EBE95}"/>
              </a:ext>
            </a:extLst>
          </p:cNvPr>
          <p:cNvSpPr>
            <a:spLocks noGrp="1"/>
          </p:cNvSpPr>
          <p:nvPr/>
        </p:nvSpPr>
        <p:spPr>
          <a:xfrm>
            <a:off x="6381750" y="1676400"/>
            <a:ext cx="590550" cy="590550"/>
          </a:xfrm>
          <a:prstGeom prst="ellipse">
            <a:avLst/>
          </a:prstGeom>
          <a:solidFill>
            <a:srgbClr val="14384B"/>
          </a:solidFill>
          <a:ln w="9525">
            <a:solidFill>
              <a:srgbClr val="1438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69055A5-72C2-4674-9608-EACE2F8BBE4C}"/>
              </a:ext>
            </a:extLst>
          </p:cNvPr>
          <p:cNvSpPr>
            <a:spLocks noGrp="1"/>
          </p:cNvSpPr>
          <p:nvPr/>
        </p:nvSpPr>
        <p:spPr>
          <a:xfrm>
            <a:off x="6381750" y="1809750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4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7AFF50D-E63E-4105-93EE-E0EE4114DC86}"/>
              </a:ext>
            </a:extLst>
          </p:cNvPr>
          <p:cNvSpPr>
            <a:spLocks noGrp="1"/>
          </p:cNvSpPr>
          <p:nvPr/>
        </p:nvSpPr>
        <p:spPr>
          <a:xfrm>
            <a:off x="5934075" y="2457450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Evaluate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F0472A5-569D-495D-AFFD-B771CEFBCB56}"/>
              </a:ext>
            </a:extLst>
          </p:cNvPr>
          <p:cNvSpPr>
            <a:spLocks noGrp="1"/>
          </p:cNvSpPr>
          <p:nvPr/>
        </p:nvSpPr>
        <p:spPr>
          <a:xfrm>
            <a:off x="5829300" y="2876550"/>
            <a:ext cx="16954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Measure held-out accuracy and analyze errors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729A9B5F-DCD6-44AC-9EF4-D72C5A1EAE52}"/>
              </a:ext>
            </a:extLst>
          </p:cNvPr>
          <p:cNvSpPr>
            <a:spLocks noGrp="1"/>
          </p:cNvSpPr>
          <p:nvPr/>
        </p:nvSpPr>
        <p:spPr>
          <a:xfrm>
            <a:off x="8248650" y="1676400"/>
            <a:ext cx="590550" cy="5905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6E840BC-D69F-4CAC-905F-A5173E887B93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ctr">
              <a:defRPr sz="150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rPr>
              <a:t>5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D37FB42-A3E6-4CD5-95FC-88E776DE5E69}"/>
              </a:ext>
            </a:extLst>
          </p:cNvPr>
          <p:cNvSpPr>
            <a:spLocks noGrp="1"/>
          </p:cNvSpPr>
          <p:nvPr/>
        </p:nvSpPr>
        <p:spPr>
          <a:xfrm>
            <a:off x="7800975" y="2457450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Deploy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FD248E1-A71E-4B10-9F41-369590472DA4}"/>
              </a:ext>
            </a:extLst>
          </p:cNvPr>
          <p:cNvSpPr>
            <a:spLocks noGrp="1"/>
          </p:cNvSpPr>
          <p:nvPr/>
        </p:nvSpPr>
        <p:spPr>
          <a:xfrm>
            <a:off x="7696200" y="2876550"/>
            <a:ext cx="16954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Integrate the Fireworks endpoint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E85DF4AC-5AD0-4CFE-AA2E-4F33E0BAE621}"/>
              </a:ext>
            </a:extLst>
          </p:cNvPr>
          <p:cNvSpPr>
            <a:spLocks noGrp="1"/>
          </p:cNvSpPr>
          <p:nvPr/>
        </p:nvSpPr>
        <p:spPr>
          <a:xfrm>
            <a:off x="10115550" y="1676400"/>
            <a:ext cx="590550" cy="5905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18E6926-D1B0-4B1E-AF71-58DCA8C1C907}"/>
              </a:ext>
            </a:extLst>
          </p:cNvPr>
          <p:cNvSpPr>
            <a:spLocks noGrp="1"/>
          </p:cNvSpPr>
          <p:nvPr/>
        </p:nvSpPr>
        <p:spPr>
          <a:xfrm>
            <a:off x="10115550" y="1809750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ctr">
              <a:defRPr sz="150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rPr>
              <a:t>6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0375C8E-17D6-447A-84CA-D606FDE0C12C}"/>
              </a:ext>
            </a:extLst>
          </p:cNvPr>
          <p:cNvSpPr>
            <a:spLocks noGrp="1"/>
          </p:cNvSpPr>
          <p:nvPr/>
        </p:nvSpPr>
        <p:spPr>
          <a:xfrm>
            <a:off x="9667875" y="2457450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Optimize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ABA41E8-CFCA-4546-B88D-2703EF934070}"/>
              </a:ext>
            </a:extLst>
          </p:cNvPr>
          <p:cNvSpPr>
            <a:spLocks noGrp="1"/>
          </p:cNvSpPr>
          <p:nvPr/>
        </p:nvSpPr>
        <p:spPr>
          <a:xfrm>
            <a:off x="9563100" y="2876550"/>
            <a:ext cx="16954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Track quality, utilization and unit cost</a:t>
            </a: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063E90E9-2190-47C9-A3CF-6EFCFC8B9481}"/>
              </a:ext>
            </a:extLst>
          </p:cNvPr>
          <p:cNvSpPr>
            <a:spLocks noGrp="1"/>
          </p:cNvSpPr>
          <p:nvPr/>
        </p:nvSpPr>
        <p:spPr>
          <a:xfrm>
            <a:off x="2116320" y="3980392"/>
            <a:ext cx="5212170" cy="839258"/>
          </a:xfrm>
          <a:prstGeom prst="roundRect">
            <a:avLst>
              <a:gd name="adj" fmla="val 7692"/>
            </a:avLst>
          </a:prstGeom>
          <a:solidFill>
            <a:srgbClr val="EEF5FD"/>
          </a:solidFill>
          <a:ln w="9525">
            <a:solidFill>
              <a:srgbClr val="176D8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43DF2D9-CB26-4F69-9F58-87FECF8751BE}"/>
              </a:ext>
            </a:extLst>
          </p:cNvPr>
          <p:cNvSpPr>
            <a:spLocks noGrp="1"/>
          </p:cNvSpPr>
          <p:nvPr/>
        </p:nvSpPr>
        <p:spPr>
          <a:xfrm flipH="1">
            <a:off x="2962275" y="3601336"/>
            <a:ext cx="45719" cy="457200"/>
          </a:xfrm>
          <a:prstGeom prst="rect">
            <a:avLst/>
          </a:prstGeom>
          <a:solidFill>
            <a:srgbClr val="176D8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D599E1D-A8F2-44E6-B250-D019080E7E91}"/>
              </a:ext>
            </a:extLst>
          </p:cNvPr>
          <p:cNvSpPr>
            <a:spLocks noGrp="1"/>
          </p:cNvSpPr>
          <p:nvPr/>
        </p:nvSpPr>
        <p:spPr>
          <a:xfrm>
            <a:off x="6605587" y="3648075"/>
            <a:ext cx="45719" cy="409575"/>
          </a:xfrm>
          <a:prstGeom prst="rect">
            <a:avLst/>
          </a:prstGeom>
          <a:solidFill>
            <a:srgbClr val="176D8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43C1AC9-D8C4-473D-A95D-053B5470AF05}"/>
              </a:ext>
            </a:extLst>
          </p:cNvPr>
          <p:cNvSpPr>
            <a:spLocks noGrp="1"/>
          </p:cNvSpPr>
          <p:nvPr/>
        </p:nvSpPr>
        <p:spPr>
          <a:xfrm>
            <a:off x="2284589" y="4127998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214" lnSpcReduction="10000"/>
          </a:bodyPr>
          <a:lstStyle/>
          <a:p>
            <a:pPr algn="l">
              <a:defRPr sz="105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5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EVALUATION FEEDBACK LOOP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1CE907D-7BE5-41E3-A8BD-4139A3237582}"/>
              </a:ext>
            </a:extLst>
          </p:cNvPr>
          <p:cNvSpPr>
            <a:spLocks noGrp="1"/>
          </p:cNvSpPr>
          <p:nvPr/>
        </p:nvSpPr>
        <p:spPr>
          <a:xfrm>
            <a:off x="2276475" y="4349252"/>
            <a:ext cx="5048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844" lnSpcReduction="10000"/>
          </a:bodyPr>
          <a:lstStyle/>
          <a:p>
            <a:pPr algn="l">
              <a:defRPr sz="12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Evaluation results guide dataset improvements and repeated fine-tuning until the model meets the workload's prediction-quality targets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321EC59-A58E-49C9-838B-E4918D6E6369}"/>
              </a:ext>
            </a:extLst>
          </p:cNvPr>
          <p:cNvSpPr>
            <a:spLocks noGrp="1"/>
          </p:cNvSpPr>
          <p:nvPr/>
        </p:nvSpPr>
        <p:spPr>
          <a:xfrm>
            <a:off x="3676651" y="3562351"/>
            <a:ext cx="2057399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325" lnSpcReduction="10000"/>
          </a:bodyPr>
          <a:lstStyle/>
          <a:p>
            <a:pPr algn="ctr">
              <a:defRPr sz="285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85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←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8AD70CC-3F5C-4A01-BDF9-DE538415C8F3}"/>
              </a:ext>
            </a:extLst>
          </p:cNvPr>
          <p:cNvSpPr>
            <a:spLocks noGrp="1"/>
          </p:cNvSpPr>
          <p:nvPr/>
        </p:nvSpPr>
        <p:spPr>
          <a:xfrm>
            <a:off x="2058729" y="5343525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ctr">
              <a:defRPr sz="97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975" b="1">
              <a:solidFill>
                <a:srgbClr val="176D8C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CAD5184-F3E0-45F2-891C-82CE48DDA6A8}"/>
              </a:ext>
            </a:extLst>
          </p:cNvPr>
          <p:cNvSpPr>
            <a:spLocks noGrp="1"/>
          </p:cNvSpPr>
          <p:nvPr/>
        </p:nvSpPr>
        <p:spPr>
          <a:xfrm>
            <a:off x="5602029" y="5343525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ctr">
              <a:defRPr sz="97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975" b="1">
              <a:solidFill>
                <a:srgbClr val="176D8C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500056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35409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4E7417A-A38D-4961-B167-77B1D9EC84F7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32D28F-6CE1-4E8A-ACD1-B63D331A45D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9722" lnSpcReduction="10000"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CASE STUDY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9D0B00-B698-4B7A-BA48-287B301D834D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Banking77 validates compact-model specialization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5D9E47-C679-4EF9-B4F4-F3D41C84515A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12E78-6196-4007-AAE1-5F557AA53D47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3F8903-3AE8-4383-9C10-34C8FC655E4B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E845CF-DDE8-46C3-A3AA-9ABD578DE4F4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476500" cy="1428750"/>
          </a:xfrm>
          <a:prstGeom prst="roundRect">
            <a:avLst>
              <a:gd name="adj" fmla="val 5333"/>
            </a:avLst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903B20-7EBC-4AC7-B06B-6606E11BEAAD}"/>
              </a:ext>
            </a:extLst>
          </p:cNvPr>
          <p:cNvSpPr>
            <a:spLocks noGrp="1"/>
          </p:cNvSpPr>
          <p:nvPr/>
        </p:nvSpPr>
        <p:spPr>
          <a:xfrm>
            <a:off x="781050" y="1200150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98"/>
          </a:bodyPr>
          <a:lstStyle/>
          <a:p>
            <a:pPr algn="l">
              <a:buNone/>
              <a:defRPr sz="3225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225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86.88%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D5A313-DEE9-49FA-8A57-695AAA14436B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Qwen3.5-0.8B accuracy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D37FE2-70A2-44B4-956D-993433E8B3AF}"/>
              </a:ext>
            </a:extLst>
          </p:cNvPr>
          <p:cNvSpPr>
            <a:spLocks noGrp="1"/>
          </p:cNvSpPr>
          <p:nvPr/>
        </p:nvSpPr>
        <p:spPr>
          <a:xfrm>
            <a:off x="3276600" y="1066800"/>
            <a:ext cx="2476500" cy="1428750"/>
          </a:xfrm>
          <a:prstGeom prst="roundRect">
            <a:avLst>
              <a:gd name="adj" fmla="val 5333"/>
            </a:avLst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B0B79C-1DD0-4420-803B-E0654A55D793}"/>
              </a:ext>
            </a:extLst>
          </p:cNvPr>
          <p:cNvSpPr>
            <a:spLocks noGrp="1"/>
          </p:cNvSpPr>
          <p:nvPr/>
        </p:nvSpPr>
        <p:spPr>
          <a:xfrm>
            <a:off x="3467100" y="1200150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98"/>
          </a:bodyPr>
          <a:lstStyle/>
          <a:p>
            <a:pPr algn="l">
              <a:buNone/>
              <a:defRPr sz="3225" b="0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225" b="0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85.19%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6D8DEA-EE4D-40D8-8963-E9AA66449456}"/>
              </a:ext>
            </a:extLst>
          </p:cNvPr>
          <p:cNvSpPr>
            <a:spLocks noGrp="1"/>
          </p:cNvSpPr>
          <p:nvPr/>
        </p:nvSpPr>
        <p:spPr>
          <a:xfrm>
            <a:off x="3467100" y="184785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GPT-5.6 Luna accuracy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5F72765-E31A-4F9A-86F9-F24806A6C3D1}"/>
              </a:ext>
            </a:extLst>
          </p:cNvPr>
          <p:cNvSpPr>
            <a:spLocks noGrp="1"/>
          </p:cNvSpPr>
          <p:nvPr/>
        </p:nvSpPr>
        <p:spPr>
          <a:xfrm>
            <a:off x="5962650" y="1066800"/>
            <a:ext cx="2476500" cy="1428750"/>
          </a:xfrm>
          <a:prstGeom prst="roundRect">
            <a:avLst>
              <a:gd name="adj" fmla="val 5333"/>
            </a:avLst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9E7077-C49C-4240-BE76-33E2C55B31F8}"/>
              </a:ext>
            </a:extLst>
          </p:cNvPr>
          <p:cNvSpPr>
            <a:spLocks noGrp="1"/>
          </p:cNvSpPr>
          <p:nvPr/>
        </p:nvSpPr>
        <p:spPr>
          <a:xfrm>
            <a:off x="6153150" y="1200150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98"/>
          </a:bodyPr>
          <a:lstStyle/>
          <a:p>
            <a:pPr algn="l">
              <a:buNone/>
              <a:defRPr sz="3225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225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3,080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CCB01A-A9B7-4D8E-AD46-F09C10CFE569}"/>
              </a:ext>
            </a:extLst>
          </p:cNvPr>
          <p:cNvSpPr>
            <a:spLocks noGrp="1"/>
          </p:cNvSpPr>
          <p:nvPr/>
        </p:nvSpPr>
        <p:spPr>
          <a:xfrm>
            <a:off x="6153150" y="184785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shared test examples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FB36AA8-39B8-4BA1-9EE8-A0A25FE8C919}"/>
              </a:ext>
            </a:extLst>
          </p:cNvPr>
          <p:cNvSpPr>
            <a:spLocks noGrp="1"/>
          </p:cNvSpPr>
          <p:nvPr/>
        </p:nvSpPr>
        <p:spPr>
          <a:xfrm>
            <a:off x="8648700" y="1066800"/>
            <a:ext cx="2952750" cy="1428750"/>
          </a:xfrm>
          <a:prstGeom prst="roundRect">
            <a:avLst>
              <a:gd name="adj" fmla="val 5333"/>
            </a:avLst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4502EB-E895-4949-95AE-B952EFD1A860}"/>
              </a:ext>
            </a:extLst>
          </p:cNvPr>
          <p:cNvSpPr>
            <a:spLocks noGrp="1"/>
          </p:cNvSpPr>
          <p:nvPr/>
        </p:nvSpPr>
        <p:spPr>
          <a:xfrm>
            <a:off x="8839200" y="1200150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98"/>
          </a:bodyPr>
          <a:lstStyle/>
          <a:p>
            <a:pPr algn="l">
              <a:buNone/>
              <a:defRPr sz="3225" b="0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225" b="0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35.3×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5F344D-9AE0-4E49-B9C8-CBE285CB6924}"/>
              </a:ext>
            </a:extLst>
          </p:cNvPr>
          <p:cNvSpPr>
            <a:spLocks noGrp="1"/>
          </p:cNvSpPr>
          <p:nvPr/>
        </p:nvSpPr>
        <p:spPr>
          <a:xfrm>
            <a:off x="8839200" y="18478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more tokens for direct GPT</a:t>
            </a:r>
          </a:p>
        </p:txBody>
      </p:sp>
      <p:graphicFrame>
        <p:nvGraphicFramePr>
          <p:cNvPr id="83" name="Chart"/>
          <p:cNvGraphicFramePr/>
          <p:nvPr/>
        </p:nvGraphicFramePr>
        <p:xfrm>
          <a:off x="838200" y="3143250"/>
          <a:ext cx="628650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900BB14-1854-4CBC-A980-C51899DAC8C0}"/>
              </a:ext>
            </a:extLst>
          </p:cNvPr>
          <p:cNvSpPr>
            <a:spLocks noGrp="1"/>
          </p:cNvSpPr>
          <p:nvPr/>
        </p:nvSpPr>
        <p:spPr>
          <a:xfrm>
            <a:off x="7810500" y="3314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Closed-label task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2A1591-A9A5-4B6D-BD6C-0029F4C00020}"/>
              </a:ext>
            </a:extLst>
          </p:cNvPr>
          <p:cNvSpPr>
            <a:spLocks noGrp="1"/>
          </p:cNvSpPr>
          <p:nvPr/>
        </p:nvSpPr>
        <p:spPr>
          <a:xfrm>
            <a:off x="7810500" y="3752850"/>
            <a:ext cx="3238500" cy="1200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The model predicts one of 77 known intents. Specialization embeds the task contract in the weights instead of repeating it in every prompt.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93A55E-FA03-47C8-A277-A330070EA37B}"/>
              </a:ext>
            </a:extLst>
          </p:cNvPr>
          <p:cNvSpPr>
            <a:spLocks noGrp="1"/>
          </p:cNvSpPr>
          <p:nvPr/>
        </p:nvSpPr>
        <p:spPr>
          <a:xfrm>
            <a:off x="7810500" y="521970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500" lnSpcReduction="10000"/>
          </a:bodyPr>
          <a:lstStyle/>
          <a:p>
            <a:pPr algn="l">
              <a:buNone/>
              <a:defRPr sz="12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Result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08B081-B774-4792-BC49-FDF478ACA5E5}"/>
              </a:ext>
            </a:extLst>
          </p:cNvPr>
          <p:cNvSpPr>
            <a:spLocks noGrp="1"/>
          </p:cNvSpPr>
          <p:nvPr/>
        </p:nvSpPr>
        <p:spPr>
          <a:xfrm>
            <a:off x="8572500" y="5162550"/>
            <a:ext cx="26670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608" lnSpcReduction="20000"/>
          </a:bodyPr>
          <a:lstStyle/>
          <a:p>
            <a:pPr algn="l">
              <a:buNone/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0.8B model led this specific benchmark. The result does not imply broad superiority.</a:t>
            </a:r>
          </a:p>
        </p:txBody>
      </p:sp>
      <p:pic>
        <p:nvPicPr>
          <p:cNvPr id="88" name="Picture 6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30261"/>
            <a:ext cx="12192000" cy="6858000"/>
          </a:xfrm>
          <a:prstGeom prst="rect">
            <a:avLst/>
          </a:prstGeom>
        </p:spPr>
      </p:pic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807B004-6D39-48F6-8F7F-B5BD90C1112E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BF92C0-839A-415C-ADF9-1A7CBC18C696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CASE STUDY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AF4592-B811-43D5-97E6-CA980A2B6254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791"/>
          </a:bodyPr>
          <a:lstStyle/>
          <a:p>
            <a:pPr algn="l">
              <a:buNone/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 compact specialist can outperform a generalist model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5ECCB7-BC4B-42CA-99BA-32B5D59D8E88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9F9DCA-4E73-4EAC-A5AA-D6C1A9BB0C51}"/>
              </a:ext>
            </a:extLst>
          </p:cNvPr>
          <p:cNvSpPr>
            <a:spLocks noGrp="1"/>
          </p:cNvSpPr>
          <p:nvPr/>
        </p:nvSpPr>
        <p:spPr>
          <a:xfrm>
            <a:off x="2305050" y="723900"/>
            <a:ext cx="8572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3,080 banking-support queries, each mapped to one of 77 predefined customer-service intents.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83C17A-BE36-4954-AD87-021294E36074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32EC98-D3A3-4D9B-9CA8-A9D20E979361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181C472-BC65-4049-895C-F63468FD5699}"/>
              </a:ext>
            </a:extLst>
          </p:cNvPr>
          <p:cNvSpPr>
            <a:spLocks noGrp="1"/>
          </p:cNvSpPr>
          <p:nvPr/>
        </p:nvSpPr>
        <p:spPr>
          <a:xfrm>
            <a:off x="590550" y="1123950"/>
            <a:ext cx="11010900" cy="990600"/>
          </a:xfrm>
          <a:prstGeom prst="roundRect">
            <a:avLst>
              <a:gd name="adj" fmla="val 7692"/>
            </a:avLst>
          </a:prstGeom>
          <a:solidFill>
            <a:srgbClr val="F0FAF7"/>
          </a:solidFill>
          <a:ln w="9525">
            <a:solidFill>
              <a:srgbClr val="159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B8F6A3-E978-4D71-9893-8AF0ACF453F8}"/>
              </a:ext>
            </a:extLst>
          </p:cNvPr>
          <p:cNvSpPr>
            <a:spLocks noGrp="1"/>
          </p:cNvSpPr>
          <p:nvPr/>
        </p:nvSpPr>
        <p:spPr>
          <a:xfrm>
            <a:off x="819150" y="132397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944" lnSpcReduction="10000"/>
          </a:bodyPr>
          <a:lstStyle/>
          <a:p>
            <a:pPr algn="l">
              <a:buNone/>
              <a:defRPr sz="225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+1.69 pp accuracy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39EFEB-E878-436A-8896-C846692D369D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48" lnSpcReduction="10000"/>
          </a:bodyPr>
          <a:lstStyle/>
          <a:p>
            <a:pPr algn="l">
              <a:buNone/>
              <a:def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and 35.3× fewer total tokens than the direct generalist baseline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F13C59B-8059-48C4-9F4A-3D681B4F1184}"/>
              </a:ext>
            </a:extLst>
          </p:cNvPr>
          <p:cNvSpPr>
            <a:spLocks noGrp="1"/>
          </p:cNvSpPr>
          <p:nvPr/>
        </p:nvSpPr>
        <p:spPr>
          <a:xfrm>
            <a:off x="3714750" y="1724025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8889" lnSpcReduction="10000"/>
          </a:bodyPr>
          <a:lstStyle/>
          <a:p>
            <a:pPr algn="l">
              <a:buNone/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Relative accuracy lift: +1.98% on the same held-out test set.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5905A20-A8E4-4DB9-BB90-373A87EDDFE7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buNone/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Accuracy (%)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F3D104-208E-4A2C-A446-AA3054C78BD4}"/>
              </a:ext>
            </a:extLst>
          </p:cNvPr>
          <p:cNvSpPr>
            <a:spLocks noGrp="1"/>
          </p:cNvSpPr>
          <p:nvPr/>
        </p:nvSpPr>
        <p:spPr>
          <a:xfrm>
            <a:off x="6362700" y="2266950"/>
            <a:ext cx="523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buNone/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Total tokens processed</a:t>
            </a:r>
          </a:p>
        </p:txBody>
      </p:sp>
      <p:graphicFrame>
        <p:nvGraphicFramePr>
          <p:cNvPr id="102" name="Chart"/>
          <p:cNvGraphicFramePr/>
          <p:nvPr/>
        </p:nvGraphicFramePr>
        <p:xfrm>
          <a:off x="552450" y="2571750"/>
          <a:ext cx="5286375" cy="299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3" name="Chart"/>
          <p:cNvGraphicFramePr/>
          <p:nvPr/>
        </p:nvGraphicFramePr>
        <p:xfrm>
          <a:off x="6362700" y="2571750"/>
          <a:ext cx="5238750" cy="299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04" name="Picture 10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97091"/>
            <a:ext cx="12192000" cy="6858000"/>
          </a:xfrm>
          <a:prstGeom prst="rect">
            <a:avLst/>
          </a:prstGeom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AB2BEE5-531D-44BE-95FF-79E4CC9F5ECA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D7DDDA8-EC4B-45C1-91F8-87BD9137577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CASE </a:t>
            </a:r>
            <a:r>
              <a: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STUDY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0FACAB5-682D-481A-9D4B-6BC4C33F733C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791"/>
          </a:bodyPr>
          <a:lstStyle/>
          <a:p>
            <a:pPr algn="l"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 compact specialist can outperform a generalist </a:t>
            </a:r>
            <a:r>
              <a:rPr lang="es-419"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model</a:t>
            </a:r>
            <a:endParaRPr sz="2175" b="0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558A2FE-1A46-4DB5-90C4-251985F3EB4B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08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E6C51AA-127E-43F0-B919-CFBDBCAA6760}"/>
              </a:ext>
            </a:extLst>
          </p:cNvPr>
          <p:cNvSpPr>
            <a:spLocks noGrp="1"/>
          </p:cNvSpPr>
          <p:nvPr/>
        </p:nvSpPr>
        <p:spPr>
          <a:xfrm>
            <a:off x="2301294" y="609600"/>
            <a:ext cx="8667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3,080 banking-support queries, each mapped to one of 77 predefined customer-service intents.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37B1B9-18CE-4B02-B7AB-8AC0DC3AA1AC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9187AA2-41BE-4449-A14F-1228C64F1EAE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246C21FA-5EE7-4D27-BECA-B736B3C3CB3A}"/>
              </a:ext>
            </a:extLst>
          </p:cNvPr>
          <p:cNvSpPr>
            <a:spLocks noGrp="1"/>
          </p:cNvSpPr>
          <p:nvPr/>
        </p:nvSpPr>
        <p:spPr>
          <a:xfrm>
            <a:off x="590550" y="1123950"/>
            <a:ext cx="11010900" cy="990600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A9AFEC0-5CDB-4F3B-BB6B-6A7A116F66F1}"/>
              </a:ext>
            </a:extLst>
          </p:cNvPr>
          <p:cNvSpPr>
            <a:spLocks noGrp="1"/>
          </p:cNvSpPr>
          <p:nvPr/>
        </p:nvSpPr>
        <p:spPr>
          <a:xfrm>
            <a:off x="781050" y="1257300"/>
            <a:ext cx="4095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309" lnSpcReduction="20000"/>
          </a:bodyPr>
          <a:lstStyle/>
          <a:p>
            <a:pPr algn="l">
              <a:defRPr sz="105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5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rPr>
              <a:t>BEST FINE-TUNED MODEL VS. BEST GPT MODEL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D071A9B-2274-45BD-9379-7E9C6BD196B0}"/>
              </a:ext>
            </a:extLst>
          </p:cNvPr>
          <p:cNvSpPr>
            <a:spLocks noGrp="1"/>
          </p:cNvSpPr>
          <p:nvPr/>
        </p:nvSpPr>
        <p:spPr>
          <a:xfrm>
            <a:off x="914400" y="1609725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33" lnSpcReduction="20000"/>
          </a:bodyPr>
          <a:lstStyle/>
          <a:p>
            <a:pPr algn="l">
              <a:defRPr sz="18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+1.69 pp accuracy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592D4C9-6C9A-4FBE-B5A0-B9C5F451919E}"/>
              </a:ext>
            </a:extLst>
          </p:cNvPr>
          <p:cNvSpPr>
            <a:spLocks noGrp="1"/>
          </p:cNvSpPr>
          <p:nvPr/>
        </p:nvSpPr>
        <p:spPr>
          <a:xfrm>
            <a:off x="3257550" y="1609725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33" lnSpcReduction="20000"/>
          </a:bodyPr>
          <a:lstStyle/>
          <a:p>
            <a:pPr algn="l">
              <a:defRPr sz="18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35.3× fewer total tokens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AD7D7A8-9CB7-4C52-8FA6-5538BCFFD8A3}"/>
              </a:ext>
            </a:extLst>
          </p:cNvPr>
          <p:cNvSpPr>
            <a:spLocks noGrp="1"/>
          </p:cNvSpPr>
          <p:nvPr/>
        </p:nvSpPr>
        <p:spPr>
          <a:xfrm>
            <a:off x="6755908" y="1227180"/>
            <a:ext cx="4452334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Qwen3.5-0.8B FT compared with GPT-5.6 direct on the same test set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C77B5C7-2778-47B5-AD36-46BD62B33591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Accuracy (%)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67C641-B7BB-46B9-98AA-E8AABFBA2D73}"/>
              </a:ext>
            </a:extLst>
          </p:cNvPr>
          <p:cNvSpPr>
            <a:spLocks noGrp="1"/>
          </p:cNvSpPr>
          <p:nvPr/>
        </p:nvSpPr>
        <p:spPr>
          <a:xfrm>
            <a:off x="6362700" y="2266950"/>
            <a:ext cx="523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Total tokens processed</a:t>
            </a:r>
          </a:p>
        </p:txBody>
      </p:sp>
      <p:graphicFrame>
        <p:nvGraphicFramePr>
          <p:cNvPr id="120" name="Chart"/>
          <p:cNvGraphicFramePr/>
          <p:nvPr/>
        </p:nvGraphicFramePr>
        <p:xfrm>
          <a:off x="552450" y="2571750"/>
          <a:ext cx="5286375" cy="299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21" name="Chart"/>
          <p:cNvGraphicFramePr/>
          <p:nvPr/>
        </p:nvGraphicFramePr>
        <p:xfrm>
          <a:off x="6362700" y="2571750"/>
          <a:ext cx="5238750" cy="299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661562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61015F3-87AB-4A46-972E-6D5DF79D6376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75EB62-D4AB-45E5-ABC7-B960AD0BE161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9722" lnSpcReduction="10000"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CASE STUDY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A8680-5B75-48D0-8B18-D76DF98CD35B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153"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Amazon Reviews separates decision accuracy from explanation quality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C0051A-7FB4-4D50-A7F2-A20B82970226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56C3A-E3DD-4DEE-9875-D19563CF6C1A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0A6312-08A0-4FF2-9538-AC4FBA405C06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73" name="Table 29"/>
          <p:cNvGraphicFramePr/>
          <p:nvPr/>
        </p:nvGraphicFramePr>
        <p:xfrm>
          <a:off x="552450" y="1085850"/>
          <a:ext cx="11087100" cy="2190752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Model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Decision accuracy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Macro-F1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Judge score /100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Pass rate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Critical errors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Qwen3-4B FT v2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54.37%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0.4607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60.40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33.01%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58.25%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GPT-5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37.86%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0.3330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63.70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35.92%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62.14%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Qwen3-4B base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27.18%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0.2333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43.12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2.91%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79.61%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B073D5F-66EF-4FB3-B68C-077D472498F4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2381250" cy="1428750"/>
          </a:xfrm>
          <a:prstGeom prst="roundRect">
            <a:avLst>
              <a:gd name="adj" fmla="val 5333"/>
            </a:avLst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0EF2C6-9852-4BF1-98E5-2C47BD223A05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98"/>
          </a:bodyPr>
          <a:lstStyle/>
          <a:p>
            <a:pPr algn="l">
              <a:buNone/>
              <a:defRPr sz="3225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225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+16.51 pp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A6BE96-4408-4F33-AB17-F06186888160}"/>
              </a:ext>
            </a:extLst>
          </p:cNvPr>
          <p:cNvSpPr>
            <a:spLocks noGrp="1"/>
          </p:cNvSpPr>
          <p:nvPr/>
        </p:nvSpPr>
        <p:spPr>
          <a:xfrm>
            <a:off x="857250" y="44005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FT accuracy vs. GPT-5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6EA33F7-DB77-429A-99A1-EB4648B8849D}"/>
              </a:ext>
            </a:extLst>
          </p:cNvPr>
          <p:cNvSpPr>
            <a:spLocks noGrp="1"/>
          </p:cNvSpPr>
          <p:nvPr/>
        </p:nvSpPr>
        <p:spPr>
          <a:xfrm>
            <a:off x="3238500" y="3619500"/>
            <a:ext cx="2381250" cy="1428750"/>
          </a:xfrm>
          <a:prstGeom prst="roundRect">
            <a:avLst>
              <a:gd name="adj" fmla="val 5333"/>
            </a:avLst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D30B32-85E7-4FA7-9B60-EBBD23807B1A}"/>
              </a:ext>
            </a:extLst>
          </p:cNvPr>
          <p:cNvSpPr>
            <a:spLocks noGrp="1"/>
          </p:cNvSpPr>
          <p:nvPr/>
        </p:nvSpPr>
        <p:spPr>
          <a:xfrm>
            <a:off x="3429000" y="3752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98"/>
          </a:bodyPr>
          <a:lstStyle/>
          <a:p>
            <a:pPr algn="l">
              <a:buNone/>
              <a:defRPr sz="3225" b="0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225" b="0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63.70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DD37B1-60CA-4226-85C1-53AA03AAA6B5}"/>
              </a:ext>
            </a:extLst>
          </p:cNvPr>
          <p:cNvSpPr>
            <a:spLocks noGrp="1"/>
          </p:cNvSpPr>
          <p:nvPr/>
        </p:nvSpPr>
        <p:spPr>
          <a:xfrm>
            <a:off x="3429000" y="44005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GPT-5 judge score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8EAEE6-D820-4C8B-949F-E28AEBC2DBD2}"/>
              </a:ext>
            </a:extLst>
          </p:cNvPr>
          <p:cNvSpPr>
            <a:spLocks noGrp="1"/>
          </p:cNvSpPr>
          <p:nvPr/>
        </p:nvSpPr>
        <p:spPr>
          <a:xfrm>
            <a:off x="5810250" y="3619500"/>
            <a:ext cx="2381250" cy="1428750"/>
          </a:xfrm>
          <a:prstGeom prst="roundRect">
            <a:avLst>
              <a:gd name="adj" fmla="val 5333"/>
            </a:avLst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427938-3C65-4ED1-865A-F9C199C93F69}"/>
              </a:ext>
            </a:extLst>
          </p:cNvPr>
          <p:cNvSpPr>
            <a:spLocks noGrp="1"/>
          </p:cNvSpPr>
          <p:nvPr/>
        </p:nvSpPr>
        <p:spPr>
          <a:xfrm>
            <a:off x="6000750" y="3752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98"/>
          </a:bodyPr>
          <a:lstStyle/>
          <a:p>
            <a:pPr algn="l">
              <a:buNone/>
              <a:defRPr sz="3225" b="0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225" b="0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rPr>
              <a:t>58.25%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87FA8-0ACF-45B2-8643-526DC9D2B641}"/>
              </a:ext>
            </a:extLst>
          </p:cNvPr>
          <p:cNvSpPr>
            <a:spLocks noGrp="1"/>
          </p:cNvSpPr>
          <p:nvPr/>
        </p:nvSpPr>
        <p:spPr>
          <a:xfrm>
            <a:off x="6000750" y="44005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FT critical-error rate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FEA1EAE-EE54-4796-9532-8891DFD29BF8}"/>
              </a:ext>
            </a:extLst>
          </p:cNvPr>
          <p:cNvSpPr>
            <a:spLocks noGrp="1"/>
          </p:cNvSpPr>
          <p:nvPr/>
        </p:nvSpPr>
        <p:spPr>
          <a:xfrm>
            <a:off x="8382000" y="3619500"/>
            <a:ext cx="2857500" cy="1428750"/>
          </a:xfrm>
          <a:prstGeom prst="roundRect">
            <a:avLst>
              <a:gd name="adj" fmla="val 5333"/>
            </a:avLst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A703ED-074A-4A7A-ACB4-BE188F68A8CB}"/>
              </a:ext>
            </a:extLst>
          </p:cNvPr>
          <p:cNvSpPr>
            <a:spLocks noGrp="1"/>
          </p:cNvSpPr>
          <p:nvPr/>
        </p:nvSpPr>
        <p:spPr>
          <a:xfrm>
            <a:off x="8572500" y="3752850"/>
            <a:ext cx="2476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98"/>
          </a:bodyPr>
          <a:lstStyle/>
          <a:p>
            <a:pPr algn="l">
              <a:buNone/>
              <a:defRPr sz="3225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225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52 vs. 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6E39B3-385D-46A2-B39D-6F34E5CB5A2E}"/>
              </a:ext>
            </a:extLst>
          </p:cNvPr>
          <p:cNvSpPr>
            <a:spLocks noGrp="1"/>
          </p:cNvSpPr>
          <p:nvPr/>
        </p:nvSpPr>
        <p:spPr>
          <a:xfrm>
            <a:off x="8572500" y="44005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118"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GPT-5 BUY decisions vs. reference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7AF431-82B4-4CE5-81DE-975896938F64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1">
              <a:solidFill>
                <a:srgbClr val="FF6339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D89A0E-12F7-42D1-B683-730B6E55BD10}"/>
              </a:ext>
            </a:extLst>
          </p:cNvPr>
          <p:cNvSpPr>
            <a:spLocks noGrp="1"/>
          </p:cNvSpPr>
          <p:nvPr/>
        </p:nvSpPr>
        <p:spPr>
          <a:xfrm>
            <a:off x="2143125" y="5162550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l">
              <a:buNone/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350" b="1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pic>
        <p:nvPicPr>
          <p:cNvPr id="88" name="Picture 6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099378B-2217-4891-AB3C-7B45ABDEDB7C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FDA335-3999-46A9-A100-69F6311A19AF}"/>
              </a:ext>
            </a:extLst>
          </p:cNvPr>
          <p:cNvSpPr>
            <a:spLocks noGrp="1"/>
          </p:cNvSpPr>
          <p:nvPr/>
        </p:nvSpPr>
        <p:spPr>
          <a:xfrm>
            <a:off x="400050" y="342899"/>
            <a:ext cx="1619250" cy="22859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CASE STUDY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01BD72-783C-4258-A119-0A58AF6F26F3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871"/>
          </a:bodyPr>
          <a:lstStyle/>
          <a:p>
            <a:pPr algn="l">
              <a:buNone/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Specialization improves purchase decision</a:t>
            </a:r>
            <a:r>
              <a:rPr sz="2175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</a:t>
            </a:r>
            <a:endParaRPr sz="2175" b="0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E44CAA-9286-44BE-ACB8-EFA51EED9A3E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8860BB-30A5-4E13-9C6C-4EC24F3C257B}"/>
              </a:ext>
            </a:extLst>
          </p:cNvPr>
          <p:cNvSpPr>
            <a:spLocks noGrp="1"/>
          </p:cNvSpPr>
          <p:nvPr/>
        </p:nvSpPr>
        <p:spPr>
          <a:xfrm>
            <a:off x="2305050" y="723900"/>
            <a:ext cx="8572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103 Amazon product-review cases: predict BUY or NOT BUY, then score explanation quality with a blind judge.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D988AD-A404-4D0E-8D43-88460CDE1467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386F95-41CD-4CAE-AE69-4E6AD9C34CC1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3A85D42-108E-4C92-A9E0-2F609CFF8C2F}"/>
              </a:ext>
            </a:extLst>
          </p:cNvPr>
          <p:cNvSpPr>
            <a:spLocks noGrp="1"/>
          </p:cNvSpPr>
          <p:nvPr/>
        </p:nvSpPr>
        <p:spPr>
          <a:xfrm>
            <a:off x="590550" y="1123950"/>
            <a:ext cx="11010900" cy="990600"/>
          </a:xfrm>
          <a:prstGeom prst="roundRect">
            <a:avLst>
              <a:gd name="adj" fmla="val 7692"/>
            </a:avLst>
          </a:prstGeom>
          <a:solidFill>
            <a:srgbClr val="F7FAFD"/>
          </a:solidFill>
          <a:ln w="9525">
            <a:solidFill>
              <a:srgbClr val="3486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28EDE7-2916-4C31-B685-5373997A8D6F}"/>
              </a:ext>
            </a:extLst>
          </p:cNvPr>
          <p:cNvSpPr>
            <a:spLocks noGrp="1"/>
          </p:cNvSpPr>
          <p:nvPr/>
        </p:nvSpPr>
        <p:spPr>
          <a:xfrm>
            <a:off x="800100" y="1323975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654" lnSpcReduction="10000"/>
          </a:bodyPr>
          <a:lstStyle/>
          <a:p>
            <a:pPr algn="l">
              <a:buNone/>
              <a:defRPr sz="202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02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+16.51 pp decision accuracy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9C6F09-F199-4024-9C81-181D35311866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3810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8889" lnSpcReduction="10000"/>
          </a:bodyPr>
          <a:lstStyle/>
          <a:p>
            <a:pPr algn="l">
              <a:buNone/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for the fine-tune vs. GPT-5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A6498A-510D-4F78-B95D-A3CE9939F78B}"/>
              </a:ext>
            </a:extLst>
          </p:cNvPr>
          <p:cNvSpPr>
            <a:spLocks noGrp="1"/>
          </p:cNvSpPr>
          <p:nvPr/>
        </p:nvSpPr>
        <p:spPr>
          <a:xfrm>
            <a:off x="4857750" y="1323975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241"/>
          </a:bodyPr>
          <a:lstStyle/>
          <a:p>
            <a:pPr algn="l">
              <a:buNone/>
              <a:defRPr sz="172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72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GPT-5 leads judge score by 3.30 points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7AF826-A5D2-42B4-BEFD-778F0C33F4F1}"/>
              </a:ext>
            </a:extLst>
          </p:cNvPr>
          <p:cNvSpPr>
            <a:spLocks noGrp="1"/>
          </p:cNvSpPr>
          <p:nvPr/>
        </p:nvSpPr>
        <p:spPr>
          <a:xfrm>
            <a:off x="8858250" y="132397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857"/>
          </a:bodyPr>
          <a:lstStyle/>
          <a:p>
            <a:pPr algn="l">
              <a:buNone/>
              <a:defRPr sz="150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GPT-5 used 1.90× more tokens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1814AEB-3CE2-4BC1-9235-0F8C98F4CB59}"/>
              </a:ext>
            </a:extLst>
          </p:cNvPr>
          <p:cNvSpPr>
            <a:spLocks noGrp="1"/>
          </p:cNvSpPr>
          <p:nvPr/>
        </p:nvSpPr>
        <p:spPr>
          <a:xfrm>
            <a:off x="8858250" y="17145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8889" lnSpcReduction="10000"/>
          </a:bodyPr>
          <a:lstStyle/>
          <a:p>
            <a:pPr algn="l">
              <a:buNone/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469,953 vs. 247,281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BE734B-B163-4ECE-A478-B263E5E0C509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buNone/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Decision accuracy (%)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EA6A97C-C4B8-442B-95B7-89B99CF5A3DA}"/>
              </a:ext>
            </a:extLst>
          </p:cNvPr>
          <p:cNvSpPr>
            <a:spLocks noGrp="1"/>
          </p:cNvSpPr>
          <p:nvPr/>
        </p:nvSpPr>
        <p:spPr>
          <a:xfrm>
            <a:off x="6362700" y="2266950"/>
            <a:ext cx="523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buNone/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Blind judge score / 100</a:t>
            </a:r>
          </a:p>
        </p:txBody>
      </p:sp>
      <p:graphicFrame>
        <p:nvGraphicFramePr>
          <p:cNvPr id="104" name="Chart"/>
          <p:cNvGraphicFramePr/>
          <p:nvPr/>
        </p:nvGraphicFramePr>
        <p:xfrm>
          <a:off x="552450" y="2571750"/>
          <a:ext cx="5286375" cy="299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5" name="Chart"/>
          <p:cNvGraphicFramePr/>
          <p:nvPr/>
        </p:nvGraphicFramePr>
        <p:xfrm>
          <a:off x="6362700" y="2571750"/>
          <a:ext cx="5238750" cy="299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06" name="Picture 10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631" y="95250"/>
            <a:ext cx="12192000" cy="6858000"/>
          </a:xfrm>
          <a:prstGeom prst="rect">
            <a:avLst/>
          </a:prstGeom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D31113C-967B-4907-B241-C185BC5AD980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781F66D-46B6-4921-AD5C-72D1795B99A3}"/>
              </a:ext>
            </a:extLst>
          </p:cNvPr>
          <p:cNvSpPr>
            <a:spLocks noGrp="1"/>
          </p:cNvSpPr>
          <p:nvPr/>
        </p:nvSpPr>
        <p:spPr>
          <a:xfrm>
            <a:off x="400050" y="340569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22"/>
          </a:bodyPr>
          <a:lstStyle/>
          <a:p>
            <a:pPr algn="ctr"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CASE STUDY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4F86BAE-1294-43C4-9613-7CDEDB45933C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871"/>
          </a:bodyPr>
          <a:lstStyle/>
          <a:p>
            <a:pPr algn="l"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Specialization improves purchase decisions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858367B-CFE9-4E26-BA8A-86FBF8CFF166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09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AB4B558-1C97-48B3-B17D-6BEE879E5983}"/>
              </a:ext>
            </a:extLst>
          </p:cNvPr>
          <p:cNvSpPr>
            <a:spLocks noGrp="1"/>
          </p:cNvSpPr>
          <p:nvPr/>
        </p:nvSpPr>
        <p:spPr>
          <a:xfrm>
            <a:off x="2305050" y="593636"/>
            <a:ext cx="8667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103 Amazon product-review cases: predict </a:t>
            </a:r>
            <a:r>
              <a:rPr lang="es-419"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purchase recommedation</a:t>
            </a: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, then score explanation quality with a blind judge</a:t>
            </a:r>
            <a:r>
              <a:rPr lang="es-419"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 (GPT 6 Sol)</a:t>
            </a: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5DBFD8A-CAD1-4FB2-90CC-54C87FA94A62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F3D19CA-7E7C-464D-8560-ED1866587A68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CFE3083B-91DE-4330-AEBA-40F3DCA7A067}"/>
              </a:ext>
            </a:extLst>
          </p:cNvPr>
          <p:cNvSpPr>
            <a:spLocks noGrp="1"/>
          </p:cNvSpPr>
          <p:nvPr/>
        </p:nvSpPr>
        <p:spPr>
          <a:xfrm>
            <a:off x="590550" y="1123950"/>
            <a:ext cx="11010900" cy="990600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689C78B-6939-43EE-B1ED-C3061668B8BF}"/>
              </a:ext>
            </a:extLst>
          </p:cNvPr>
          <p:cNvSpPr>
            <a:spLocks noGrp="1"/>
          </p:cNvSpPr>
          <p:nvPr/>
        </p:nvSpPr>
        <p:spPr>
          <a:xfrm>
            <a:off x="676275" y="1190624"/>
            <a:ext cx="4095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309" lnSpcReduction="20000"/>
          </a:bodyPr>
          <a:lstStyle/>
          <a:p>
            <a:pPr algn="l">
              <a:defRPr sz="105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5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rPr>
              <a:t>FINE-TUNED MODEL VS. GPT MODEL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8252DCB-0EE9-4C76-A46C-6609D662A8B9}"/>
              </a:ext>
            </a:extLst>
          </p:cNvPr>
          <p:cNvSpPr>
            <a:spLocks noGrp="1"/>
          </p:cNvSpPr>
          <p:nvPr/>
        </p:nvSpPr>
        <p:spPr>
          <a:xfrm>
            <a:off x="838200" y="15525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22" lnSpcReduction="20000"/>
          </a:bodyPr>
          <a:lstStyle/>
          <a:p>
            <a:pPr algn="l"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+16.51 pp decision accuracy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708D3AA-2CD5-4C3A-97D8-EF9A9330426B}"/>
              </a:ext>
            </a:extLst>
          </p:cNvPr>
          <p:cNvSpPr>
            <a:spLocks noGrp="1"/>
          </p:cNvSpPr>
          <p:nvPr/>
        </p:nvSpPr>
        <p:spPr>
          <a:xfrm>
            <a:off x="3967164" y="1362074"/>
            <a:ext cx="19050" cy="552450"/>
          </a:xfrm>
          <a:prstGeom prst="rect">
            <a:avLst/>
          </a:prstGeom>
          <a:solidFill>
            <a:srgbClr val="C9D7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1EA676A-CC26-4BFE-9E73-FEF71C190C34}"/>
              </a:ext>
            </a:extLst>
          </p:cNvPr>
          <p:cNvSpPr>
            <a:spLocks noGrp="1"/>
          </p:cNvSpPr>
          <p:nvPr/>
        </p:nvSpPr>
        <p:spPr>
          <a:xfrm>
            <a:off x="4529139" y="1514475"/>
            <a:ext cx="37147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807"/>
          </a:bodyPr>
          <a:lstStyle/>
          <a:p>
            <a:pPr algn="l">
              <a:def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GPT-5 leads judge score by 3.30 points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934EA21-B7B6-4734-99D5-AF65B4C41280}"/>
              </a:ext>
            </a:extLst>
          </p:cNvPr>
          <p:cNvSpPr>
            <a:spLocks noGrp="1"/>
          </p:cNvSpPr>
          <p:nvPr/>
        </p:nvSpPr>
        <p:spPr>
          <a:xfrm>
            <a:off x="8415339" y="1359613"/>
            <a:ext cx="19050" cy="552450"/>
          </a:xfrm>
          <a:prstGeom prst="rect">
            <a:avLst/>
          </a:prstGeom>
          <a:solidFill>
            <a:srgbClr val="C9D7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8DE20C5-A33F-46DB-8AA7-2AC5906758EF}"/>
              </a:ext>
            </a:extLst>
          </p:cNvPr>
          <p:cNvSpPr>
            <a:spLocks noGrp="1"/>
          </p:cNvSpPr>
          <p:nvPr/>
        </p:nvSpPr>
        <p:spPr>
          <a:xfrm>
            <a:off x="8953501" y="1504950"/>
            <a:ext cx="2319338" cy="314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1.90× more GPT-5 tokens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0563DB3-7FE5-46DB-BB51-D5D3AF1A8A5C}"/>
              </a:ext>
            </a:extLst>
          </p:cNvPr>
          <p:cNvSpPr>
            <a:spLocks noGrp="1"/>
          </p:cNvSpPr>
          <p:nvPr/>
        </p:nvSpPr>
        <p:spPr>
          <a:xfrm>
            <a:off x="8951208" y="1796871"/>
            <a:ext cx="2000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905" lnSpcReduction="20000"/>
          </a:bodyPr>
          <a:lstStyle/>
          <a:p>
            <a:pPr algn="l">
              <a:defRPr sz="10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469,953 vs. 247,281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13C00BA-B4E6-469D-85F8-D475FCCBB8E9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Decision accuracy (%)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68BCA51-F99D-4F80-9991-645EC78A4181}"/>
              </a:ext>
            </a:extLst>
          </p:cNvPr>
          <p:cNvSpPr>
            <a:spLocks noGrp="1"/>
          </p:cNvSpPr>
          <p:nvPr/>
        </p:nvSpPr>
        <p:spPr>
          <a:xfrm>
            <a:off x="6362700" y="2266950"/>
            <a:ext cx="523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Blind judge score / 100</a:t>
            </a:r>
          </a:p>
        </p:txBody>
      </p:sp>
      <p:graphicFrame>
        <p:nvGraphicFramePr>
          <p:cNvPr id="124" name="Chart"/>
          <p:cNvGraphicFramePr/>
          <p:nvPr/>
        </p:nvGraphicFramePr>
        <p:xfrm>
          <a:off x="552450" y="2571750"/>
          <a:ext cx="5286375" cy="299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5" name="Chart"/>
          <p:cNvGraphicFramePr/>
          <p:nvPr/>
        </p:nvGraphicFramePr>
        <p:xfrm>
          <a:off x="6362700" y="2571750"/>
          <a:ext cx="5238750" cy="299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639444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94185FB-0990-47A8-832B-F2442F133DB6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3AE110-FF20-4604-BACF-835F344BD53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LESSONS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781E77-00BA-4BB5-808C-0FCA58233E57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Reliable specialization requires explicit controls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03F997-469A-4BB8-AD68-66E9A297A51C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BCC181-1F3C-4DC1-AE1F-B13E40C375E8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965468-F782-47B0-B78A-9922F053530C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C39520-D681-4E91-91CE-E31A1C154C99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10858500" cy="666750"/>
          </a:xfrm>
          <a:prstGeom prst="rect">
            <a:avLst/>
          </a:prstGeom>
          <a:solidFill>
            <a:srgbClr val="F7FA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B2B866-7BBB-460F-A0EA-A3E5141BAD76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7BC851-E8B9-4595-AFCB-553D32506FED}"/>
              </a:ext>
            </a:extLst>
          </p:cNvPr>
          <p:cNvSpPr>
            <a:spLocks noGrp="1"/>
          </p:cNvSpPr>
          <p:nvPr/>
        </p:nvSpPr>
        <p:spPr>
          <a:xfrm>
            <a:off x="1524000" y="136207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Task fit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D4DE28-AB95-4448-8039-C97978E1F2F6}"/>
              </a:ext>
            </a:extLst>
          </p:cNvPr>
          <p:cNvSpPr>
            <a:spLocks noGrp="1"/>
          </p:cNvSpPr>
          <p:nvPr/>
        </p:nvSpPr>
        <p:spPr>
          <a:xfrm>
            <a:off x="3905250" y="1362075"/>
            <a:ext cx="7143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Stable inputs, clear outputs and measurable success criteria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7B633B-D038-4D27-AB1D-7F949937817E}"/>
              </a:ext>
            </a:extLst>
          </p:cNvPr>
          <p:cNvSpPr>
            <a:spLocks noGrp="1"/>
          </p:cNvSpPr>
          <p:nvPr/>
        </p:nvSpPr>
        <p:spPr>
          <a:xfrm>
            <a:off x="666750" y="2066925"/>
            <a:ext cx="10858500" cy="666750"/>
          </a:xfrm>
          <a:prstGeom prst="rect">
            <a:avLst/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54EAA9-DEB8-4F07-B5D5-0CAABD2C2BA8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C6A6BC-85D8-43BA-96B0-96AD19C8C636}"/>
              </a:ext>
            </a:extLst>
          </p:cNvPr>
          <p:cNvSpPr>
            <a:spLocks noGrp="1"/>
          </p:cNvSpPr>
          <p:nvPr/>
        </p:nvSpPr>
        <p:spPr>
          <a:xfrm>
            <a:off x="1524000" y="222885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Data quality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AF7998-1471-42A4-9A82-9C067AC0148F}"/>
              </a:ext>
            </a:extLst>
          </p:cNvPr>
          <p:cNvSpPr>
            <a:spLocks noGrp="1"/>
          </p:cNvSpPr>
          <p:nvPr/>
        </p:nvSpPr>
        <p:spPr>
          <a:xfrm>
            <a:off x="3905250" y="2228850"/>
            <a:ext cx="7143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Representative examples, provenance and product-level split isolation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AFD783-AC3C-498A-9D32-CBC796B30AA4}"/>
              </a:ext>
            </a:extLst>
          </p:cNvPr>
          <p:cNvSpPr>
            <a:spLocks noGrp="1"/>
          </p:cNvSpPr>
          <p:nvPr/>
        </p:nvSpPr>
        <p:spPr>
          <a:xfrm>
            <a:off x="666750" y="2933700"/>
            <a:ext cx="10858500" cy="666750"/>
          </a:xfrm>
          <a:prstGeom prst="rect">
            <a:avLst/>
          </a:prstGeom>
          <a:solidFill>
            <a:srgbClr val="F7FA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CA1BED-9A76-41FA-A565-689D126411DC}"/>
              </a:ext>
            </a:extLst>
          </p:cNvPr>
          <p:cNvSpPr>
            <a:spLocks noGrp="1"/>
          </p:cNvSpPr>
          <p:nvPr/>
        </p:nvSpPr>
        <p:spPr>
          <a:xfrm>
            <a:off x="876300" y="31146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F91AB4-8920-43A7-BDF6-3BD81FED50C5}"/>
              </a:ext>
            </a:extLst>
          </p:cNvPr>
          <p:cNvSpPr>
            <a:spLocks noGrp="1"/>
          </p:cNvSpPr>
          <p:nvPr/>
        </p:nvSpPr>
        <p:spPr>
          <a:xfrm>
            <a:off x="1524000" y="309562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Safety gates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6FA1DB-6F1F-4466-8123-B1373ED8BBDA}"/>
              </a:ext>
            </a:extLst>
          </p:cNvPr>
          <p:cNvSpPr>
            <a:spLocks noGrp="1"/>
          </p:cNvSpPr>
          <p:nvPr/>
        </p:nvSpPr>
        <p:spPr>
          <a:xfrm>
            <a:off x="3905250" y="3095625"/>
            <a:ext cx="7143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Critical-error thresholds and deterministic checks before release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C5769C-334E-4F76-96CF-94F3F885AC34}"/>
              </a:ext>
            </a:extLst>
          </p:cNvPr>
          <p:cNvSpPr>
            <a:spLocks noGrp="1"/>
          </p:cNvSpPr>
          <p:nvPr/>
        </p:nvSpPr>
        <p:spPr>
          <a:xfrm>
            <a:off x="666750" y="3800475"/>
            <a:ext cx="10858500" cy="666750"/>
          </a:xfrm>
          <a:prstGeom prst="rect">
            <a:avLst/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30ABA0-D31A-45A9-B429-0ACD3A9ED10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F5EA0B-BA01-40E8-9721-34923C565472}"/>
              </a:ext>
            </a:extLst>
          </p:cNvPr>
          <p:cNvSpPr>
            <a:spLocks noGrp="1"/>
          </p:cNvSpPr>
          <p:nvPr/>
        </p:nvSpPr>
        <p:spPr>
          <a:xfrm>
            <a:off x="1524000" y="396240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Hybrid routing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A6552A-5B74-4ABD-A852-66993487A67E}"/>
              </a:ext>
            </a:extLst>
          </p:cNvPr>
          <p:cNvSpPr>
            <a:spLocks noGrp="1"/>
          </p:cNvSpPr>
          <p:nvPr/>
        </p:nvSpPr>
        <p:spPr>
          <a:xfrm>
            <a:off x="3905250" y="3962400"/>
            <a:ext cx="7143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Use the fine-tune for decisions and a generalist for explanation or review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757244-FE20-4C6A-9A89-AFC34C4610B7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10858500" cy="666750"/>
          </a:xfrm>
          <a:prstGeom prst="rect">
            <a:avLst/>
          </a:prstGeom>
          <a:solidFill>
            <a:srgbClr val="F7FA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125D94-FF9A-42EB-B4D2-36E1438946EF}"/>
              </a:ext>
            </a:extLst>
          </p:cNvPr>
          <p:cNvSpPr>
            <a:spLocks noGrp="1"/>
          </p:cNvSpPr>
          <p:nvPr/>
        </p:nvSpPr>
        <p:spPr>
          <a:xfrm>
            <a:off x="876300" y="48482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053500-53B4-4D4D-B055-36B693FBB559}"/>
              </a:ext>
            </a:extLst>
          </p:cNvPr>
          <p:cNvSpPr>
            <a:spLocks noGrp="1"/>
          </p:cNvSpPr>
          <p:nvPr/>
        </p:nvSpPr>
        <p:spPr>
          <a:xfrm>
            <a:off x="1524000" y="482917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Economic proof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DA8D53-1201-4207-B925-F9A8EC330176}"/>
              </a:ext>
            </a:extLst>
          </p:cNvPr>
          <p:cNvSpPr>
            <a:spLocks noGrp="1"/>
          </p:cNvSpPr>
          <p:nvPr/>
        </p:nvSpPr>
        <p:spPr>
          <a:xfrm>
            <a:off x="3905250" y="4829175"/>
            <a:ext cx="7143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Measure throughput, utilization, fallback and successful-request cost</a:t>
            </a:r>
          </a:p>
        </p:txBody>
      </p:sp>
    </p:spTree>
    <p:extLst>
      <p:ext uri="{BB962C8B-B14F-4D97-AF65-F5344CB8AC3E}">
        <p14:creationId xmlns:p14="http://schemas.microsoft.com/office/powerpoint/2010/main" val="132569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61925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D03590-F3D6-41BC-B72C-2E540F7695A7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7C05B8-A090-418A-8CAE-DDC6BF28A5E6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332C64-16F2-4B03-A384-FD83A9097191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Proposed reference architecture for selective direct inference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A5E1F8-1835-4467-8C7F-A801D3285BAF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F444D7-139D-44B4-A042-6A81D305A132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1E7BED-D989-49F4-8F22-1C57E5A3FEDB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0935AD-769F-44C8-9D86-6FA0B80F4EBA}"/>
              </a:ext>
            </a:extLst>
          </p:cNvPr>
          <p:cNvSpPr>
            <a:spLocks noGrp="1"/>
          </p:cNvSpPr>
          <p:nvPr/>
        </p:nvSpPr>
        <p:spPr>
          <a:xfrm>
            <a:off x="552450" y="9525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Existing customer platform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636459-74C9-4A1B-AFD3-E6492FDEA637}"/>
              </a:ext>
            </a:extLst>
          </p:cNvPr>
          <p:cNvSpPr>
            <a:spLocks noGrp="1"/>
          </p:cNvSpPr>
          <p:nvPr/>
        </p:nvSpPr>
        <p:spPr>
          <a:xfrm>
            <a:off x="3905250" y="95250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Customer-controlled integration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482883-8782-4562-BCDE-EA14CCE869F2}"/>
              </a:ext>
            </a:extLst>
          </p:cNvPr>
          <p:cNvSpPr>
            <a:spLocks noGrp="1"/>
          </p:cNvSpPr>
          <p:nvPr/>
        </p:nvSpPr>
        <p:spPr>
          <a:xfrm>
            <a:off x="7810500" y="9525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AI execution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183F95-B02B-4CEE-B425-20FBF86B6907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2762250" cy="3657600"/>
          </a:xfrm>
          <a:prstGeom prst="roundRect">
            <a:avLst>
              <a:gd name="adj" fmla="val 2759"/>
            </a:avLst>
          </a:prstGeom>
          <a:solidFill>
            <a:srgbClr val="F5F8FC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9C8B43-6C23-4E35-90D5-A7C4E1128AD7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2190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2D91BB-077E-40D7-AD87-062DC7255BC2}"/>
              </a:ext>
            </a:extLst>
          </p:cNvPr>
          <p:cNvSpPr>
            <a:spLocks noGrp="1"/>
          </p:cNvSpPr>
          <p:nvPr/>
        </p:nvSpPr>
        <p:spPr>
          <a:xfrm>
            <a:off x="876300" y="1838325"/>
            <a:ext cx="19240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ctr">
              <a:buNone/>
              <a:defRPr sz="12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Web and mobile apps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044733-A209-4A1F-BF1E-A55620190C5B}"/>
              </a:ext>
            </a:extLst>
          </p:cNvPr>
          <p:cNvSpPr>
            <a:spLocks noGrp="1"/>
          </p:cNvSpPr>
          <p:nvPr/>
        </p:nvSpPr>
        <p:spPr>
          <a:xfrm>
            <a:off x="742950" y="2438400"/>
            <a:ext cx="2190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A24A12-D535-4481-A898-5DEC875937CC}"/>
              </a:ext>
            </a:extLst>
          </p:cNvPr>
          <p:cNvSpPr>
            <a:spLocks noGrp="1"/>
          </p:cNvSpPr>
          <p:nvPr/>
        </p:nvSpPr>
        <p:spPr>
          <a:xfrm>
            <a:off x="876300" y="2581275"/>
            <a:ext cx="19240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ctr">
              <a:buNone/>
              <a:defRPr sz="12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Enterprise systems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9E5CEBC-C079-48AB-80F7-3185EC0F6635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90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D46A1E-B8C6-45C7-ACEB-8370995C91B9}"/>
              </a:ext>
            </a:extLst>
          </p:cNvPr>
          <p:cNvSpPr>
            <a:spLocks noGrp="1"/>
          </p:cNvSpPr>
          <p:nvPr/>
        </p:nvSpPr>
        <p:spPr>
          <a:xfrm>
            <a:off x="876300" y="3324225"/>
            <a:ext cx="19240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ctr">
              <a:buNone/>
              <a:defRPr sz="12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AI assistants and agents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04D732E-C23B-4F77-95C5-9894C262A883}"/>
              </a:ext>
            </a:extLst>
          </p:cNvPr>
          <p:cNvSpPr>
            <a:spLocks noGrp="1"/>
          </p:cNvSpPr>
          <p:nvPr/>
        </p:nvSpPr>
        <p:spPr>
          <a:xfrm>
            <a:off x="742950" y="3924300"/>
            <a:ext cx="2190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E3AAE9-B7E0-4CD8-8888-1FAE45FA6272}"/>
              </a:ext>
            </a:extLst>
          </p:cNvPr>
          <p:cNvSpPr>
            <a:spLocks noGrp="1"/>
          </p:cNvSpPr>
          <p:nvPr/>
        </p:nvSpPr>
        <p:spPr>
          <a:xfrm>
            <a:off x="876300" y="4067175"/>
            <a:ext cx="19240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ctr">
              <a:buNone/>
              <a:defRPr sz="12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Business APIs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062ECF8-F019-4314-A511-45E3E231711A}"/>
              </a:ext>
            </a:extLst>
          </p:cNvPr>
          <p:cNvSpPr>
            <a:spLocks noGrp="1"/>
          </p:cNvSpPr>
          <p:nvPr/>
        </p:nvSpPr>
        <p:spPr>
          <a:xfrm>
            <a:off x="3714750" y="1371600"/>
            <a:ext cx="3429000" cy="3657600"/>
          </a:xfrm>
          <a:prstGeom prst="roundRect">
            <a:avLst>
              <a:gd name="adj" fmla="val 2222"/>
            </a:avLst>
          </a:prstGeom>
          <a:solidFill>
            <a:srgbClr val="FFF8EE"/>
          </a:solidFill>
          <a:ln w="9525">
            <a:solidFill>
              <a:srgbClr val="FF633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94CDBB-C746-482A-8384-D269EAB4E342}"/>
              </a:ext>
            </a:extLst>
          </p:cNvPr>
          <p:cNvSpPr>
            <a:spLocks noGrp="1"/>
          </p:cNvSpPr>
          <p:nvPr/>
        </p:nvSpPr>
        <p:spPr>
          <a:xfrm>
            <a:off x="4048125" y="1714500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Backend and API integration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148359-1911-4789-B6D0-92230F0C750D}"/>
              </a:ext>
            </a:extLst>
          </p:cNvPr>
          <p:cNvSpPr>
            <a:spLocks noGrp="1"/>
          </p:cNvSpPr>
          <p:nvPr/>
        </p:nvSpPr>
        <p:spPr>
          <a:xfrm>
            <a:off x="4048125" y="2400300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Model routing and policy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B27819-55F0-4CE0-9CC3-D121885582F0}"/>
              </a:ext>
            </a:extLst>
          </p:cNvPr>
          <p:cNvSpPr>
            <a:spLocks noGrp="1"/>
          </p:cNvSpPr>
          <p:nvPr/>
        </p:nvSpPr>
        <p:spPr>
          <a:xfrm>
            <a:off x="4048125" y="3086100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Auth, secrets and observability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F257CD-3DF1-462E-8C98-E887951ECC26}"/>
              </a:ext>
            </a:extLst>
          </p:cNvPr>
          <p:cNvSpPr>
            <a:spLocks noGrp="1"/>
          </p:cNvSpPr>
          <p:nvPr/>
        </p:nvSpPr>
        <p:spPr>
          <a:xfrm>
            <a:off x="4048125" y="3771900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169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Logging, cost and usage metrics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FA00B8-78EF-4F03-8F15-23E561E0A2BC}"/>
              </a:ext>
            </a:extLst>
          </p:cNvPr>
          <p:cNvSpPr>
            <a:spLocks noGrp="1"/>
          </p:cNvSpPr>
          <p:nvPr/>
        </p:nvSpPr>
        <p:spPr>
          <a:xfrm>
            <a:off x="3238500" y="2762250"/>
            <a:ext cx="4381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93BC6B-36F2-4391-B10D-79CCE6CCC878}"/>
              </a:ext>
            </a:extLst>
          </p:cNvPr>
          <p:cNvSpPr>
            <a:spLocks noGrp="1"/>
          </p:cNvSpPr>
          <p:nvPr/>
        </p:nvSpPr>
        <p:spPr>
          <a:xfrm>
            <a:off x="7191375" y="2762250"/>
            <a:ext cx="4381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F9790C3-1868-4687-B14F-9CAF2C4E56AC}"/>
              </a:ext>
            </a:extLst>
          </p:cNvPr>
          <p:cNvSpPr>
            <a:spLocks noGrp="1"/>
          </p:cNvSpPr>
          <p:nvPr/>
        </p:nvSpPr>
        <p:spPr>
          <a:xfrm>
            <a:off x="7696200" y="1371600"/>
            <a:ext cx="4000500" cy="1714500"/>
          </a:xfrm>
          <a:prstGeom prst="roundRect">
            <a:avLst>
              <a:gd name="adj" fmla="val 4444"/>
            </a:avLst>
          </a:prstGeom>
          <a:solidFill>
            <a:srgbClr val="F0FAF7"/>
          </a:solidFill>
          <a:ln w="9525">
            <a:solidFill>
              <a:srgbClr val="159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4EB985-5B78-434A-8F68-63F55E34D1AE}"/>
              </a:ext>
            </a:extLst>
          </p:cNvPr>
          <p:cNvSpPr>
            <a:spLocks noGrp="1"/>
          </p:cNvSpPr>
          <p:nvPr/>
        </p:nvSpPr>
        <p:spPr>
          <a:xfrm>
            <a:off x="7981950" y="1581150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556" lnSpcReduction="10000"/>
          </a:bodyPr>
          <a:lstStyle/>
          <a:p>
            <a:pPr algn="l">
              <a:buNone/>
              <a:defRPr sz="112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PRIMARY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C10FF8-38C1-4D07-999A-1C9460C5E56B}"/>
              </a:ext>
            </a:extLst>
          </p:cNvPr>
          <p:cNvSpPr>
            <a:spLocks noGrp="1"/>
          </p:cNvSpPr>
          <p:nvPr/>
        </p:nvSpPr>
        <p:spPr>
          <a:xfrm>
            <a:off x="7981950" y="1971675"/>
            <a:ext cx="3333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083" lnSpcReduction="20000"/>
          </a:bodyPr>
          <a:lstStyle/>
          <a:p>
            <a:pPr algn="l">
              <a:buNone/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Fine-tuned Qwen on Fireworks AI direct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7D2B16-3F89-4553-B440-3E21A7705825}"/>
              </a:ext>
            </a:extLst>
          </p:cNvPr>
          <p:cNvSpPr>
            <a:spLocks noGrp="1"/>
          </p:cNvSpPr>
          <p:nvPr/>
        </p:nvSpPr>
        <p:spPr>
          <a:xfrm>
            <a:off x="7981950" y="262890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API endpoint with deployment-specific scaling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F25E307-405A-4232-8589-5A0265A7C347}"/>
              </a:ext>
            </a:extLst>
          </p:cNvPr>
          <p:cNvSpPr>
            <a:spLocks noGrp="1"/>
          </p:cNvSpPr>
          <p:nvPr/>
        </p:nvSpPr>
        <p:spPr>
          <a:xfrm>
            <a:off x="7696200" y="3314700"/>
            <a:ext cx="4000500" cy="1714500"/>
          </a:xfrm>
          <a:prstGeom prst="roundRect">
            <a:avLst>
              <a:gd name="adj" fmla="val 4444"/>
            </a:avLst>
          </a:prstGeom>
          <a:solidFill>
            <a:srgbClr val="F6F1FF"/>
          </a:solidFill>
          <a:ln w="9525">
            <a:solidFill>
              <a:srgbClr val="765A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A93EEA-C722-49FF-9018-52EF3934BFEB}"/>
              </a:ext>
            </a:extLst>
          </p:cNvPr>
          <p:cNvSpPr>
            <a:spLocks noGrp="1"/>
          </p:cNvSpPr>
          <p:nvPr/>
        </p:nvSpPr>
        <p:spPr>
          <a:xfrm>
            <a:off x="7981950" y="3524250"/>
            <a:ext cx="10477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556" lnSpcReduction="10000"/>
          </a:bodyPr>
          <a:lstStyle/>
          <a:p>
            <a:pPr algn="l">
              <a:buNone/>
              <a:defRPr sz="112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FALLBACK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1E26D0-D5AB-4378-8BAF-C39A20615356}"/>
              </a:ext>
            </a:extLst>
          </p:cNvPr>
          <p:cNvSpPr>
            <a:spLocks noGrp="1"/>
          </p:cNvSpPr>
          <p:nvPr/>
        </p:nvSpPr>
        <p:spPr>
          <a:xfrm>
            <a:off x="7981950" y="3914775"/>
            <a:ext cx="3333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083" lnSpcReduction="20000"/>
          </a:bodyPr>
          <a:lstStyle/>
          <a:p>
            <a:pPr algn="l">
              <a:buNone/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General-purpose LLM or human review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B8D5CB-B369-4BC1-A30A-1C4D863134CD}"/>
              </a:ext>
            </a:extLst>
          </p:cNvPr>
          <p:cNvSpPr>
            <a:spLocks noGrp="1"/>
          </p:cNvSpPr>
          <p:nvPr/>
        </p:nvSpPr>
        <p:spPr>
          <a:xfrm>
            <a:off x="7981950" y="457200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Triggered by uncertainty, policy or risk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01EEDF3-4E98-4D54-887E-4EBC1EE31AA8}"/>
              </a:ext>
            </a:extLst>
          </p:cNvPr>
          <p:cNvSpPr>
            <a:spLocks noGrp="1"/>
          </p:cNvSpPr>
          <p:nvPr/>
        </p:nvSpPr>
        <p:spPr>
          <a:xfrm>
            <a:off x="1143000" y="5334000"/>
            <a:ext cx="9906000" cy="514350"/>
          </a:xfrm>
          <a:prstGeom prst="roundRect">
            <a:avLst>
              <a:gd name="adj" fmla="val 14815"/>
            </a:avLst>
          </a:prstGeom>
          <a:solidFill>
            <a:srgbClr val="EAF3FF"/>
          </a:solidFill>
          <a:ln w="9525">
            <a:solidFill>
              <a:srgbClr val="3486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99175DC-D6D0-4A63-B791-8F8A43D24FEC}"/>
              </a:ext>
            </a:extLst>
          </p:cNvPr>
          <p:cNvSpPr>
            <a:spLocks noGrp="1"/>
          </p:cNvSpPr>
          <p:nvPr/>
        </p:nvSpPr>
        <p:spPr>
          <a:xfrm>
            <a:off x="1390650" y="548640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500" lnSpcReduction="10000"/>
          </a:bodyPr>
          <a:lstStyle/>
          <a:p>
            <a:pPr algn="l">
              <a:buNone/>
              <a:defRPr sz="12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Operational loop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2AD8C1-6508-4F57-BE5C-171F1C28A2C9}"/>
              </a:ext>
            </a:extLst>
          </p:cNvPr>
          <p:cNvSpPr>
            <a:spLocks noGrp="1"/>
          </p:cNvSpPr>
          <p:nvPr/>
        </p:nvSpPr>
        <p:spPr>
          <a:xfrm>
            <a:off x="2952750" y="5476875"/>
            <a:ext cx="7715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926" lnSpcReduction="20000"/>
          </a:bodyPr>
          <a:lstStyle/>
          <a:p>
            <a:pPr algn="ctr">
              <a:buNone/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Quality evaluation  |  errors  |  latency  |  cost per request  |  retraining</a:t>
            </a:r>
          </a:p>
        </p:txBody>
      </p:sp>
    </p:spTree>
    <p:extLst>
      <p:ext uri="{BB962C8B-B14F-4D97-AF65-F5344CB8AC3E}">
        <p14:creationId xmlns:p14="http://schemas.microsoft.com/office/powerpoint/2010/main" val="1296345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2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BDF439-3970-44B3-AAEF-1C21264B8DEB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602B96-64F5-4DA6-857E-45FF31EC021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9722" lnSpcReduction="10000"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COST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308CCE-9E68-40BD-85DD-5EC1821D8F30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Editable scenarios make utilization visible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1169C6-6735-4978-8E6C-3872301BE1DA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5E6733-D4EC-468F-AD90-0C48BCB7D97A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9BE5C6-B1F9-427C-B465-80DF6CCE9F01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61" name="Table 27"/>
          <p:cNvGraphicFramePr/>
          <p:nvPr/>
        </p:nvGraphicFramePr>
        <p:xfrm>
          <a:off x="514350" y="1066800"/>
          <a:ext cx="7239000" cy="2419352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48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Scenario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Active hours / month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Foundry ref. $80/h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Fireworks $8/h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Fireworks $13/h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Always on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720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$57,600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$5,760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$9,360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Business hours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176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$14,080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$1,408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$2,288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Intermittent, verified shutdown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80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$6,400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$640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$1,040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AD29D7-96CF-447A-AB48-B26D8175529B}"/>
              </a:ext>
            </a:extLst>
          </p:cNvPr>
          <p:cNvSpPr>
            <a:spLocks noGrp="1"/>
          </p:cNvSpPr>
          <p:nvPr/>
        </p:nvSpPr>
        <p:spPr>
          <a:xfrm>
            <a:off x="8096250" y="1066800"/>
            <a:ext cx="3429000" cy="2419350"/>
          </a:xfrm>
          <a:prstGeom prst="roundRect">
            <a:avLst>
              <a:gd name="adj" fmla="val 3150"/>
            </a:avLst>
          </a:prstGeom>
          <a:solidFill>
            <a:srgbClr val="FFF8EE"/>
          </a:solidFill>
          <a:ln w="9525">
            <a:solidFill>
              <a:srgbClr val="FF633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63F11F-B348-49A8-BE2C-FD559813CF9C}"/>
              </a:ext>
            </a:extLst>
          </p:cNvPr>
          <p:cNvSpPr>
            <a:spLocks noGrp="1"/>
          </p:cNvSpPr>
          <p:nvPr/>
        </p:nvSpPr>
        <p:spPr>
          <a:xfrm>
            <a:off x="8334375" y="12954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Assumptions to replace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639B24-507C-4E0F-8369-2823A14D2D8A}"/>
              </a:ext>
            </a:extLst>
          </p:cNvPr>
          <p:cNvSpPr>
            <a:spLocks noGrp="1"/>
          </p:cNvSpPr>
          <p:nvPr/>
        </p:nvSpPr>
        <p:spPr>
          <a:xfrm>
            <a:off x="8334375" y="1790700"/>
            <a:ext cx="2667000" cy="1447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Requests per month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Input and output tokens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Concurrent requests and TPS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Fallback percentage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Fine-tuning and storage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SLA and operational expense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5C9F7A-D64B-4ACC-8CB1-0F801B03A6E8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0000"/>
          </a:bodyPr>
          <a:lstStyle/>
          <a:p>
            <a:pPr algn="l">
              <a:buNone/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500" b="1">
              <a:solidFill>
                <a:srgbClr val="15936F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76A112-7DD3-4B02-82EE-AD15FDEF6E15}"/>
              </a:ext>
            </a:extLst>
          </p:cNvPr>
          <p:cNvSpPr>
            <a:spLocks noGrp="1"/>
          </p:cNvSpPr>
          <p:nvPr/>
        </p:nvSpPr>
        <p:spPr>
          <a:xfrm>
            <a:off x="1009650" y="4533900"/>
            <a:ext cx="4381500" cy="5143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8468"/>
          </a:bodyPr>
          <a:lstStyle/>
          <a:p>
            <a:pPr algn="ctr">
              <a:buNone/>
              <a:defRPr sz="202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2000" b="1">
              <a:solidFill>
                <a:srgbClr val="15936F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5DC17D-631D-4496-9EC2-3C65F7ADABDF}"/>
              </a:ext>
            </a:extLst>
          </p:cNvPr>
          <p:cNvSpPr>
            <a:spLocks noGrp="1"/>
          </p:cNvSpPr>
          <p:nvPr/>
        </p:nvSpPr>
        <p:spPr>
          <a:xfrm>
            <a:off x="1009650" y="5143500"/>
            <a:ext cx="4381500" cy="2095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1309" lnSpcReduction="20000"/>
          </a:bodyPr>
          <a:lstStyle/>
          <a:p>
            <a:pPr algn="ctr">
              <a:buNone/>
              <a:defRPr sz="10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050" b="0">
              <a:solidFill>
                <a:srgbClr val="667085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004131-861B-4281-B20C-3EE7020A53D8}"/>
              </a:ext>
            </a:extLst>
          </p:cNvPr>
          <p:cNvSpPr>
            <a:spLocks noGrp="1"/>
          </p:cNvSpPr>
          <p:nvPr/>
        </p:nvSpPr>
        <p:spPr>
          <a:xfrm>
            <a:off x="6381750" y="41338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350" b="1">
              <a:solidFill>
                <a:srgbClr val="3486F6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C60538-A327-4359-9FC7-6FD670A151EF}"/>
              </a:ext>
            </a:extLst>
          </p:cNvPr>
          <p:cNvSpPr>
            <a:spLocks noGrp="1"/>
          </p:cNvSpPr>
          <p:nvPr/>
        </p:nvSpPr>
        <p:spPr>
          <a:xfrm>
            <a:off x="6381750" y="4552950"/>
            <a:ext cx="4381500" cy="3619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7654" lnSpcReduction="10000"/>
          </a:bodyPr>
          <a:lstStyle/>
          <a:p>
            <a:pPr algn="l">
              <a:buNone/>
              <a:defRPr sz="20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2000" b="1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A0210B-EA74-4433-AF52-A2E5814ABEB0}"/>
              </a:ext>
            </a:extLst>
          </p:cNvPr>
          <p:cNvSpPr>
            <a:spLocks noGrp="1"/>
          </p:cNvSpPr>
          <p:nvPr/>
        </p:nvSpPr>
        <p:spPr>
          <a:xfrm>
            <a:off x="6381750" y="5048250"/>
            <a:ext cx="438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5833"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00" b="0">
              <a:solidFill>
                <a:srgbClr val="667085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DC965E-5070-4527-BE6D-603D805FF312}"/>
              </a:ext>
            </a:extLst>
          </p:cNvPr>
          <p:cNvSpPr>
            <a:spLocks noGrp="1"/>
          </p:cNvSpPr>
          <p:nvPr/>
        </p:nvSpPr>
        <p:spPr>
          <a:xfrm>
            <a:off x="742950" y="575310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4957"/>
          </a:bodyPr>
          <a:lstStyle/>
          <a:p>
            <a:pPr algn="ctr">
              <a:buNone/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100" b="0">
              <a:solidFill>
                <a:srgbClr val="667085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pic>
        <p:nvPicPr>
          <p:cNvPr id="72" name="Picture 5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34E1CDC-CDE2-4897-A78F-CC6DD24E3E15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61EA33-BD42-45AF-8FF4-122D6A7F75A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COST MODEL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4168FD-550D-43EC-BD19-5744E42DA953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Editable scenarios make utilization and GPT-5 usage visible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563885-2A5F-4F91-B65B-8F0C1513FB1B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52787C-E5AD-4D84-A93E-9B53A9DF2987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748D4E-4442-4F50-B134-985BE06A5B91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79" name="Table 62"/>
          <p:cNvGraphicFramePr/>
          <p:nvPr/>
        </p:nvGraphicFramePr>
        <p:xfrm>
          <a:off x="400050" y="1104900"/>
          <a:ext cx="9696450" cy="2609852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2463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Scenario</a:t>
                      </a:r>
                    </a:p>
                  </a:txBody>
                  <a:tcPr marL="66675" marR="47625" marT="47625" marB="28575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Active hours / month</a:t>
                      </a:r>
                    </a:p>
                  </a:txBody>
                  <a:tcPr marL="66675" marR="47625" marT="47625" marB="28575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Foundry ref. $80/h</a:t>
                      </a:r>
                    </a:p>
                  </a:txBody>
                  <a:tcPr marL="66675" marR="47625" marT="47625" marB="28575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Fireworks $8/h</a:t>
                      </a:r>
                    </a:p>
                  </a:txBody>
                  <a:tcPr marL="66675" marR="47625" marT="47625" marB="28575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Fireworks $13/h</a:t>
                      </a:r>
                    </a:p>
                  </a:txBody>
                  <a:tcPr marL="66675" marR="47625" marT="47625" marB="28575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Foundry GPT-5 estimated consumption</a:t>
                      </a:r>
                    </a:p>
                  </a:txBody>
                  <a:tcPr marL="66675" marR="47625" marT="47625" marB="28575">
                    <a:solidFill>
                      <a:srgbClr val="70A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46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Always on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720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$57,600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$5,760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$9,360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4.56B tokens / month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46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Business hours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176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$14,080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$1,408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$2,288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1.11B tokens / month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46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Intermittent, verified shutdown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80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$6,400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$640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$1,040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365M tokens / month</a:t>
                      </a:r>
                    </a:p>
                  </a:txBody>
                  <a:tcPr marL="66675" marR="47625" marT="38100" marB="28575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1914D51-CE4A-4E93-A77E-3F5359BF4300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5048250" cy="1562100"/>
          </a:xfrm>
          <a:prstGeom prst="roundRect">
            <a:avLst>
              <a:gd name="adj" fmla="val 4878"/>
            </a:avLst>
          </a:prstGeom>
          <a:solidFill>
            <a:srgbClr val="FFF8EE"/>
          </a:solidFill>
          <a:ln w="9525">
            <a:solidFill>
              <a:srgbClr val="FF633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27F894-5004-4D67-BE89-9487F2473336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GPT-5 estimate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BC78A7-25EF-494A-BF4C-3E8A9D6DB27F}"/>
              </a:ext>
            </a:extLst>
          </p:cNvPr>
          <p:cNvSpPr>
            <a:spLocks noGrp="1"/>
          </p:cNvSpPr>
          <p:nvPr/>
        </p:nvSpPr>
        <p:spPr>
          <a:xfrm>
            <a:off x="838200" y="4648200"/>
            <a:ext cx="45148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Extrapolates the observed Amazon benchmark rate: 469,953 tokens across 103 requests. Assumes 1,000 requests/hour and the same prompt/output mix.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CD92091-C219-45E2-8E35-0C7E47F73358}"/>
              </a:ext>
            </a:extLst>
          </p:cNvPr>
          <p:cNvSpPr>
            <a:spLocks noGrp="1"/>
          </p:cNvSpPr>
          <p:nvPr/>
        </p:nvSpPr>
        <p:spPr>
          <a:xfrm>
            <a:off x="5962650" y="4057650"/>
            <a:ext cx="5619750" cy="1562100"/>
          </a:xfrm>
          <a:prstGeom prst="roundRect">
            <a:avLst>
              <a:gd name="adj" fmla="val 4878"/>
            </a:avLst>
          </a:prstGeom>
          <a:solidFill>
            <a:srgbClr val="F0FAF7"/>
          </a:solidFill>
          <a:ln w="9525">
            <a:solidFill>
              <a:srgbClr val="159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944FD7-10FD-4ADA-AFF0-5EDC74138E76}"/>
              </a:ext>
            </a:extLst>
          </p:cNvPr>
          <p:cNvSpPr>
            <a:spLocks noGrp="1"/>
          </p:cNvSpPr>
          <p:nvPr/>
        </p:nvSpPr>
        <p:spPr>
          <a:xfrm>
            <a:off x="6191250" y="426720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Convert consumption into cost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E911100-9143-4C3E-8E61-A6764F34D187}"/>
              </a:ext>
            </a:extLst>
          </p:cNvPr>
          <p:cNvSpPr>
            <a:spLocks noGrp="1"/>
          </p:cNvSpPr>
          <p:nvPr/>
        </p:nvSpPr>
        <p:spPr>
          <a:xfrm>
            <a:off x="6191250" y="4648200"/>
            <a:ext cx="50482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Monthly cost = input tokens × input rate + output tokens × output rate. Replace the illustrative traffic and the public token rates with the customer's Foundry contract.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F36556A-C035-4EA8-8FCF-1BBFCB544EFF}"/>
              </a:ext>
            </a:extLst>
          </p:cNvPr>
          <p:cNvSpPr>
            <a:spLocks noGrp="1"/>
          </p:cNvSpPr>
          <p:nvPr/>
        </p:nvSpPr>
        <p:spPr>
          <a:xfrm>
            <a:off x="762000" y="57721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Illustrative planning inputs only — not a quote. GPU-hour and token-billed scenarios use different units and should be compared per successful request.</a:t>
            </a:r>
          </a:p>
        </p:txBody>
      </p:sp>
      <p:pic>
        <p:nvPicPr>
          <p:cNvPr id="87" name="Picture 8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57150"/>
            <a:ext cx="12192000" cy="6858000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F46CA959-78C6-4464-986D-1AD790FDA537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6AFBF4-72C4-43DA-A7AB-19F4316DC85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22"/>
          </a:bodyPr>
          <a:lstStyle/>
          <a:p>
            <a:pPr algn="ctr"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COST MODEL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A6C768A-32DD-440B-BAE9-6528606A8881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Monthly deployment scenarios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AA40C80-6E6F-4A4C-9CA8-BB55609E7109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49497B9-ACB5-42C3-8226-E112257C1C27}"/>
              </a:ext>
            </a:extLst>
          </p:cNvPr>
          <p:cNvSpPr>
            <a:spLocks noGrp="1"/>
          </p:cNvSpPr>
          <p:nvPr/>
        </p:nvSpPr>
        <p:spPr>
          <a:xfrm>
            <a:off x="2305050" y="723900"/>
            <a:ext cx="8667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GPU-hour estimates alongside GPT-5 Global Standard token costs.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6A4811-7C49-4956-A581-9618F0DE9E19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0DA7C9A-460D-4E0E-919D-66E5B9020D30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95" name="Table 94"/>
          <p:cNvGraphicFramePr/>
          <p:nvPr>
            <p:extLst>
              <p:ext uri="{D42A27DB-BD31-4B8C-83A1-F6EECF244321}">
                <p14:modId xmlns:p14="http://schemas.microsoft.com/office/powerpoint/2010/main" val="3765910439"/>
              </p:ext>
            </p:extLst>
          </p:nvPr>
        </p:nvGraphicFramePr>
        <p:xfrm>
          <a:off x="876300" y="1411310"/>
          <a:ext cx="9963150" cy="2206580"/>
        </p:xfrm>
        <a:graphic>
          <a:graphicData uri="http://schemas.openxmlformats.org/drawingml/2006/table">
            <a:tbl>
              <a:tblPr/>
              <a:tblGrid>
                <a:gridCol w="19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232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Scenario</a:t>
                      </a:r>
                    </a:p>
                  </a:txBody>
                  <a:tcPr marL="85725" marR="66675" marT="66675" marB="47625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Active hours / month</a:t>
                      </a:r>
                    </a:p>
                  </a:txBody>
                  <a:tcPr marL="85725" marR="66675" marT="66675" marB="47625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Foundry ref. $80/h</a:t>
                      </a:r>
                    </a:p>
                  </a:txBody>
                  <a:tcPr marL="85725" marR="66675" marT="66675" marB="47625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Fireworks $8/h</a:t>
                      </a:r>
                    </a:p>
                  </a:txBody>
                  <a:tcPr marL="85725" marR="66675" marT="66675" marB="47625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Fireworks $13/h</a:t>
                      </a:r>
                    </a:p>
                  </a:txBody>
                  <a:tcPr marL="85725" marR="66675" marT="66675" marB="47625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Foundry GPT-5 estimated monthly cost</a:t>
                      </a:r>
                    </a:p>
                  </a:txBody>
                  <a:tcPr marL="85725" marR="66675" marT="66675" marB="47625">
                    <a:solidFill>
                      <a:srgbClr val="70A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54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Always on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720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$57,600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$5,760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$9,360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$19,170 (3.29B tokens)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67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Business hours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176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$14,080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$1,408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$2,288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$4,686 (803M tokens)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03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Intermittent, verified shutdown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80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$6,400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$640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$1,040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$2,130 (365M tokens)</a:t>
                      </a:r>
                    </a:p>
                  </a:txBody>
                  <a:tcPr marL="85725" marR="66675" marT="66675" marB="47625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9961F4B0-ACF3-449B-BC3F-AC2743AEA28A}"/>
              </a:ext>
            </a:extLst>
          </p:cNvPr>
          <p:cNvSpPr>
            <a:spLocks noGrp="1"/>
          </p:cNvSpPr>
          <p:nvPr/>
        </p:nvSpPr>
        <p:spPr>
          <a:xfrm>
            <a:off x="647700" y="5010150"/>
            <a:ext cx="10896600" cy="723900"/>
          </a:xfrm>
          <a:prstGeom prst="roundRect">
            <a:avLst>
              <a:gd name="adj" fmla="val 10526"/>
            </a:avLst>
          </a:prstGeom>
          <a:solidFill>
            <a:srgbClr val="F5F8FC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1B048E-0604-429C-BE16-A37A76EDAFEB}"/>
              </a:ext>
            </a:extLst>
          </p:cNvPr>
          <p:cNvSpPr>
            <a:spLocks noGrp="1"/>
          </p:cNvSpPr>
          <p:nvPr/>
        </p:nvSpPr>
        <p:spPr>
          <a:xfrm>
            <a:off x="876300" y="51911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000"/>
          </a:bodyPr>
          <a:lstStyle/>
          <a:p>
            <a:pPr algn="l">
              <a:defRPr sz="1125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rPr>
              <a:t>Pricing basis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9A38E82-9A65-400A-8F53-F18D75FA8D3D}"/>
              </a:ext>
            </a:extLst>
          </p:cNvPr>
          <p:cNvSpPr>
            <a:spLocks noGrp="1"/>
          </p:cNvSpPr>
          <p:nvPr/>
        </p:nvSpPr>
        <p:spPr>
          <a:xfrm>
            <a:off x="2133600" y="5143500"/>
            <a:ext cx="9048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GPT-5 Global Standard: $1.25 per 1M input tokens and $10 per 1M output tokens. Assumes 1,000 requests/hour and the input/output mix measured in the Amazon</a:t>
            </a:r>
            <a:r>
              <a:rPr lang="es-419"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 Reviews use case</a:t>
            </a: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 benchmark.</a:t>
            </a:r>
          </a:p>
        </p:txBody>
      </p:sp>
    </p:spTree>
    <p:extLst>
      <p:ext uri="{BB962C8B-B14F-4D97-AF65-F5344CB8AC3E}">
        <p14:creationId xmlns:p14="http://schemas.microsoft.com/office/powerpoint/2010/main" val="2082142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2F2047-C651-40E1-8B43-032331ED7A7E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C13E56-C844-482B-AD4B-1202694B3094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OFFERING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02DFCD-DCDA-40F2-B753-C5290926B791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Southworks Specialized AI Optimization Services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7A9FCB-A657-48AF-912D-87DD0FB5C6A9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E15793-EABE-422C-9602-EF6552472164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BB57BA-8340-4318-B0B1-234E26D453BA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337B84-6D85-427C-BC13-DD92E4C8120C}"/>
              </a:ext>
            </a:extLst>
          </p:cNvPr>
          <p:cNvSpPr>
            <a:spLocks noGrp="1"/>
          </p:cNvSpPr>
          <p:nvPr/>
        </p:nvSpPr>
        <p:spPr>
          <a:xfrm>
            <a:off x="590550" y="1143000"/>
            <a:ext cx="52959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6482F7-672D-493D-B501-FB7F43813548}"/>
              </a:ext>
            </a:extLst>
          </p:cNvPr>
          <p:cNvSpPr>
            <a:spLocks noGrp="1"/>
          </p:cNvSpPr>
          <p:nvPr/>
        </p:nvSpPr>
        <p:spPr>
          <a:xfrm>
            <a:off x="819150" y="133350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3E936A-91DF-4457-B32B-C780E1194D70}"/>
              </a:ext>
            </a:extLst>
          </p:cNvPr>
          <p:cNvSpPr>
            <a:spLocks noGrp="1"/>
          </p:cNvSpPr>
          <p:nvPr/>
        </p:nvSpPr>
        <p:spPr>
          <a:xfrm>
            <a:off x="1447800" y="131445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AI cost and workload assessment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FFD731-B249-4566-A08B-51D000921F67}"/>
              </a:ext>
            </a:extLst>
          </p:cNvPr>
          <p:cNvSpPr>
            <a:spLocks noGrp="1"/>
          </p:cNvSpPr>
          <p:nvPr/>
        </p:nvSpPr>
        <p:spPr>
          <a:xfrm>
            <a:off x="1447800" y="177165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Find stable, expensive tasks suited to specialization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25332BE-451C-4559-A9EF-41AD3B34CD0E}"/>
              </a:ext>
            </a:extLst>
          </p:cNvPr>
          <p:cNvSpPr>
            <a:spLocks noGrp="1"/>
          </p:cNvSpPr>
          <p:nvPr/>
        </p:nvSpPr>
        <p:spPr>
          <a:xfrm>
            <a:off x="6324600" y="1143000"/>
            <a:ext cx="52959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44B1CA-BAE6-4CA0-835A-0AFE4AFFE18F}"/>
              </a:ext>
            </a:extLst>
          </p:cNvPr>
          <p:cNvSpPr>
            <a:spLocks noGrp="1"/>
          </p:cNvSpPr>
          <p:nvPr/>
        </p:nvSpPr>
        <p:spPr>
          <a:xfrm>
            <a:off x="6553200" y="133350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F3D22E-2F78-4AD2-9A5B-DA409EF81397}"/>
              </a:ext>
            </a:extLst>
          </p:cNvPr>
          <p:cNvSpPr>
            <a:spLocks noGrp="1"/>
          </p:cNvSpPr>
          <p:nvPr/>
        </p:nvSpPr>
        <p:spPr>
          <a:xfrm>
            <a:off x="7181850" y="131445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Data preparation and fine-tuning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C5079F-943E-482B-B341-F26ED786B0D5}"/>
              </a:ext>
            </a:extLst>
          </p:cNvPr>
          <p:cNvSpPr>
            <a:spLocks noGrp="1"/>
          </p:cNvSpPr>
          <p:nvPr/>
        </p:nvSpPr>
        <p:spPr>
          <a:xfrm>
            <a:off x="7181850" y="177165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Build validated datasets and train compact models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C68B8C-1E0E-4440-990C-0C3429E945F0}"/>
              </a:ext>
            </a:extLst>
          </p:cNvPr>
          <p:cNvSpPr>
            <a:spLocks noGrp="1"/>
          </p:cNvSpPr>
          <p:nvPr/>
        </p:nvSpPr>
        <p:spPr>
          <a:xfrm>
            <a:off x="590550" y="2724150"/>
            <a:ext cx="52959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08C8C9-7A21-43AD-BDC5-BCBB085E872F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6840A0-9195-43CA-8DAE-F424B9A8D6AF}"/>
              </a:ext>
            </a:extLst>
          </p:cNvPr>
          <p:cNvSpPr>
            <a:spLocks noGrp="1"/>
          </p:cNvSpPr>
          <p:nvPr/>
        </p:nvSpPr>
        <p:spPr>
          <a:xfrm>
            <a:off x="1447800" y="289560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Quality and performance benchmarking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8A3AF0-BB3C-4A23-AF0A-1FBB52E68A6A}"/>
              </a:ext>
            </a:extLst>
          </p:cNvPr>
          <p:cNvSpPr>
            <a:spLocks noGrp="1"/>
          </p:cNvSpPr>
          <p:nvPr/>
        </p:nvSpPr>
        <p:spPr>
          <a:xfrm>
            <a:off x="1447800" y="335280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Compare quality, errors, latency and throughput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B99D8B9-2482-4163-AAB3-62FF5A7C96A0}"/>
              </a:ext>
            </a:extLst>
          </p:cNvPr>
          <p:cNvSpPr>
            <a:spLocks noGrp="1"/>
          </p:cNvSpPr>
          <p:nvPr/>
        </p:nvSpPr>
        <p:spPr>
          <a:xfrm>
            <a:off x="6324600" y="2724150"/>
            <a:ext cx="52959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0ACEC4-06B7-464F-80E0-F5FDD50A6D14}"/>
              </a:ext>
            </a:extLst>
          </p:cNvPr>
          <p:cNvSpPr>
            <a:spLocks noGrp="1"/>
          </p:cNvSpPr>
          <p:nvPr/>
        </p:nvSpPr>
        <p:spPr>
          <a:xfrm>
            <a:off x="6553200" y="29146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6CB29-6AAC-45D2-BD2E-22A0B2417746}"/>
              </a:ext>
            </a:extLst>
          </p:cNvPr>
          <p:cNvSpPr>
            <a:spLocks noGrp="1"/>
          </p:cNvSpPr>
          <p:nvPr/>
        </p:nvSpPr>
        <p:spPr>
          <a:xfrm>
            <a:off x="7181850" y="289560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Fireworks deployment and integration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D10F06-C15B-4544-AFAC-DA94E4F78EC1}"/>
              </a:ext>
            </a:extLst>
          </p:cNvPr>
          <p:cNvSpPr>
            <a:spLocks noGrp="1"/>
          </p:cNvSpPr>
          <p:nvPr/>
        </p:nvSpPr>
        <p:spPr>
          <a:xfrm>
            <a:off x="7181850" y="335280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Connect direct endpoints to existing applications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1DDEC4F-005B-43BA-9163-87D18D8FADD9}"/>
              </a:ext>
            </a:extLst>
          </p:cNvPr>
          <p:cNvSpPr>
            <a:spLocks noGrp="1"/>
          </p:cNvSpPr>
          <p:nvPr/>
        </p:nvSpPr>
        <p:spPr>
          <a:xfrm>
            <a:off x="590550" y="4305300"/>
            <a:ext cx="52959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A7A200-F595-43DF-BA98-2189AC601DA0}"/>
              </a:ext>
            </a:extLst>
          </p:cNvPr>
          <p:cNvSpPr>
            <a:spLocks noGrp="1"/>
          </p:cNvSpPr>
          <p:nvPr/>
        </p:nvSpPr>
        <p:spPr>
          <a:xfrm>
            <a:off x="819150" y="449580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60F6EC-02B1-484F-B1B4-FB94EBBAC57D}"/>
              </a:ext>
            </a:extLst>
          </p:cNvPr>
          <p:cNvSpPr>
            <a:spLocks noGrp="1"/>
          </p:cNvSpPr>
          <p:nvPr/>
        </p:nvSpPr>
        <p:spPr>
          <a:xfrm>
            <a:off x="1447800" y="447675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AI FinOps optimization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B63B72-B3BC-4341-8F9B-B3098A0957DE}"/>
              </a:ext>
            </a:extLst>
          </p:cNvPr>
          <p:cNvSpPr>
            <a:spLocks noGrp="1"/>
          </p:cNvSpPr>
          <p:nvPr/>
        </p:nvSpPr>
        <p:spPr>
          <a:xfrm>
            <a:off x="1447800" y="493395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Improve utilization, active hours and fallback economics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06BFD09-F692-4BD4-81D4-A09422C1D9A6}"/>
              </a:ext>
            </a:extLst>
          </p:cNvPr>
          <p:cNvSpPr>
            <a:spLocks noGrp="1"/>
          </p:cNvSpPr>
          <p:nvPr/>
        </p:nvSpPr>
        <p:spPr>
          <a:xfrm>
            <a:off x="6324600" y="4305300"/>
            <a:ext cx="52959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9F80D-E471-41F2-92D2-FDBA059BE778}"/>
              </a:ext>
            </a:extLst>
          </p:cNvPr>
          <p:cNvSpPr>
            <a:spLocks noGrp="1"/>
          </p:cNvSpPr>
          <p:nvPr/>
        </p:nvSpPr>
        <p:spPr>
          <a:xfrm>
            <a:off x="6553200" y="449580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06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6253E7-91B1-491A-A05D-343E1B11C9F8}"/>
              </a:ext>
            </a:extLst>
          </p:cNvPr>
          <p:cNvSpPr>
            <a:spLocks noGrp="1"/>
          </p:cNvSpPr>
          <p:nvPr/>
        </p:nvSpPr>
        <p:spPr>
          <a:xfrm>
            <a:off x="7181850" y="447675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Production engineering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3A6832-1A6D-483C-AAE3-F1CAE744DC1B}"/>
              </a:ext>
            </a:extLst>
          </p:cNvPr>
          <p:cNvSpPr>
            <a:spLocks noGrp="1"/>
          </p:cNvSpPr>
          <p:nvPr/>
        </p:nvSpPr>
        <p:spPr>
          <a:xfrm>
            <a:off x="7181850" y="493395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Add reliability, security, monitoring and model updates</a:t>
            </a:r>
          </a:p>
        </p:txBody>
      </p:sp>
    </p:spTree>
    <p:extLst>
      <p:ext uri="{BB962C8B-B14F-4D97-AF65-F5344CB8AC3E}">
        <p14:creationId xmlns:p14="http://schemas.microsoft.com/office/powerpoint/2010/main" val="565364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F46518F-5E7A-498C-8824-F11CC62D0983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BF896A-D61D-498B-A17B-57A2C9560F8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PARTNERSHIP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5E180C-30CD-4A56-8C49-42F9E6146767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Southworks can accelerate Fireworks enterprise adoption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D845BD-7E89-40F8-93A4-0EEC7931C120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2CD18E-096F-4BFB-82A4-4DE47B8611CF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CCE8BA-1D90-45F4-A2FE-BD93C7264DEE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C2AA6A-2087-45B0-9BA8-4EB03C918416}"/>
              </a:ext>
            </a:extLst>
          </p:cNvPr>
          <p:cNvSpPr>
            <a:spLocks noGrp="1"/>
          </p:cNvSpPr>
          <p:nvPr/>
        </p:nvSpPr>
        <p:spPr>
          <a:xfrm>
            <a:off x="552450" y="1238250"/>
            <a:ext cx="3524250" cy="3857625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C0FB13-402A-46E4-9381-4BA377A62BEB}"/>
              </a:ext>
            </a:extLst>
          </p:cNvPr>
          <p:cNvSpPr>
            <a:spLocks noGrp="1"/>
          </p:cNvSpPr>
          <p:nvPr/>
        </p:nvSpPr>
        <p:spPr>
          <a:xfrm>
            <a:off x="1257300" y="1476375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15936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0A27C6-8344-4980-8275-24FE437A1F83}"/>
              </a:ext>
            </a:extLst>
          </p:cNvPr>
          <p:cNvSpPr>
            <a:spLocks noGrp="1"/>
          </p:cNvSpPr>
          <p:nvPr/>
        </p:nvSpPr>
        <p:spPr>
          <a:xfrm>
            <a:off x="1333500" y="1524000"/>
            <a:ext cx="18478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FOR FIREWORKS AI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4B969B-92D0-428A-9313-B2AEAE5ADC25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5DB552-CF63-4136-A2C6-A273A52AA97A}"/>
              </a:ext>
            </a:extLst>
          </p:cNvPr>
          <p:cNvSpPr>
            <a:spLocks noGrp="1"/>
          </p:cNvSpPr>
          <p:nvPr/>
        </p:nvSpPr>
        <p:spPr>
          <a:xfrm>
            <a:off x="1162050" y="21526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More qualified enterprise opportunities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4AAB97-3206-4C04-B511-6B5856D4C5CE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42730A-2D2B-46E8-A2F2-D3AFFA097D50}"/>
              </a:ext>
            </a:extLst>
          </p:cNvPr>
          <p:cNvSpPr>
            <a:spLocks noGrp="1"/>
          </p:cNvSpPr>
          <p:nvPr/>
        </p:nvSpPr>
        <p:spPr>
          <a:xfrm>
            <a:off x="1162050" y="27622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Faster path from experiment to deployment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3F927C-D1A7-467F-A2B6-1CA27CD040BB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B29119-239D-4F3B-83A6-46793395994C}"/>
              </a:ext>
            </a:extLst>
          </p:cNvPr>
          <p:cNvSpPr>
            <a:spLocks noGrp="1"/>
          </p:cNvSpPr>
          <p:nvPr/>
        </p:nvSpPr>
        <p:spPr>
          <a:xfrm>
            <a:off x="1162050" y="33718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Implementation support for Microsoft customers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5DACB0-D913-45C2-BDFC-94CE4F5E72F4}"/>
              </a:ext>
            </a:extLst>
          </p:cNvPr>
          <p:cNvSpPr>
            <a:spLocks noGrp="1"/>
          </p:cNvSpPr>
          <p:nvPr/>
        </p:nvSpPr>
        <p:spPr>
          <a:xfrm>
            <a:off x="876300" y="40195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8493A0-DF52-400E-B0DE-9916A12E03AD}"/>
              </a:ext>
            </a:extLst>
          </p:cNvPr>
          <p:cNvSpPr>
            <a:spLocks noGrp="1"/>
          </p:cNvSpPr>
          <p:nvPr/>
        </p:nvSpPr>
        <p:spPr>
          <a:xfrm>
            <a:off x="1162050" y="39814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Greater production usage over time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DB67718-5E60-498C-8811-D1E08FCA09B5}"/>
              </a:ext>
            </a:extLst>
          </p:cNvPr>
          <p:cNvSpPr>
            <a:spLocks noGrp="1"/>
          </p:cNvSpPr>
          <p:nvPr/>
        </p:nvSpPr>
        <p:spPr>
          <a:xfrm>
            <a:off x="4429125" y="1238250"/>
            <a:ext cx="3524250" cy="3857625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0157AA2-7300-43EC-85C3-A64B40D7E177}"/>
              </a:ext>
            </a:extLst>
          </p:cNvPr>
          <p:cNvSpPr>
            <a:spLocks noGrp="1"/>
          </p:cNvSpPr>
          <p:nvPr/>
        </p:nvSpPr>
        <p:spPr>
          <a:xfrm>
            <a:off x="5172075" y="1476375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3486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8D32AC-BD41-4DDB-AB3A-5457F790344E}"/>
              </a:ext>
            </a:extLst>
          </p:cNvPr>
          <p:cNvSpPr>
            <a:spLocks noGrp="1"/>
          </p:cNvSpPr>
          <p:nvPr/>
        </p:nvSpPr>
        <p:spPr>
          <a:xfrm>
            <a:off x="5248275" y="1524000"/>
            <a:ext cx="18478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FOR CUSTOMERS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21F7C5-D0DA-4DC5-9EA5-039B5C9F9D69}"/>
              </a:ext>
            </a:extLst>
          </p:cNvPr>
          <p:cNvSpPr>
            <a:spLocks noGrp="1"/>
          </p:cNvSpPr>
          <p:nvPr/>
        </p:nvSpPr>
        <p:spPr>
          <a:xfrm>
            <a:off x="4752975" y="21907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6B7806-8698-4C3B-86CA-8B7648E8C7DF}"/>
              </a:ext>
            </a:extLst>
          </p:cNvPr>
          <p:cNvSpPr>
            <a:spLocks noGrp="1"/>
          </p:cNvSpPr>
          <p:nvPr/>
        </p:nvSpPr>
        <p:spPr>
          <a:xfrm>
            <a:off x="5038725" y="21526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42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Potentially lower AI operating cost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903DB2-5454-476F-89CF-D3F9EB0B6484}"/>
              </a:ext>
            </a:extLst>
          </p:cNvPr>
          <p:cNvSpPr>
            <a:spLocks noGrp="1"/>
          </p:cNvSpPr>
          <p:nvPr/>
        </p:nvSpPr>
        <p:spPr>
          <a:xfrm>
            <a:off x="4752975" y="28003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087473-6E5E-4ED2-8D75-76AE3518E096}"/>
              </a:ext>
            </a:extLst>
          </p:cNvPr>
          <p:cNvSpPr>
            <a:spLocks noGrp="1"/>
          </p:cNvSpPr>
          <p:nvPr/>
        </p:nvSpPr>
        <p:spPr>
          <a:xfrm>
            <a:off x="5038725" y="27622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Specialized task performance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66C5B7-B15E-49C1-9887-DBE7581385B4}"/>
              </a:ext>
            </a:extLst>
          </p:cNvPr>
          <p:cNvSpPr>
            <a:spLocks noGrp="1"/>
          </p:cNvSpPr>
          <p:nvPr/>
        </p:nvSpPr>
        <p:spPr>
          <a:xfrm>
            <a:off x="4752975" y="34099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9D0B6F-AC8F-471C-9860-8A5BF3A6EBCF}"/>
              </a:ext>
            </a:extLst>
          </p:cNvPr>
          <p:cNvSpPr>
            <a:spLocks noGrp="1"/>
          </p:cNvSpPr>
          <p:nvPr/>
        </p:nvSpPr>
        <p:spPr>
          <a:xfrm>
            <a:off x="5038725" y="33718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897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Controlled migration with fallback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4E2846-5BD1-4431-AA96-3A24B8127AEF}"/>
              </a:ext>
            </a:extLst>
          </p:cNvPr>
          <p:cNvSpPr>
            <a:spLocks noGrp="1"/>
          </p:cNvSpPr>
          <p:nvPr/>
        </p:nvSpPr>
        <p:spPr>
          <a:xfrm>
            <a:off x="4752975" y="40195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69F1B0-D0CD-4EE6-86DF-77BABBF48594}"/>
              </a:ext>
            </a:extLst>
          </p:cNvPr>
          <p:cNvSpPr>
            <a:spLocks noGrp="1"/>
          </p:cNvSpPr>
          <p:nvPr/>
        </p:nvSpPr>
        <p:spPr>
          <a:xfrm>
            <a:off x="5038725" y="39814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Integration into existing cloud estates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FA8B65D-BE2E-4C2B-84E2-50E8AF9A1694}"/>
              </a:ext>
            </a:extLst>
          </p:cNvPr>
          <p:cNvSpPr>
            <a:spLocks noGrp="1"/>
          </p:cNvSpPr>
          <p:nvPr/>
        </p:nvSpPr>
        <p:spPr>
          <a:xfrm>
            <a:off x="8305800" y="1238250"/>
            <a:ext cx="3524250" cy="3857625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ABF7D04-A567-41FA-BAFA-A6309D6490B2}"/>
              </a:ext>
            </a:extLst>
          </p:cNvPr>
          <p:cNvSpPr>
            <a:spLocks noGrp="1"/>
          </p:cNvSpPr>
          <p:nvPr/>
        </p:nvSpPr>
        <p:spPr>
          <a:xfrm>
            <a:off x="9077325" y="1476375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765A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BA872C-D3CA-4CEC-AF67-0D45A7F8EDFE}"/>
              </a:ext>
            </a:extLst>
          </p:cNvPr>
          <p:cNvSpPr>
            <a:spLocks noGrp="1"/>
          </p:cNvSpPr>
          <p:nvPr/>
        </p:nvSpPr>
        <p:spPr>
          <a:xfrm>
            <a:off x="9153525" y="1524000"/>
            <a:ext cx="18478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FOR SOUTHWORKS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BCFA18-EF58-4593-A0FB-91DE702BCD6C}"/>
              </a:ext>
            </a:extLst>
          </p:cNvPr>
          <p:cNvSpPr>
            <a:spLocks noGrp="1"/>
          </p:cNvSpPr>
          <p:nvPr/>
        </p:nvSpPr>
        <p:spPr>
          <a:xfrm>
            <a:off x="8629650" y="21907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2AADFE-1569-48DD-AD05-0E34868242E9}"/>
              </a:ext>
            </a:extLst>
          </p:cNvPr>
          <p:cNvSpPr>
            <a:spLocks noGrp="1"/>
          </p:cNvSpPr>
          <p:nvPr/>
        </p:nvSpPr>
        <p:spPr>
          <a:xfrm>
            <a:off x="8915400" y="21526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942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Expanded AI optimization services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3DDBC9-0DB4-486B-A810-A987ED6B9FB5}"/>
              </a:ext>
            </a:extLst>
          </p:cNvPr>
          <p:cNvSpPr>
            <a:spLocks noGrp="1"/>
          </p:cNvSpPr>
          <p:nvPr/>
        </p:nvSpPr>
        <p:spPr>
          <a:xfrm>
            <a:off x="8629650" y="28003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9C8CE1-A474-4A7D-B0BE-3DFD310CBCC1}"/>
              </a:ext>
            </a:extLst>
          </p:cNvPr>
          <p:cNvSpPr>
            <a:spLocks noGrp="1"/>
          </p:cNvSpPr>
          <p:nvPr/>
        </p:nvSpPr>
        <p:spPr>
          <a:xfrm>
            <a:off x="8915400" y="27622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A differentiated Fireworks delivery practice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C2B2DC-12CC-4016-ADAA-ED261F0C1F0B}"/>
              </a:ext>
            </a:extLst>
          </p:cNvPr>
          <p:cNvSpPr>
            <a:spLocks noGrp="1"/>
          </p:cNvSpPr>
          <p:nvPr/>
        </p:nvSpPr>
        <p:spPr>
          <a:xfrm>
            <a:off x="8629650" y="34099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725B70B-A6B8-46B8-8660-4705FEB327AA}"/>
              </a:ext>
            </a:extLst>
          </p:cNvPr>
          <p:cNvSpPr>
            <a:spLocks noGrp="1"/>
          </p:cNvSpPr>
          <p:nvPr/>
        </p:nvSpPr>
        <p:spPr>
          <a:xfrm>
            <a:off x="8915400" y="33718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Joint pilots with measurable economics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A2230FE-D17F-47F0-AA5D-78FD5491B724}"/>
              </a:ext>
            </a:extLst>
          </p:cNvPr>
          <p:cNvSpPr>
            <a:spLocks noGrp="1"/>
          </p:cNvSpPr>
          <p:nvPr/>
        </p:nvSpPr>
        <p:spPr>
          <a:xfrm>
            <a:off x="8629650" y="40195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EAED987-ED17-4893-899A-5602203A4F03}"/>
              </a:ext>
            </a:extLst>
          </p:cNvPr>
          <p:cNvSpPr>
            <a:spLocks noGrp="1"/>
          </p:cNvSpPr>
          <p:nvPr/>
        </p:nvSpPr>
        <p:spPr>
          <a:xfrm>
            <a:off x="8915400" y="39814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Long-term production engineering work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9D67545-7142-4BE4-8809-6CCA167B4290}"/>
              </a:ext>
            </a:extLst>
          </p:cNvPr>
          <p:cNvSpPr>
            <a:spLocks noGrp="1"/>
          </p:cNvSpPr>
          <p:nvPr/>
        </p:nvSpPr>
        <p:spPr>
          <a:xfrm>
            <a:off x="838200" y="5524500"/>
            <a:ext cx="1428750" cy="23812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7708" lnSpcReduction="20000"/>
          </a:bodyPr>
          <a:lstStyle/>
          <a:p>
            <a:pPr algn="l">
              <a:buNone/>
              <a:defRPr sz="12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00" b="1">
              <a:solidFill>
                <a:srgbClr val="FF6339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88797F-4CBA-4C4D-9F54-258CAE128879}"/>
              </a:ext>
            </a:extLst>
          </p:cNvPr>
          <p:cNvSpPr>
            <a:spLocks noGrp="1"/>
          </p:cNvSpPr>
          <p:nvPr/>
        </p:nvSpPr>
        <p:spPr>
          <a:xfrm>
            <a:off x="2333625" y="5486400"/>
            <a:ext cx="8858250" cy="4000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7287"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500" b="1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645656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5B40A49-31C0-4601-B603-CCACFC461C1D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C59719-39D1-4E7F-837D-D24F43A16041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9722" lnSpcReduction="10000"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PILOT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E3FD16-A551-4D75-A06E-67B4D94DE1B4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 joint customer pilot can validate quality and economics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6EA4E0-C54F-4A86-BA6C-47A01B07C45F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4830B1-F93E-475D-B55A-916302BEF64B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88551F-B7F6-433C-B49A-B5B4F019598A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266587-7B0C-408E-A0FB-64F169347865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676400" cy="2341407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46BB27-0B5E-4551-96EE-15BA26E0954C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676400" cy="533400"/>
          </a:xfrm>
          <a:prstGeom prst="rect">
            <a:avLst/>
          </a:prstGeom>
          <a:solidFill>
            <a:srgbClr val="3486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E331CB-207E-4433-B11E-185CEEFC2D12}"/>
              </a:ext>
            </a:extLst>
          </p:cNvPr>
          <p:cNvSpPr>
            <a:spLocks noGrp="1"/>
          </p:cNvSpPr>
          <p:nvPr/>
        </p:nvSpPr>
        <p:spPr>
          <a:xfrm>
            <a:off x="571500" y="1562100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9285F5-B130-49E4-B450-28628DC50DC1}"/>
              </a:ext>
            </a:extLst>
          </p:cNvPr>
          <p:cNvSpPr>
            <a:spLocks noGrp="1"/>
          </p:cNvSpPr>
          <p:nvPr/>
        </p:nvSpPr>
        <p:spPr>
          <a:xfrm>
            <a:off x="895350" y="1562100"/>
            <a:ext cx="1104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Candidate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F52625-E0FE-492D-9CD5-11679FF001CF}"/>
              </a:ext>
            </a:extLst>
          </p:cNvPr>
          <p:cNvSpPr>
            <a:spLocks noGrp="1"/>
          </p:cNvSpPr>
          <p:nvPr/>
        </p:nvSpPr>
        <p:spPr>
          <a:xfrm>
            <a:off x="628650" y="2343150"/>
            <a:ext cx="1333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Select a stable task with material inference spend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96529-9EA0-427F-A5F5-FF49B163947C}"/>
              </a:ext>
            </a:extLst>
          </p:cNvPr>
          <p:cNvSpPr>
            <a:spLocks noGrp="1"/>
          </p:cNvSpPr>
          <p:nvPr/>
        </p:nvSpPr>
        <p:spPr>
          <a:xfrm>
            <a:off x="2114550" y="2781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47A149D-9CFA-4BF5-9DB2-88F49DFCE20E}"/>
              </a:ext>
            </a:extLst>
          </p:cNvPr>
          <p:cNvSpPr>
            <a:spLocks noGrp="1"/>
          </p:cNvSpPr>
          <p:nvPr/>
        </p:nvSpPr>
        <p:spPr>
          <a:xfrm>
            <a:off x="2381250" y="1428750"/>
            <a:ext cx="1676400" cy="2341407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11E50E-56B6-4897-A8B2-059C419998DF}"/>
              </a:ext>
            </a:extLst>
          </p:cNvPr>
          <p:cNvSpPr>
            <a:spLocks noGrp="1"/>
          </p:cNvSpPr>
          <p:nvPr/>
        </p:nvSpPr>
        <p:spPr>
          <a:xfrm>
            <a:off x="2381250" y="1428750"/>
            <a:ext cx="1676400" cy="533400"/>
          </a:xfrm>
          <a:prstGeom prst="rect">
            <a:avLst/>
          </a:prstGeom>
          <a:solidFill>
            <a:srgbClr val="15936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05454F-56EF-43A9-9958-14275FBA6D19}"/>
              </a:ext>
            </a:extLst>
          </p:cNvPr>
          <p:cNvSpPr>
            <a:spLocks noGrp="1"/>
          </p:cNvSpPr>
          <p:nvPr/>
        </p:nvSpPr>
        <p:spPr>
          <a:xfrm>
            <a:off x="2495550" y="1562100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38574A-AC9E-46AB-ABBF-033B80E55CFD}"/>
              </a:ext>
            </a:extLst>
          </p:cNvPr>
          <p:cNvSpPr>
            <a:spLocks noGrp="1"/>
          </p:cNvSpPr>
          <p:nvPr/>
        </p:nvSpPr>
        <p:spPr>
          <a:xfrm>
            <a:off x="2819400" y="1562100"/>
            <a:ext cx="1104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Baseline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3ECCB9-2BDC-4A8B-9B1B-F970893317CA}"/>
              </a:ext>
            </a:extLst>
          </p:cNvPr>
          <p:cNvSpPr>
            <a:spLocks noGrp="1"/>
          </p:cNvSpPr>
          <p:nvPr/>
        </p:nvSpPr>
        <p:spPr>
          <a:xfrm>
            <a:off x="2552700" y="2343150"/>
            <a:ext cx="1333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Measure current quality, latency, tokens and cost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B1FE9F-66F2-435A-A7F5-F225B7F931DA}"/>
              </a:ext>
            </a:extLst>
          </p:cNvPr>
          <p:cNvSpPr>
            <a:spLocks noGrp="1"/>
          </p:cNvSpPr>
          <p:nvPr/>
        </p:nvSpPr>
        <p:spPr>
          <a:xfrm>
            <a:off x="4038600" y="2781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198B92F-F725-4CD7-B6C0-35C70158A85B}"/>
              </a:ext>
            </a:extLst>
          </p:cNvPr>
          <p:cNvSpPr>
            <a:spLocks noGrp="1"/>
          </p:cNvSpPr>
          <p:nvPr/>
        </p:nvSpPr>
        <p:spPr>
          <a:xfrm>
            <a:off x="4305300" y="1428750"/>
            <a:ext cx="1676400" cy="2341407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D7A8E8-680E-4BA2-8532-17D344C94C1B}"/>
              </a:ext>
            </a:extLst>
          </p:cNvPr>
          <p:cNvSpPr>
            <a:spLocks noGrp="1"/>
          </p:cNvSpPr>
          <p:nvPr/>
        </p:nvSpPr>
        <p:spPr>
          <a:xfrm>
            <a:off x="4305300" y="1428750"/>
            <a:ext cx="1676400" cy="533400"/>
          </a:xfrm>
          <a:prstGeom prst="rect">
            <a:avLst/>
          </a:prstGeom>
          <a:solidFill>
            <a:srgbClr val="765A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3F65CA-B10E-4979-A9D1-7F537D0C6E36}"/>
              </a:ext>
            </a:extLst>
          </p:cNvPr>
          <p:cNvSpPr>
            <a:spLocks noGrp="1"/>
          </p:cNvSpPr>
          <p:nvPr/>
        </p:nvSpPr>
        <p:spPr>
          <a:xfrm>
            <a:off x="4419600" y="1562100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A62A44-4483-4F78-8B87-D3ADEEFB077A}"/>
              </a:ext>
            </a:extLst>
          </p:cNvPr>
          <p:cNvSpPr>
            <a:spLocks noGrp="1"/>
          </p:cNvSpPr>
          <p:nvPr/>
        </p:nvSpPr>
        <p:spPr>
          <a:xfrm>
            <a:off x="4743450" y="1562100"/>
            <a:ext cx="1104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Fine-tune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C49860-457D-4CAA-806E-9FBB088416DA}"/>
              </a:ext>
            </a:extLst>
          </p:cNvPr>
          <p:cNvSpPr>
            <a:spLocks noGrp="1"/>
          </p:cNvSpPr>
          <p:nvPr/>
        </p:nvSpPr>
        <p:spPr>
          <a:xfrm>
            <a:off x="4476750" y="2343150"/>
            <a:ext cx="1333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Prepare data and train a compact model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C7E59A-85FB-417B-8868-48BFA982DF37}"/>
              </a:ext>
            </a:extLst>
          </p:cNvPr>
          <p:cNvSpPr>
            <a:spLocks noGrp="1"/>
          </p:cNvSpPr>
          <p:nvPr/>
        </p:nvSpPr>
        <p:spPr>
          <a:xfrm>
            <a:off x="5962650" y="2781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C142F26-A6AD-4FBB-98E9-863305745B6E}"/>
              </a:ext>
            </a:extLst>
          </p:cNvPr>
          <p:cNvSpPr>
            <a:spLocks noGrp="1"/>
          </p:cNvSpPr>
          <p:nvPr/>
        </p:nvSpPr>
        <p:spPr>
          <a:xfrm>
            <a:off x="6229350" y="1428750"/>
            <a:ext cx="1676400" cy="2341407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F53745-9ED6-4304-8FEE-63E9E94BD759}"/>
              </a:ext>
            </a:extLst>
          </p:cNvPr>
          <p:cNvSpPr>
            <a:spLocks noGrp="1"/>
          </p:cNvSpPr>
          <p:nvPr/>
        </p:nvSpPr>
        <p:spPr>
          <a:xfrm>
            <a:off x="6229350" y="1428750"/>
            <a:ext cx="1676400" cy="533400"/>
          </a:xfrm>
          <a:prstGeom prst="rect">
            <a:avLst/>
          </a:prstGeom>
          <a:solidFill>
            <a:srgbClr val="176D8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7AB8E2-05F4-431F-999F-696CA1E6F236}"/>
              </a:ext>
            </a:extLst>
          </p:cNvPr>
          <p:cNvSpPr>
            <a:spLocks noGrp="1"/>
          </p:cNvSpPr>
          <p:nvPr/>
        </p:nvSpPr>
        <p:spPr>
          <a:xfrm>
            <a:off x="6343650" y="1562100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4CCF81-F73A-4B77-AA83-1868EE2DC99C}"/>
              </a:ext>
            </a:extLst>
          </p:cNvPr>
          <p:cNvSpPr>
            <a:spLocks noGrp="1"/>
          </p:cNvSpPr>
          <p:nvPr/>
        </p:nvSpPr>
        <p:spPr>
          <a:xfrm>
            <a:off x="6667500" y="1562100"/>
            <a:ext cx="1104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Deploy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1EFDDE-D1D3-4388-A865-1F7770C94395}"/>
              </a:ext>
            </a:extLst>
          </p:cNvPr>
          <p:cNvSpPr>
            <a:spLocks noGrp="1"/>
          </p:cNvSpPr>
          <p:nvPr/>
        </p:nvSpPr>
        <p:spPr>
          <a:xfrm>
            <a:off x="6400800" y="2343150"/>
            <a:ext cx="1333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Integrate a direct Fireworks endpoint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8A0EB1-AE19-419D-99BC-4051C5FB285C}"/>
              </a:ext>
            </a:extLst>
          </p:cNvPr>
          <p:cNvSpPr>
            <a:spLocks noGrp="1"/>
          </p:cNvSpPr>
          <p:nvPr/>
        </p:nvSpPr>
        <p:spPr>
          <a:xfrm>
            <a:off x="7886700" y="2781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63A41BF-0165-48FF-A82C-3F077378A2E0}"/>
              </a:ext>
            </a:extLst>
          </p:cNvPr>
          <p:cNvSpPr>
            <a:spLocks noGrp="1"/>
          </p:cNvSpPr>
          <p:nvPr/>
        </p:nvSpPr>
        <p:spPr>
          <a:xfrm>
            <a:off x="8153400" y="1428750"/>
            <a:ext cx="1676400" cy="2341407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FA5884-9D78-41FB-805D-AA5B5E24E73D}"/>
              </a:ext>
            </a:extLst>
          </p:cNvPr>
          <p:cNvSpPr>
            <a:spLocks noGrp="1"/>
          </p:cNvSpPr>
          <p:nvPr/>
        </p:nvSpPr>
        <p:spPr>
          <a:xfrm>
            <a:off x="8153400" y="1428750"/>
            <a:ext cx="1676400" cy="533400"/>
          </a:xfrm>
          <a:prstGeom prst="rect">
            <a:avLst/>
          </a:prstGeom>
          <a:solidFill>
            <a:srgbClr val="FF633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1A8C5B-6ECD-43D4-83FF-2A6DD2378547}"/>
              </a:ext>
            </a:extLst>
          </p:cNvPr>
          <p:cNvSpPr>
            <a:spLocks noGrp="1"/>
          </p:cNvSpPr>
          <p:nvPr/>
        </p:nvSpPr>
        <p:spPr>
          <a:xfrm>
            <a:off x="8267700" y="1562100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53B66A3-9322-481E-9AA3-0716D4931B67}"/>
              </a:ext>
            </a:extLst>
          </p:cNvPr>
          <p:cNvSpPr>
            <a:spLocks noGrp="1"/>
          </p:cNvSpPr>
          <p:nvPr/>
        </p:nvSpPr>
        <p:spPr>
          <a:xfrm>
            <a:off x="8591550" y="1562100"/>
            <a:ext cx="1104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Evaluate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8A6EE65-B889-4100-9985-88F3E8B0337A}"/>
              </a:ext>
            </a:extLst>
          </p:cNvPr>
          <p:cNvSpPr>
            <a:spLocks noGrp="1"/>
          </p:cNvSpPr>
          <p:nvPr/>
        </p:nvSpPr>
        <p:spPr>
          <a:xfrm>
            <a:off x="8324850" y="2343150"/>
            <a:ext cx="1333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Compare quality, errors, throughput and unit cost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857BFF-E958-49C8-9BDB-CAF1304B467D}"/>
              </a:ext>
            </a:extLst>
          </p:cNvPr>
          <p:cNvSpPr>
            <a:spLocks noGrp="1"/>
          </p:cNvSpPr>
          <p:nvPr/>
        </p:nvSpPr>
        <p:spPr>
          <a:xfrm>
            <a:off x="9810750" y="2781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8526A6E-B980-4BD7-9893-DDA39A39EB49}"/>
              </a:ext>
            </a:extLst>
          </p:cNvPr>
          <p:cNvSpPr>
            <a:spLocks noGrp="1"/>
          </p:cNvSpPr>
          <p:nvPr/>
        </p:nvSpPr>
        <p:spPr>
          <a:xfrm>
            <a:off x="10077450" y="1428750"/>
            <a:ext cx="1676400" cy="2341407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7CC1B15-9098-4769-B7ED-AFD1B8AACC0A}"/>
              </a:ext>
            </a:extLst>
          </p:cNvPr>
          <p:cNvSpPr>
            <a:spLocks noGrp="1"/>
          </p:cNvSpPr>
          <p:nvPr/>
        </p:nvSpPr>
        <p:spPr>
          <a:xfrm>
            <a:off x="10077450" y="1428750"/>
            <a:ext cx="1676400" cy="533400"/>
          </a:xfrm>
          <a:prstGeom prst="rect">
            <a:avLst/>
          </a:prstGeom>
          <a:solidFill>
            <a:srgbClr val="3486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879B574-9AAC-4F8E-B5E3-DE28C8A77B03}"/>
              </a:ext>
            </a:extLst>
          </p:cNvPr>
          <p:cNvSpPr>
            <a:spLocks noGrp="1"/>
          </p:cNvSpPr>
          <p:nvPr/>
        </p:nvSpPr>
        <p:spPr>
          <a:xfrm>
            <a:off x="10191750" y="1562100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B6C21AC-C97C-48F0-B262-51FE643CB956}"/>
              </a:ext>
            </a:extLst>
          </p:cNvPr>
          <p:cNvSpPr>
            <a:spLocks noGrp="1"/>
          </p:cNvSpPr>
          <p:nvPr/>
        </p:nvSpPr>
        <p:spPr>
          <a:xfrm>
            <a:off x="10515600" y="1562100"/>
            <a:ext cx="1104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Decide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D80F3DC-DE4E-42FC-99DC-08D12DAA8618}"/>
              </a:ext>
            </a:extLst>
          </p:cNvPr>
          <p:cNvSpPr>
            <a:spLocks noGrp="1"/>
          </p:cNvSpPr>
          <p:nvPr/>
        </p:nvSpPr>
        <p:spPr>
          <a:xfrm>
            <a:off x="10248900" y="2343150"/>
            <a:ext cx="1333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Deliver ROI evidence and a go or no-go recommendation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48393C6-FAA1-4EA2-B760-75B2245F7815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Success measures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9DBE43F-7267-4F9F-9924-B8253B105F76}"/>
              </a:ext>
            </a:extLst>
          </p:cNvPr>
          <p:cNvSpPr>
            <a:spLocks noGrp="1"/>
          </p:cNvSpPr>
          <p:nvPr/>
        </p:nvSpPr>
        <p:spPr>
          <a:xfrm>
            <a:off x="2362200" y="4819650"/>
            <a:ext cx="9144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368" lnSpcReduction="10000"/>
          </a:bodyPr>
          <a:lstStyle/>
          <a:p>
            <a:pPr algn="l">
              <a:buNone/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Task quality, critical errors, latency, throughput, cost per 1,000 successful requests, fallback frequency and operating requirements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2D515C4-410F-4271-AF22-ADCD0F642ACD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8246"/>
          </a:bodyPr>
          <a:lstStyle/>
          <a:p>
            <a:pPr algn="ctr">
              <a:buNone/>
              <a:defRPr sz="142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400" b="1">
              <a:solidFill>
                <a:srgbClr val="D24747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839998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9E5299B-85B6-45C9-A877-3EA9158EE580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✦ southworks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2DAA9F-9170-49EE-AD01-1DCB482A41EB}"/>
              </a:ext>
            </a:extLst>
          </p:cNvPr>
          <p:cNvSpPr>
            <a:spLocks noGrp="1"/>
          </p:cNvSpPr>
          <p:nvPr/>
        </p:nvSpPr>
        <p:spPr>
          <a:xfrm>
            <a:off x="742950" y="1219200"/>
            <a:ext cx="6286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360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Partnership discussion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C9E07A-BA9B-4A56-B140-3AFF03D9116F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0000"/>
          </a:bodyPr>
          <a:lstStyle/>
          <a:p>
            <a:pPr algn="l">
              <a:buNone/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A focused next step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0C5148-4334-4A5D-84A9-53B6AB2F5437}"/>
              </a:ext>
            </a:extLst>
          </p:cNvPr>
          <p:cNvSpPr>
            <a:spLocks noGrp="1"/>
          </p:cNvSpPr>
          <p:nvPr/>
        </p:nvSpPr>
        <p:spPr>
          <a:xfrm>
            <a:off x="838200" y="28956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D28C10-534C-4DD0-BD12-F98A8D1E277E}"/>
              </a:ext>
            </a:extLst>
          </p:cNvPr>
          <p:cNvSpPr>
            <a:spLocks noGrp="1"/>
          </p:cNvSpPr>
          <p:nvPr/>
        </p:nvSpPr>
        <p:spPr>
          <a:xfrm>
            <a:off x="1428750" y="2857500"/>
            <a:ext cx="714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Select one joint customer profile or internal workload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F30CC0-EAF4-4346-BB1D-421B6BBAA64B}"/>
              </a:ext>
            </a:extLst>
          </p:cNvPr>
          <p:cNvSpPr>
            <a:spLocks noGrp="1"/>
          </p:cNvSpPr>
          <p:nvPr/>
        </p:nvSpPr>
        <p:spPr>
          <a:xfrm>
            <a:off x="838200" y="35052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AD41F-27A0-418E-AB66-15857858A839}"/>
              </a:ext>
            </a:extLst>
          </p:cNvPr>
          <p:cNvSpPr>
            <a:spLocks noGrp="1"/>
          </p:cNvSpPr>
          <p:nvPr/>
        </p:nvSpPr>
        <p:spPr>
          <a:xfrm>
            <a:off x="1428750" y="3467100"/>
            <a:ext cx="714375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l">
              <a:buNone/>
              <a:defRPr sz="1575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Confirm </a:t>
            </a:r>
            <a:r>
              <a:rPr sz="155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Southworks</a:t>
            </a:r>
            <a:r>
              <a:rPr sz="15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 and Fireworks deployment assumptions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4D00E8-CB52-44FC-AC8A-163A0B1BA6A3}"/>
              </a:ext>
            </a:extLst>
          </p:cNvPr>
          <p:cNvSpPr>
            <a:spLocks noGrp="1"/>
          </p:cNvSpPr>
          <p:nvPr/>
        </p:nvSpPr>
        <p:spPr>
          <a:xfrm>
            <a:off x="838200" y="4114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007F53-C4E5-491F-8AE8-5E5D60DC24F7}"/>
              </a:ext>
            </a:extLst>
          </p:cNvPr>
          <p:cNvSpPr>
            <a:spLocks noGrp="1"/>
          </p:cNvSpPr>
          <p:nvPr/>
        </p:nvSpPr>
        <p:spPr>
          <a:xfrm>
            <a:off x="1428750" y="4076700"/>
            <a:ext cx="714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Agree pilot success thresholds and ownership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2A9511-109C-40D2-BC5F-6C2ED10E0E65}"/>
              </a:ext>
            </a:extLst>
          </p:cNvPr>
          <p:cNvSpPr>
            <a:spLocks noGrp="1"/>
          </p:cNvSpPr>
          <p:nvPr/>
        </p:nvSpPr>
        <p:spPr>
          <a:xfrm>
            <a:off x="838200" y="47244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8202" lnSpcReduction="10000"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400" b="1">
              <a:solidFill>
                <a:srgbClr val="FFFFFF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757C4C-9E91-402E-859A-EEA354B4E02D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714375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l">
              <a:buNone/>
              <a:defRPr sz="1575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550" b="0">
              <a:solidFill>
                <a:srgbClr val="FFFFFF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pic>
        <p:nvPicPr>
          <p:cNvPr id="30" name="Picture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72500" y="1752600"/>
            <a:ext cx="2762250" cy="27622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AE140BD-3618-4B98-932F-5C6021FDD54B}"/>
              </a:ext>
            </a:extLst>
          </p:cNvPr>
          <p:cNvSpPr>
            <a:spLocks noGrp="1"/>
          </p:cNvSpPr>
          <p:nvPr/>
        </p:nvSpPr>
        <p:spPr>
          <a:xfrm>
            <a:off x="742950" y="5572125"/>
            <a:ext cx="7429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528" lnSpcReduction="10000"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Southworks brings the engineering layer between a promising model and a defensible production business case.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63C575-BC6B-4C0E-A0E5-32B20C4FC197}"/>
              </a:ext>
            </a:extLst>
          </p:cNvPr>
          <p:cNvSpPr>
            <a:spLocks noGrp="1"/>
          </p:cNvSpPr>
          <p:nvPr/>
        </p:nvSpPr>
        <p:spPr>
          <a:xfrm>
            <a:off x="438150" y="61912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</p:spTree>
    <p:extLst>
      <p:ext uri="{BB962C8B-B14F-4D97-AF65-F5344CB8AC3E}">
        <p14:creationId xmlns:p14="http://schemas.microsoft.com/office/powerpoint/2010/main" val="7883186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3083</Words>
  <Application>Microsoft Macintosh PowerPoint</Application>
  <DocSecurity>0</DocSecurity>
  <PresentationFormat>Widescreen</PresentationFormat>
  <Paragraphs>567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Instrument Sans regular</vt:lpstr>
      <vt:lpstr>PP Telegraf regular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Alberto Ito</cp:lastModifiedBy>
  <cp:revision>5</cp:revision>
  <dcterms:created xsi:type="dcterms:W3CDTF">2026-10-23T17:24:08Z</dcterms:created>
  <dcterms:modified xsi:type="dcterms:W3CDTF">2026-10-23T18:01:05Z</dcterms:modified>
</cp:coreProperties>
</file>