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3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30351a588840b7" /><Relationship Type="http://schemas.openxmlformats.org/officeDocument/2006/relationships/extended-properties" Target="/docProps/app.xml" Id="R64274bec0e7643ca" /><Relationship Type="http://schemas.openxmlformats.org/officeDocument/2006/relationships/officeDocument" Target="/ppt/presentation.xml" Id="R77a2dbd9e33941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3263211e3d416d"/>
  </p:sldMasterIdLst>
  <p:notesMasterIdLst>
    <p:notesMasterId xmlns:r="http://schemas.openxmlformats.org/officeDocument/2006/relationships" r:id="R9e535f738e874602"/>
  </p:notesMasterIdLst>
  <p:sldIdLst>
    <p:sldId xmlns:r="http://schemas.openxmlformats.org/officeDocument/2006/relationships" id="256" r:id="R72e3a80742f74319"/>
    <p:sldId xmlns:r="http://schemas.openxmlformats.org/officeDocument/2006/relationships" id="257" r:id="R0499efcefbb94e73"/>
    <p:sldId xmlns:r="http://schemas.openxmlformats.org/officeDocument/2006/relationships" id="258" r:id="R98e41adf70804355"/>
    <p:sldId xmlns:r="http://schemas.openxmlformats.org/officeDocument/2006/relationships" id="259" r:id="R0d6f980fcc114c72"/>
    <p:sldId xmlns:r="http://schemas.openxmlformats.org/officeDocument/2006/relationships" id="260" r:id="R5ee1d01766f9491e"/>
    <p:sldId xmlns:r="http://schemas.openxmlformats.org/officeDocument/2006/relationships" id="261" r:id="R0458e225e2eb4a5c"/>
    <p:sldId xmlns:r="http://schemas.openxmlformats.org/officeDocument/2006/relationships" id="262" r:id="R7e6f4f4096e543bd"/>
    <p:sldId xmlns:r="http://schemas.openxmlformats.org/officeDocument/2006/relationships" id="263" r:id="R45be2ff150f14939"/>
    <p:sldId xmlns:r="http://schemas.openxmlformats.org/officeDocument/2006/relationships" id="264" r:id="R5ae1746726e14223"/>
    <p:sldId xmlns:r="http://schemas.openxmlformats.org/officeDocument/2006/relationships" id="265" r:id="R522d560365584324"/>
    <p:sldId xmlns:r="http://schemas.openxmlformats.org/officeDocument/2006/relationships" id="266" r:id="R17c9dec4a1aa4802"/>
    <p:sldId xmlns:r="http://schemas.openxmlformats.org/officeDocument/2006/relationships" id="267" r:id="Re217828ace964343"/>
    <p:sldId xmlns:r="http://schemas.openxmlformats.org/officeDocument/2006/relationships" id="268" r:id="R2645744e392a418e"/>
    <p:sldId xmlns:r="http://schemas.openxmlformats.org/officeDocument/2006/relationships" id="269" r:id="R1643b5ca8cb24b1b"/>
    <p:sldId xmlns:r="http://schemas.openxmlformats.org/officeDocument/2006/relationships" id="270" r:id="R22cd31f9eb67408b"/>
    <p:sldId xmlns:r="http://schemas.openxmlformats.org/officeDocument/2006/relationships" id="271" r:id="R81b9b6073f114551"/>
    <p:sldId xmlns:r="http://schemas.openxmlformats.org/officeDocument/2006/relationships" id="272" r:id="R48991f1f9ab540d3"/>
    <p:sldId xmlns:r="http://schemas.openxmlformats.org/officeDocument/2006/relationships" id="273" r:id="Rffd581a6b20b4097"/>
    <p:sldId xmlns:r="http://schemas.openxmlformats.org/officeDocument/2006/relationships" id="274" r:id="Rdbfabe417a7943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7311813523b4584" /><Relationship Type="http://schemas.openxmlformats.org/officeDocument/2006/relationships/slideMaster" Target="/ppt/slideMasters/slideMaster1.xml" Id="Rf23263211e3d416d" /><Relationship Type="http://schemas.openxmlformats.org/officeDocument/2006/relationships/notesMaster" Target="/ppt/notesMasters/notesMaster1.xml" Id="R9e535f738e874602" /><Relationship Type="http://schemas.openxmlformats.org/officeDocument/2006/relationships/presProps" Target="/ppt/presProps.xml" Id="R71c24ca3507346ee" /><Relationship Type="http://schemas.openxmlformats.org/officeDocument/2006/relationships/tableStyles" Target="/ppt/tableStyles.xml" Id="Ra674ec733a7b4271" /><Relationship Type="http://schemas.openxmlformats.org/officeDocument/2006/relationships/slide" Target="/ppt/slides/slide1.xml" Id="R72e3a80742f74319" /><Relationship Type="http://schemas.openxmlformats.org/officeDocument/2006/relationships/slide" Target="/ppt/slides/slide2.xml" Id="R0499efcefbb94e73" /><Relationship Type="http://schemas.openxmlformats.org/officeDocument/2006/relationships/slide" Target="/ppt/slides/slide3.xml" Id="R98e41adf70804355" /><Relationship Type="http://schemas.openxmlformats.org/officeDocument/2006/relationships/slide" Target="/ppt/slides/slide4.xml" Id="R0d6f980fcc114c72" /><Relationship Type="http://schemas.openxmlformats.org/officeDocument/2006/relationships/slide" Target="/ppt/slides/slide5.xml" Id="R5ee1d01766f9491e" /><Relationship Type="http://schemas.openxmlformats.org/officeDocument/2006/relationships/slide" Target="/ppt/slides/slide6.xml" Id="R0458e225e2eb4a5c" /><Relationship Type="http://schemas.openxmlformats.org/officeDocument/2006/relationships/slide" Target="/ppt/slides/slide7.xml" Id="R7e6f4f4096e543bd" /><Relationship Type="http://schemas.openxmlformats.org/officeDocument/2006/relationships/slide" Target="/ppt/slides/slide8.xml" Id="R45be2ff150f14939" /><Relationship Type="http://schemas.openxmlformats.org/officeDocument/2006/relationships/slide" Target="/ppt/slides/slide9.xml" Id="R5ae1746726e14223" /><Relationship Type="http://schemas.openxmlformats.org/officeDocument/2006/relationships/slide" Target="/ppt/slides/slide10.xml" Id="R522d560365584324" /><Relationship Type="http://schemas.openxmlformats.org/officeDocument/2006/relationships/slide" Target="/ppt/slides/slide11.xml" Id="R17c9dec4a1aa4802" /><Relationship Type="http://schemas.openxmlformats.org/officeDocument/2006/relationships/slide" Target="/ppt/slides/slide12.xml" Id="Re217828ace964343" /><Relationship Type="http://schemas.openxmlformats.org/officeDocument/2006/relationships/slide" Target="/ppt/slides/slide13.xml" Id="R2645744e392a418e" /><Relationship Type="http://schemas.openxmlformats.org/officeDocument/2006/relationships/slide" Target="/ppt/slides/slide14.xml" Id="R1643b5ca8cb24b1b" /><Relationship Type="http://schemas.openxmlformats.org/officeDocument/2006/relationships/slide" Target="/ppt/slides/slide15.xml" Id="R22cd31f9eb67408b" /><Relationship Type="http://schemas.openxmlformats.org/officeDocument/2006/relationships/slide" Target="/ppt/slides/slide16.xml" Id="R81b9b6073f114551" /><Relationship Type="http://schemas.openxmlformats.org/officeDocument/2006/relationships/slide" Target="/ppt/slides/slide17.xml" Id="R48991f1f9ab540d3" /><Relationship Type="http://schemas.openxmlformats.org/officeDocument/2006/relationships/slide" Target="/ppt/slides/slide18.xml" Id="Rffd581a6b20b4097" /><Relationship Type="http://schemas.openxmlformats.org/officeDocument/2006/relationships/slide" Target="/ppt/slides/slide19.xml" Id="Rdbfabe417a7943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1bb07299e0847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e9e3506c3f43e4" /><Relationship Type="http://schemas.openxmlformats.org/officeDocument/2006/relationships/notesMaster" Target="/ppt/notesMasters/notesMaster1.xml" Id="Re5d3dac4bd464db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96650307ec94c5c" /><Relationship Type="http://schemas.openxmlformats.org/officeDocument/2006/relationships/notesMaster" Target="/ppt/notesMasters/notesMaster1.xml" Id="Re9dfbb0d958247a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e5ed19969764c25" /><Relationship Type="http://schemas.openxmlformats.org/officeDocument/2006/relationships/notesMaster" Target="/ppt/notesMasters/notesMaster1.xml" Id="R724e241dd4854ff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16fd2c6009d4a05" /><Relationship Type="http://schemas.openxmlformats.org/officeDocument/2006/relationships/notesMaster" Target="/ppt/notesMasters/notesMaster1.xml" Id="R58e38e9b11f740d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7719dae8c6249fe" /><Relationship Type="http://schemas.openxmlformats.org/officeDocument/2006/relationships/notesMaster" Target="/ppt/notesMasters/notesMaster1.xml" Id="Ra6437c18268a42a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c5d11a55dc243c3" /><Relationship Type="http://schemas.openxmlformats.org/officeDocument/2006/relationships/notesMaster" Target="/ppt/notesMasters/notesMaster1.xml" Id="R261131c1b68a482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2534f0046e34b5e" /><Relationship Type="http://schemas.openxmlformats.org/officeDocument/2006/relationships/notesMaster" Target="/ppt/notesMasters/notesMaster1.xml" Id="R6567fd0e65834ab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d11246cd7d14a72" /><Relationship Type="http://schemas.openxmlformats.org/officeDocument/2006/relationships/notesMaster" Target="/ppt/notesMasters/notesMaster1.xml" Id="R52b55f10a638471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5e1826abf624f70" /><Relationship Type="http://schemas.openxmlformats.org/officeDocument/2006/relationships/notesMaster" Target="/ppt/notesMasters/notesMaster1.xml" Id="R15cd11264ce74b6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b39f59de6b8494f" /><Relationship Type="http://schemas.openxmlformats.org/officeDocument/2006/relationships/notesMaster" Target="/ppt/notesMasters/notesMaster1.xml" Id="Rd8639d15425b4fc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19b945eb0fc467f" /><Relationship Type="http://schemas.openxmlformats.org/officeDocument/2006/relationships/notesMaster" Target="/ppt/notesMasters/notesMaster1.xml" Id="Rfe46f6d99f29490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a1b3aebd1944043" /><Relationship Type="http://schemas.openxmlformats.org/officeDocument/2006/relationships/notesMaster" Target="/ppt/notesMasters/notesMaster1.xml" Id="R8f855164baa3445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b6f05404c1d4441" /><Relationship Type="http://schemas.openxmlformats.org/officeDocument/2006/relationships/notesMaster" Target="/ppt/notesMasters/notesMaster1.xml" Id="R8f133028146240a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62b05ee7da94f5c" /><Relationship Type="http://schemas.openxmlformats.org/officeDocument/2006/relationships/notesMaster" Target="/ppt/notesMasters/notesMaster1.xml" Id="R0c5693815b314da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8bf04f906eb47ac" /><Relationship Type="http://schemas.openxmlformats.org/officeDocument/2006/relationships/notesMaster" Target="/ppt/notesMasters/notesMaster1.xml" Id="Re59884916fa848b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c62ccdf784647a9" /><Relationship Type="http://schemas.openxmlformats.org/officeDocument/2006/relationships/notesMaster" Target="/ppt/notesMasters/notesMaster1.xml" Id="R728aa3d86d79425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e8e062267654ea0" /><Relationship Type="http://schemas.openxmlformats.org/officeDocument/2006/relationships/notesMaster" Target="/ppt/notesMasters/notesMaster1.xml" Id="Rab6d631a300e43f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368a9f987dd41d4" /><Relationship Type="http://schemas.openxmlformats.org/officeDocument/2006/relationships/notesMaster" Target="/ppt/notesMasters/notesMaster1.xml" Id="Redeb40f1f8d643d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7699277e6484d22" /><Relationship Type="http://schemas.openxmlformats.org/officeDocument/2006/relationships/notesMaster" Target="/ppt/notesMasters/notesMaster1.xml" Id="Rd3e8281580f34e4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repository results under Fireworks/, MS Foundry/, Base Model/, and PROJECT_CONCLUSIONS.md. Background artwork generated for this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PROJECT_CONCLUSIONS.md; Fireworks/Amazon reviews 2023/evaluation reports dated 2026-10-15 and 2026-10-20.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measured GPT-4.1-family baseline is GPT-4.1 mini. No result in this deck should be attributed to the full GPT-4.1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Amazon Reviews data README and evaluation scripts; Hugging Face pipeline README; Fireworks and MS Foundry experiment folders.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Repository sources: Fireworks/, MS Foundry/, and scripts under Fireworks/Amazon reviews 2023/scripts.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PROJECT_CONCLUSIONS.md and MS Foundry/gpt-5.6-luna/banking77_comparison.md. Token ratios are processing ratios, not invoices.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Amazon Reviews 2023 README, DATASET_REVIEW_RULES.md, and evaluation manifests. The v2 class distribution is materially imbalanced.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Fireworks/Amazon reviews 2023/evaluation/ft_qwen3_4b_amazon_10k/REPORT_THREE_MODELS_GPT6_JUDGE.md. 200 cases, 50 per task. GPT-6 Sol judge. Latencies span different providers and deployments.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Fireworks/Amazon reviews 2023/evaluation/ft_qwen3_4b_amazon_v2/REPORT.md and judge_summary_gpt6sol.json. 103 purchase-recommendation cases; only four BUY references.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200-case Amazon benchmark. GPT-4.1 mini had 23 cases at the 500-token limit. Latency comparison is not architecture-pure because providers and deployments differ.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Section divider.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evaluation reports, judge prompts and dataset review rules in the Amazon Reviews track.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PROJECT_CONCLUSIONS.md. F is the fixed investment; N is request volume; c_small and c_large are marginal production costs.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Recommended production pattern derived from PROJECT_CONCLUSIONS.md and the observed critical-error rates.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v2 report limitations, three-model benchmark interpretation, and PROJECT_CONCLUSIONS.md.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Roadmap synthesized from both Amazon evaluation reports and PROJECT_CONCLUSIONS.md.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REPORT_THREE_MODELS_GPT6_JUDGE.md and ft_qwen3_4b_amazon_v2/REPORT.md.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Discussion prompts for project sponsors and technical stakeholders.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End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4747fef65e444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9b2ed3d8bcd4202" /><Relationship Type="http://schemas.openxmlformats.org/officeDocument/2006/relationships/slideLayout" Target="/ppt/slideLayouts/slideLayout1.xml" Id="Rb15589f5e5034f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15589f5e5034f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fa8fd9a43d4d68" /><Relationship Type="http://schemas.openxmlformats.org/officeDocument/2006/relationships/image" Target="/ppt/media/image.png" Id="R0d00913e2c2a4df1" /><Relationship Type="http://schemas.openxmlformats.org/officeDocument/2006/relationships/image" Target="/ppt/media/image2.png" Id="Re2a6973447264bd8" /><Relationship Type="http://schemas.openxmlformats.org/officeDocument/2006/relationships/notesSlide" Target="/ppt/notesSlides/notesSlide1.xml" Id="R166d0fe984a149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d28a11afff49ac" /><Relationship Type="http://schemas.openxmlformats.org/officeDocument/2006/relationships/image" Target="/ppt/media/image3.png" Id="Rbf22f1348f6f411b" /><Relationship Type="http://schemas.openxmlformats.org/officeDocument/2006/relationships/notesSlide" Target="/ppt/notesSlides/notesSlide2.xml" Id="R962b829b52314f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40958fd22143ba" /><Relationship Type="http://schemas.openxmlformats.org/officeDocument/2006/relationships/image" Target="/ppt/media/image4.png" Id="Ra76677eae18c4ac6" /><Relationship Type="http://schemas.openxmlformats.org/officeDocument/2006/relationships/notesSlide" Target="/ppt/notesSlides/notesSlide3.xml" Id="R3f3da1e559ac475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1cd01dadff4333" /><Relationship Type="http://schemas.openxmlformats.org/officeDocument/2006/relationships/image" Target="/ppt/media/image5.png" Id="R3d773183d18d47cd" /><Relationship Type="http://schemas.openxmlformats.org/officeDocument/2006/relationships/notesSlide" Target="/ppt/notesSlides/notesSlide4.xml" Id="R31e6742661fa454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e266f17c0046cb" /><Relationship Type="http://schemas.openxmlformats.org/officeDocument/2006/relationships/image" Target="/ppt/media/image6.png" Id="Raf0aee7523654330" /><Relationship Type="http://schemas.openxmlformats.org/officeDocument/2006/relationships/notesSlide" Target="/ppt/notesSlides/notesSlide5.xml" Id="R2e47a865d0c64f3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6370701875499f" /><Relationship Type="http://schemas.openxmlformats.org/officeDocument/2006/relationships/image" Target="/ppt/media/image7.png" Id="Ref41ac6363c94d38" /><Relationship Type="http://schemas.openxmlformats.org/officeDocument/2006/relationships/chart" Target="/ppt/slides/charts/chart1.xml" Id="R21f3f1dc395f472d" /><Relationship Type="http://schemas.openxmlformats.org/officeDocument/2006/relationships/notesSlide" Target="/ppt/notesSlides/notesSlide6.xml" Id="R09a76f4b0e61453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7aa360648444c4" /><Relationship Type="http://schemas.openxmlformats.org/officeDocument/2006/relationships/image" Target="/ppt/media/image8.png" Id="Rcf3d7ebb52ad4920" /><Relationship Type="http://schemas.openxmlformats.org/officeDocument/2006/relationships/notesSlide" Target="/ppt/notesSlides/notesSlide7.xml" Id="R14c02d4056a84b2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db8de060fb4e04" /><Relationship Type="http://schemas.openxmlformats.org/officeDocument/2006/relationships/image" Target="/ppt/media/image9.png" Id="R6a8e724af807466c" /><Relationship Type="http://schemas.openxmlformats.org/officeDocument/2006/relationships/notesSlide" Target="/ppt/notesSlides/notesSlide8.xml" Id="Rb268da9caa5e43f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45702d7ee34380" /><Relationship Type="http://schemas.openxmlformats.org/officeDocument/2006/relationships/image" Target="/ppt/media/image10.png" Id="Raa463aa823154241" /><Relationship Type="http://schemas.openxmlformats.org/officeDocument/2006/relationships/chart" Target="/ppt/slides/charts/chart2.xml" Id="R2b2fff91ed7447b9" /><Relationship Type="http://schemas.openxmlformats.org/officeDocument/2006/relationships/notesSlide" Target="/ppt/notesSlides/notesSlide9.xml" Id="R55a5c6df94c6424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c34f9ff54544a3" /><Relationship Type="http://schemas.openxmlformats.org/officeDocument/2006/relationships/image" Target="/ppt/media/image11.png" Id="R60a464c75fd14ca7" /><Relationship Type="http://schemas.openxmlformats.org/officeDocument/2006/relationships/chart" Target="/ppt/slides/charts/chart3.xml" Id="R917e58bf2fc94e4e" /><Relationship Type="http://schemas.openxmlformats.org/officeDocument/2006/relationships/notesSlide" Target="/ppt/notesSlides/notesSlide10.xml" Id="R84865d85a264487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33462c35754aaa" /><Relationship Type="http://schemas.openxmlformats.org/officeDocument/2006/relationships/image" Target="/ppt/media/image12.png" Id="R90db393e21bf4bb2" /><Relationship Type="http://schemas.openxmlformats.org/officeDocument/2006/relationships/notesSlide" Target="/ppt/notesSlides/notesSlide11.xml" Id="Re434ed61d5cd46c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b121ff7d894f57" /><Relationship Type="http://schemas.openxmlformats.org/officeDocument/2006/relationships/image" Target="/ppt/media/image13.png" Id="R14f562ffed1b4100" /><Relationship Type="http://schemas.openxmlformats.org/officeDocument/2006/relationships/notesSlide" Target="/ppt/notesSlides/notesSlide12.xml" Id="R811cde1533d6432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ffcd0615094d9a" /><Relationship Type="http://schemas.openxmlformats.org/officeDocument/2006/relationships/image" Target="/ppt/media/image14.png" Id="Rdc174bc727e74973" /><Relationship Type="http://schemas.openxmlformats.org/officeDocument/2006/relationships/notesSlide" Target="/ppt/notesSlides/notesSlide13.xml" Id="R3bb2ec8f3a1f4e7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d82d56b43a461c" /><Relationship Type="http://schemas.openxmlformats.org/officeDocument/2006/relationships/image" Target="/ppt/media/image15.png" Id="R463b653d49764d69" /><Relationship Type="http://schemas.openxmlformats.org/officeDocument/2006/relationships/notesSlide" Target="/ppt/notesSlides/notesSlide14.xml" Id="R70b29a917d54485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9655ea0b564825" /><Relationship Type="http://schemas.openxmlformats.org/officeDocument/2006/relationships/image" Target="/ppt/media/image16.png" Id="R4f710da20097466d" /><Relationship Type="http://schemas.openxmlformats.org/officeDocument/2006/relationships/notesSlide" Target="/ppt/notesSlides/notesSlide15.xml" Id="Ree6540df7b8d48b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555a82e8674008" /><Relationship Type="http://schemas.openxmlformats.org/officeDocument/2006/relationships/image" Target="/ppt/media/image17.png" Id="Rdb1584642dde4e58" /><Relationship Type="http://schemas.openxmlformats.org/officeDocument/2006/relationships/notesSlide" Target="/ppt/notesSlides/notesSlide16.xml" Id="Rc131b1c78869456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d3254d9aa5414d" /><Relationship Type="http://schemas.openxmlformats.org/officeDocument/2006/relationships/image" Target="/ppt/media/image18.png" Id="R023fbebeb6c74102" /><Relationship Type="http://schemas.openxmlformats.org/officeDocument/2006/relationships/notesSlide" Target="/ppt/notesSlides/notesSlide17.xml" Id="R704efbe355da47e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233e0c03bf4e17" /><Relationship Type="http://schemas.openxmlformats.org/officeDocument/2006/relationships/image" Target="/ppt/media/image19.png" Id="R848b586b7f114bb0" /><Relationship Type="http://schemas.openxmlformats.org/officeDocument/2006/relationships/notesSlide" Target="/ppt/notesSlides/notesSlide18.xml" Id="Rb46741d8546947e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da8bee45494301" /><Relationship Type="http://schemas.openxmlformats.org/officeDocument/2006/relationships/image" Target="/ppt/media/image20.png" Id="Rd2add99493a74fe8" /><Relationship Type="http://schemas.openxmlformats.org/officeDocument/2006/relationships/image" Target="/ppt/media/image21.png" Id="R1d7f601ff8c744c3" /><Relationship Type="http://schemas.openxmlformats.org/officeDocument/2006/relationships/notesSlide" Target="/ppt/notesSlides/notesSlide19.xml" Id="R1bcf9173769148ea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Accuracy</c:v>
          </c:tx>
          <c:spPr>
            <a:solidFill xmlns:a="http://schemas.openxmlformats.org/drawingml/2006/main">
              <a:srgbClr val="3486F6"/>
            </a:solidFill>
          </c:spPr>
          <c:cat>
            <c:strLit>
              <c:ptCount val="5"/>
              <c:pt idx="0">
                <c:v>Qwen3.5 0.8B FT</c:v>
              </c:pt>
              <c:pt idx="1">
                <c:v>Qwen3 0.6B FT</c:v>
              </c:pt>
              <c:pt idx="2">
                <c:v>GPT-5.6 Luna</c:v>
              </c:pt>
              <c:pt idx="3">
                <c:v>GPT-5.6 agent</c:v>
              </c:pt>
              <c:pt idx="4">
                <c:v>GPT-4o agent</c:v>
              </c:pt>
            </c:strLit>
          </c:cat>
          <c:val>
            <c:numLit>
              <c:formatCode>General</c:formatCode>
              <c:ptCount val="5"/>
              <c:pt idx="0">
                <c:v>86.88</c:v>
              </c:pt>
              <c:pt idx="1">
                <c:v>85.06</c:v>
              </c:pt>
              <c:pt idx="2">
                <c:v>85.19</c:v>
              </c:pt>
              <c:pt idx="3">
                <c:v>84.71</c:v>
              </c:pt>
              <c:pt idx="4">
                <c:v>78.15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242424"/>
                  </a:solidFill>
                  <a:latin typeface="Instrument Sans regular"/>
                  <a:ea typeface="Instrument Sans regular"/>
                  <a:cs typeface="Instrument Sans regula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8EF"/>
              </a:solidFill>
              <a:prstDash val="solid"/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Instrument Sans regular"/>
                <a:ea typeface="Instrument Sans regular"/>
                <a:cs typeface="Instrument Sans regular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Judge score</c:v>
          </c:tx>
          <c:spPr>
            <a:solidFill xmlns:a="http://schemas.openxmlformats.org/drawingml/2006/main">
              <a:srgbClr val="765AE8"/>
            </a:solidFill>
          </c:spPr>
          <c:cat>
            <c:strLit>
              <c:ptCount val="3"/>
              <c:pt idx="0">
                <c:v>Qwen3-4B FT v2</c:v>
              </c:pt>
              <c:pt idx="1">
                <c:v>Qwen3-4B base</c:v>
              </c:pt>
              <c:pt idx="2">
                <c:v>GPT-4.1 mini</c:v>
              </c:pt>
            </c:strLit>
          </c:cat>
          <c:val>
            <c:numLit>
              <c:formatCode>General</c:formatCode>
              <c:ptCount val="3"/>
              <c:pt idx="0">
                <c:v>59.24</c:v>
              </c:pt>
              <c:pt idx="1">
                <c:v>41.61</c:v>
              </c:pt>
              <c:pt idx="2">
                <c:v>39.48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242424"/>
                  </a:solidFill>
                  <a:latin typeface="Instrument Sans regular"/>
                  <a:ea typeface="Instrument Sans regular"/>
                  <a:cs typeface="Instrument Sans regula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8EF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Instrument Sans regular"/>
                <a:ea typeface="Instrument Sans regular"/>
                <a:cs typeface="Instrument Sans regular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Output tokens</c:v>
          </c:tx>
          <c:spPr>
            <a:solidFill xmlns:a="http://schemas.openxmlformats.org/drawingml/2006/main">
              <a:srgbClr val="3486F6"/>
            </a:solidFill>
          </c:spPr>
          <c:cat>
            <c:strLit>
              <c:ptCount val="3"/>
              <c:pt idx="0">
                <c:v>Qwen3-4B FT</c:v>
              </c:pt>
              <c:pt idx="1">
                <c:v>Qwen3-4B base</c:v>
              </c:pt>
              <c:pt idx="2">
                <c:v>GPT-4.1 mini</c:v>
              </c:pt>
            </c:strLit>
          </c:cat>
          <c:val>
            <c:numLit>
              <c:formatCode>#,##0</c:formatCode>
              <c:ptCount val="3"/>
              <c:pt idx="0">
                <c:v>17670</c:v>
              </c:pt>
              <c:pt idx="1">
                <c:v>57978</c:v>
              </c:pt>
              <c:pt idx="2">
                <c:v>69066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242424"/>
                  </a:solidFill>
                  <a:latin typeface="Instrument Sans regular"/>
                  <a:ea typeface="Instrument Sans regular"/>
                  <a:cs typeface="Instrument Sans regula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</a:p>
        </c:txPr>
        <c:crossAx val="48672768"/>
      </c:catAx>
      <c:valAx>
        <c:axId val="48672768"/>
        <c:scaling>
          <c:orientation val="minMax"/>
          <c:max val="80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8EF"/>
              </a:solidFill>
              <a:prstDash val="solid"/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Instrument Sans regular"/>
                <a:ea typeface="Instrument Sans regular"/>
                <a:cs typeface="Instrument Sans regular"/>
              </a:defRPr>
            </a:pPr>
          </a:p>
        </c:txPr>
        <c:crossAx val="48650112"/>
        <c:crossBetween val="between"/>
        <c:majorUnit val="20000"/>
      </c:valAx>
    </c:plotArea>
    <c:plotVisOnly val="1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00913e2c2a4df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a6973447264bd8"/>
          <a:stretch xmlns:a="http://schemas.openxmlformats.org/drawingml/2006/main"/>
        </p:blipFill>
        <p:spPr>
          <a:xfrm xmlns:a="http://schemas.openxmlformats.org/drawingml/2006/main">
            <a:off x="7715250" y="914400"/>
            <a:ext cx="4095750" cy="4095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099818-E01C-49C9-85B8-ED2DD1D8D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100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✦ southworks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2AD9D6-037C-4D62-B944-5902E993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800" b="0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Find it, craft it, tell it — your story, made smarter with AI.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10DEFD-703E-45CE-917F-409C7763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28900"/>
            <a:ext cx="6858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531"/>
          </a:bodyPr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4050" b="0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Small Models,</a:t>
            </a:r>
          </a:p>
          <a:p xmlns:a="http://schemas.openxmlformats.org/drawingml/2006/main">
            <a:pPr algn="l">
              <a:defRPr sz="4050" b="0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4050" b="0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Specialized Results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652DA3-6B91-4295-BAC1-50F06E0FE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095750"/>
            <a:ext cx="647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917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PP Telegraf regular"/>
                <a:ea typeface="PP Telegraf regular"/>
                <a:cs typeface="PP Telegraf regular"/>
              </a:defRPr>
            </a:pPr>
            <a:r>
              <a:rPr sz="1800" b="0">
                <a:solidFill>
                  <a:srgbClr val="FFFFFF"/>
                </a:solidFill>
                <a:latin typeface="PP Telegraf regular"/>
                <a:ea typeface="PP Telegraf regular"/>
                <a:cs typeface="PP Telegraf regular"/>
              </a:rPr>
              <a:t>Fine-tuning with Fireworks AI and evaluation with Microsoft Foundry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395266-74CA-47D3-B4D0-A2B0A89A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1912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050" b="0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SOUTHWORKS | Development on Demand</a:t>
            </a:r>
          </a:p>
        </p:txBody>
      </p:sp>
    </p:spTree>
    <p:extLst>
      <p:ext uri="{BB962C8B-B14F-4D97-AF65-F5344CB8AC3E}">
        <p14:creationId xmlns:p14="http://schemas.microsoft.com/office/powerpoint/2010/main" val="190441246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22f1348f6f411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EDAAD3-D5D7-44A2-8DB0-0C588E3F2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619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A770EE-4FF0-4D8E-BB48-CBBE7C895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defRPr>
            </a:pPr>
            <a:r>
              <a:rPr sz="975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rPr>
              <a:t>Summary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35D029-F1F7-4D25-A03A-E348CE9C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47650"/>
            <a:ext cx="866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2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A small model can compete when the domain is narrow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A07C3D-8228-404C-A8A8-CF772F4A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3337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6E0FF5-DAE1-4438-A46F-C7A2E6EF6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038" y="6192869"/>
            <a:ext cx="3569779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Southworks | Development on Demand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05F3D3-63C9-4372-85CB-C88092229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5206" y="6192869"/>
            <a:ext cx="4500563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US | Uruguay | UK | Spain | Peru | Mexico | Colombia | Brazil | Argentina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971DF1-E1A3-4AC0-9CA3-CD2CF141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38200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92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02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The project tests whether a fine-tuned Qwen model can match a general-purpose LLM on a specific business contract, then recover the training investment through cheaper recurring inference.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4CCC29-475A-49E9-9209-2B13D4889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100" b="0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0BFAD2-F408-4444-8902-4419A31F9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431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Banking77 proof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032935-83F6-4BA2-8E21-17CB11A67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943100"/>
            <a:ext cx="809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Qwen3.5-0.8B reached 86.88% accuracy, ahead of GPT-5.6 Luna direct at 85.19%.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31375C-8676-4571-A175-06894C1C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95575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100" b="0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97A1A0-8F16-442E-916A-0D79CDE27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Amazon benchmark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C41914-04B5-4BB0-84EC-B87B543D4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686050"/>
            <a:ext cx="809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518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Qwen3-4B FT improved sharply over the base. GPT-4.1 mini led the broad test, while FT v2 led the narrower purchase test.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2530A7-EFE3-4CA6-A9F4-39FA99AA1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38525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100" b="0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rPr>
              <a:t>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715C75-EACF-4953-95E6-D527185D7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290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Operational signal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4CF4D7-B7D9-48F6-B4DE-FF5241857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429000"/>
            <a:ext cx="809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518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The first Amazon FT used 74.4% fewer output tokens than GPT-4.1 mini and had much lower observed latency.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604D6C-B6DF-496C-B608-A583D9FE4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81475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100" b="0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rPr>
              <a:t>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BC440E-D70D-478E-B431-C222BA40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719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Current limit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BE45B7-F746-44F1-8227-1A808E17F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171950"/>
            <a:ext cx="809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518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The latest FT still has a 66.02% critical-error rate. It needs safer data, deterministic checks and fallback routing.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D5F561-541F-4573-9FF7-7FAC5BD5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24425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100" b="0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rPr>
              <a:t>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4865BE-DE24-41F6-9B64-AFC534FA2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149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Business case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AF20D2-ED81-454A-9F0D-DACF75D5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914900"/>
            <a:ext cx="809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518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Fine-tuning is a fixed investment. Savings accumulate only after production serving costs and traffic are measured.</a:t>
            </a:r>
          </a:p>
        </p:txBody>
      </p:sp>
    </p:spTree>
    <p:extLst>
      <p:ext uri="{BB962C8B-B14F-4D97-AF65-F5344CB8AC3E}">
        <p14:creationId xmlns:p14="http://schemas.microsoft.com/office/powerpoint/2010/main" val="16704311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6677eae18c4ac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933574-556C-4D02-B38D-B161E8B3C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619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8B4D34-EB90-489E-BB9E-6E33B3FA6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defRPr>
            </a:pPr>
            <a:r>
              <a:rPr sz="975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rPr>
              <a:t>Objective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F860FC-BD07-452C-8CC8-FADC87232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47650"/>
            <a:ext cx="866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2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The comparison we designed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174E4D-74B8-4DB7-AC12-12242FE51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3337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4313BC-351F-436E-B2BE-B3AB2C659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038" y="6192869"/>
            <a:ext cx="3569779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Southworks | Development on Demand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554766-B904-40BE-AA53-20D9336EE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5206" y="6192869"/>
            <a:ext cx="4500563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US | Uruguay | UK | Spain | Peru | Mexico | Colombia | Brazil | Argentina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260CC5-E25B-4BD1-A51E-BA7FC68EC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953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02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One stable domain, two operating models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B648B9-CAB0-4087-B289-67627797A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0200"/>
            <a:ext cx="4762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3486F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076E12-2186-433E-B7A9-2E9647E24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100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rPr>
              <a:t>Small specialized 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B5FA20-6423-432C-BC42-E4F3B479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8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Qwen 0.6B to 4B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AF6641-AB25-4FFD-85E2-F5C120640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14650"/>
            <a:ext cx="39052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Fine-tuned on approved examples</a:t>
            </a:r>
          </a:p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Short task contract at inference</a:t>
            </a:r>
          </a:p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Controlled output format</a:t>
            </a:r>
          </a:p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Dedicated deployment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75E45F-E497-4A1F-B84C-086D6AE34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600200"/>
            <a:ext cx="4762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4EAF8"/>
          </a:solidFill>
          <a:ln xmlns:a="http://schemas.openxmlformats.org/drawingml/2006/main" w="9525">
            <a:solidFill>
              <a:srgbClr val="765AE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D04EF0-1C8D-4591-8C65-319AB9B3B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8478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65AE8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100" b="1">
                <a:solidFill>
                  <a:srgbClr val="765AE8"/>
                </a:solidFill>
                <a:latin typeface="Instrument Sans regular"/>
                <a:ea typeface="Instrument Sans regular"/>
                <a:cs typeface="Instrument Sans regular"/>
              </a:rPr>
              <a:t>General-purpose LLM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EDEA6E-67A3-4538-9192-B2649AEE0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431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8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GPT-4.1 mini and GPT baselines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FB9B4B-14D9-4FE2-B324-70EC0304E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67050"/>
            <a:ext cx="39052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Zero-shot or prompted behavior</a:t>
            </a:r>
          </a:p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Instructions repeated at inference</a:t>
            </a:r>
          </a:p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Broader reasoning capability</a:t>
            </a:r>
          </a:p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Hosted API or agent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E46433-52F4-4A17-AECC-43B85314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292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Same held-out cases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9B6EBC-BBFE-413F-8569-0864C0D5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791200"/>
            <a:ext cx="518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Quality · critical errors · latency · tokens · cost</a:t>
            </a:r>
          </a:p>
        </p:txBody>
      </p:sp>
    </p:spTree>
    <p:extLst>
      <p:ext uri="{BB962C8B-B14F-4D97-AF65-F5344CB8AC3E}">
        <p14:creationId xmlns:p14="http://schemas.microsoft.com/office/powerpoint/2010/main" val="90567713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773183d18d47c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0CCFA3-37B1-42DC-A0DE-10D53556B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619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D6218C-A888-4ECB-86EE-36F2108E3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defRPr>
            </a:pPr>
            <a:r>
              <a:rPr sz="975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rPr>
              <a:t>Process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6B7B31-4353-40E7-89C8-3F5D6379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47650"/>
            <a:ext cx="866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2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From raw evidence to a comparable benchmark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8F9DC1-0F46-4195-A1EB-931B8C8C1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3337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5CDB2D-745E-4A72-BC55-3FDF075DA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038" y="6192869"/>
            <a:ext cx="3569779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Southworks | Development on Demand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2A43B5-6B84-4A47-A4FA-97EA3421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5206" y="6192869"/>
            <a:ext cx="4500563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US | Uruguay | UK | Spain | Peru | Mexico | Colombia | Brazil | Argentina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059B95-6630-4CCC-8783-BD8873341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2619375" cy="4095750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D9B5D1-3B70-4465-B86A-52E5AA2C0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2619375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3486F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08CC30-26BD-4865-A2B8-8B3ED934C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2352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1  Build 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2A1E0E-8C02-4645-9FC4-27F83A4FC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223837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Select source evidence. Group by product or intent. Remove leakage and duplicates.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D4945B-B39A-42F6-8AAE-309ADD1B4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7750"/>
            <a:ext cx="223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rPr>
              <a:t>Output: versioned dataset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738590-3E4F-48E7-B446-4DD2992A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409700"/>
            <a:ext cx="2619375" cy="4095750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4A4966-913D-4D2F-97FB-E65889328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409700"/>
            <a:ext cx="2619375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5936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AB533B-BE95-4DE8-8F02-D9D0CBBA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1543050"/>
            <a:ext cx="2352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2  Generate and 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71D523-54ED-4267-A645-34D34EC8C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228850"/>
            <a:ext cx="223837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Create supervised examples. Apply automatic rules and human review.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B413FC-C604-4FAA-9380-3873D3F7F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857750"/>
            <a:ext cx="223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rPr>
              <a:t>Output: approved SFT set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74B00B-D50E-4C8E-8606-E6D591A6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409700"/>
            <a:ext cx="2619375" cy="4095750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D8547C-45F7-42F6-AB9A-B993BDF90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409700"/>
            <a:ext cx="2619375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765AE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BE0E62-43BD-49B6-92AD-D69C6403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543050"/>
            <a:ext cx="2352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3  Train and deploy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1A7BB1-87ED-4354-A1E3-EAF96F341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28850"/>
            <a:ext cx="223837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Fine-tune Qwen on Fireworks AI. Keep base and FT endpoints available.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9CA54B-E477-4CDD-A464-BFE6D148F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857750"/>
            <a:ext cx="223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65AE8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1">
                <a:solidFill>
                  <a:srgbClr val="765AE8"/>
                </a:solidFill>
                <a:latin typeface="Instrument Sans regular"/>
                <a:ea typeface="Instrument Sans regular"/>
                <a:cs typeface="Instrument Sans regular"/>
              </a:rPr>
              <a:t>Output: model deployment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88270C-B915-4789-8BAE-B289FE133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1409700"/>
            <a:ext cx="2333625" cy="4095750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358ECE-0E04-4148-90C8-352868B0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1409700"/>
            <a:ext cx="2333625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76D8C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863A76-EEE4-4E06-9F41-044831896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1543050"/>
            <a:ext cx="2066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4  Evaluate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9DCC89-BB06-47BD-AD5A-2D03A492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228850"/>
            <a:ext cx="195262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Run identical held-out cases through base, FT and GPT. Judge blind and inspect errors.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55AFC6-9884-43DC-A750-D6735502E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48577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85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D8C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1">
                <a:solidFill>
                  <a:srgbClr val="176D8C"/>
                </a:solidFill>
                <a:latin typeface="Instrument Sans regular"/>
                <a:ea typeface="Instrument Sans regular"/>
                <a:cs typeface="Instrument Sans regular"/>
              </a:rPr>
              <a:t>Output: decision report</a:t>
            </a:r>
          </a:p>
        </p:txBody>
      </p:sp>
    </p:spTree>
    <p:extLst>
      <p:ext uri="{BB962C8B-B14F-4D97-AF65-F5344CB8AC3E}">
        <p14:creationId xmlns:p14="http://schemas.microsoft.com/office/powerpoint/2010/main" val="47455221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0aee752365433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CE7706-B7AA-4EE4-8764-443C8463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619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0AFD51-758F-463C-97F6-406131F1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defRPr>
            </a:pPr>
            <a:r>
              <a:rPr sz="975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rPr>
              <a:t>Implementation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004B53-0087-491A-A4F5-28B48092C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47650"/>
            <a:ext cx="866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2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Fireworks AI and Microsoft Foundry have different roles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627683-1C41-4990-A589-CB8340AA2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3337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472D20-52A8-4D09-8AB7-3919E3FBC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038" y="6192869"/>
            <a:ext cx="3569779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Southworks | Development on Demand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CFC84C-F980-420F-9373-30AFEB109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5206" y="6192869"/>
            <a:ext cx="4500563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US | Uruguay | UK | Spain | Peru | Mexico | Colombia | Brazil | Argentina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666750" y="1257300"/>
          <a:ext xmlns:a="http://schemas.openxmlformats.org/drawingml/2006/main" cx="108585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4143375"/>
                <a:gridCol w="4143375"/>
              </a:tblGrid>
              <a:tr h="6191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Capability</a:t>
                      </a:r>
                    </a:p>
                  </a:txBody>
                  <a:tcPr marL="95250" marR="76200" marT="57150" marB="38100">
                    <a:solidFill>
                      <a:srgbClr val="70AC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Fireworks AI</a:t>
                      </a:r>
                    </a:p>
                  </a:txBody>
                  <a:tcPr marL="95250" marR="76200" marT="57150" marB="38100">
                    <a:solidFill>
                      <a:srgbClr val="70AC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Microsoft Foundry</a:t>
                      </a:r>
                    </a:p>
                  </a:txBody>
                  <a:tcPr marL="95250" marR="76200" marT="57150" marB="38100">
                    <a:solidFill>
                      <a:srgbClr val="70ACEA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Small-model serving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Qwen base and fine-tuned deployments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Catalog and deployment feasibility checks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Fine-tuning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Qwen3-4B supervised fine-tunes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Teacher and validation workflows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Large-model baseline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Qwen base comparison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GPT-4.1 mini, GPT-5.6 Luna and GPT agents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Evaluation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Token, latency and response capture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Hosted inference and judge workflows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Project value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Fast iteration on compact models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Generalist baselines and model-assisted evaluation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672D1B-9C90-4CDC-B6C5-E38F26513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1020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54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6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The benchmark joins both platforms into one decision process: train the specialist, test it against a strong generalist, then inspect the failures.</a:t>
            </a:r>
          </a:p>
        </p:txBody>
      </p:sp>
    </p:spTree>
    <p:extLst>
      <p:ext uri="{BB962C8B-B14F-4D97-AF65-F5344CB8AC3E}">
        <p14:creationId xmlns:p14="http://schemas.microsoft.com/office/powerpoint/2010/main" val="60092290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41ac6363c94d3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E3F7CC-64ED-40D8-8674-2D84B22F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619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46E79E-752E-4855-9D86-BA58F798C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defRPr>
            </a:pPr>
            <a:r>
              <a:rPr sz="975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rPr>
              <a:t>Proof of concept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2D7D14-B9A6-4945-A4F9-6784D1B44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47650"/>
            <a:ext cx="866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2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Banking77 showed parity with a sub-billion-parameter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9AE4DC-49B0-4F06-BE89-A08A4498A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3337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5BD7BF-5E06-4EAF-9B71-B1E8E00E3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038" y="6192869"/>
            <a:ext cx="3569779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Southworks | Development on Demand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B40E80-CC09-4FA1-9252-3656B40B0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5206" y="6192869"/>
            <a:ext cx="4500563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US | Uruguay | UK | Spain | Peru | Mexico | Colombia | Brazil | Argentina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D88320-AE88-46E6-8E1C-335CBD87A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25717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6E458A-43E1-4713-BB41-CBFCF3BED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19200"/>
            <a:ext cx="215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028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3600" b="0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rPr>
              <a:t>86.88%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F965A3-CD57-4B9C-900B-28C83050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66900"/>
            <a:ext cx="215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Qwen3.5-0.8B accuracy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858D1F-3424-46D8-900A-BCC70D696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066800"/>
            <a:ext cx="25717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5DCB7D-06F4-4A50-8F1B-EABEF7E32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219200"/>
            <a:ext cx="215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028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765AE8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3600" b="0">
                <a:solidFill>
                  <a:srgbClr val="765AE8"/>
                </a:solidFill>
                <a:latin typeface="Instrument Sans regular"/>
                <a:ea typeface="Instrument Sans regular"/>
                <a:cs typeface="Instrument Sans regular"/>
              </a:rPr>
              <a:t>85.19%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67F083-D0BF-4396-A80D-14ED3FA34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866900"/>
            <a:ext cx="215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GPT-5.6 Luna accuracy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0D0D8B-BCF7-4841-9EE3-E82F7634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066800"/>
            <a:ext cx="25717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8EA3B4-B065-4ECE-A6BD-D7E8AAC98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219200"/>
            <a:ext cx="215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028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3600" b="0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rPr>
              <a:t>35.3×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EB2EE0-A25B-4488-B736-CE9811AE7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66900"/>
            <a:ext cx="215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more tokens for direct GPT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42C16A-F17E-4C1F-A1A2-DE1B0CC06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066800"/>
            <a:ext cx="25717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00EDDD-7282-443B-A4CF-E1E0C265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219200"/>
            <a:ext cx="215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028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76D8C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3600" b="0">
                <a:solidFill>
                  <a:srgbClr val="176D8C"/>
                </a:solidFill>
                <a:latin typeface="Instrument Sans regular"/>
                <a:ea typeface="Instrument Sans regular"/>
                <a:cs typeface="Instrument Sans regular"/>
              </a:rPr>
              <a:t>3,080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D2F93D-90DD-46BD-A042-89918CFF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866900"/>
            <a:ext cx="2152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shared test examples</a:t>
            </a:r>
          </a:p>
        </p:txBody>
      </p:sp>
      <p:graphicFrame>
        <p:nvGraphicFramePr>
          <p:cNvPr id="44" name="Chart"/>
          <p:cNvGraphicFramePr/>
          <p:nvPr/>
        </p:nvGraphicFramePr>
        <p:xfrm>
          <a:off xmlns:a="http://schemas.openxmlformats.org/drawingml/2006/main" x="838200" y="3067050"/>
          <a:ext xmlns:a="http://schemas.openxmlformats.org/drawingml/2006/main" cx="6667500" cy="2667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1f3f1dc395f472d"/>
          </a:graphicData>
        </a:graphic>
      </p:graphicFrame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F01D03-D913-4FB6-B34E-D5DD7A81B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575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7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Closed-label classification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706815-EB46-453D-82AC-82606ABA4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95700"/>
            <a:ext cx="31432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The specialist encodes the 77-class contract in its weights. The generalist receives instructions and labels repeatedly.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4A1AE2-9B84-446A-82C8-2C99BEEB3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482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00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rPr>
              <a:t>Result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E5F2C0-9A02-4C22-8C8D-13FA884A7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149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1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The 0.8B model delivered the highest test quality.</a:t>
            </a:r>
          </a:p>
        </p:txBody>
      </p:sp>
    </p:spTree>
    <p:extLst>
      <p:ext uri="{BB962C8B-B14F-4D97-AF65-F5344CB8AC3E}">
        <p14:creationId xmlns:p14="http://schemas.microsoft.com/office/powerpoint/2010/main" val="82434767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3d7ebb52ad492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31A114-2435-4F0D-9C98-DB303C2E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619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8DF706-01A8-4E6B-A16C-C42A72635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defRPr>
            </a:pPr>
            <a:r>
              <a:rPr sz="975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rPr>
              <a:t>Primary benchmark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FE5EA5-B1A8-4878-9393-28ECB73D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47650"/>
            <a:ext cx="866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2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Amazon Reviews tests a generative business task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B41BD0-8776-437C-BAD2-A6FA48C5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3337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B11488-5B86-4DBE-82D9-A8777B8F8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038" y="6192869"/>
            <a:ext cx="3569779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Southworks | Development on Demand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574BC4-5C49-4FDD-A92D-FC11047B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5206" y="6192869"/>
            <a:ext cx="4500563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US | Uruguay | UK | Spain | Peru | Mexico | Colombia | Brazil | Argentina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18B58B-F2BE-4E61-B2FF-5308DC22C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rPr>
              <a:t>Evidence 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BA72AC-0AFA-4377-AC97-B4FE670D6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8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Product metadata + customer reviews + user requirements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84A32A-0F4C-4AF5-913E-87DFD67EA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rPr>
              <a:t>Model contract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EC9735-3A7D-47B6-B3D6-EAE087406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8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Grounded answer with one of four purchase decisions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A9C6C5-BCF5-451A-A406-10EB9D048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65AE8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765AE8"/>
                </a:solidFill>
                <a:latin typeface="Instrument Sans regular"/>
                <a:ea typeface="Instrument Sans regular"/>
                <a:cs typeface="Instrument Sans regular"/>
              </a:rPr>
              <a:t>Outputs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D88023-130A-4BEB-BF7B-44FCC332E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4476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035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8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Pros and cons, use cases, common problems and purchase recommendation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CD80D6-39CF-4CA7-B07C-5E54074B8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143000"/>
            <a:ext cx="5143500" cy="3886200"/>
          </a:xfrm>
          <a:prstGeom xmlns:a="http://schemas.openxmlformats.org/drawingml/2006/main" prst="roundRect">
            <a:avLst>
              <a:gd name="adj" fmla="val 1961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C9D7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9ABFE6-C741-4A07-A6D5-AC4CD906B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4287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87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Leakage controls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140A17-BE6B-4C69-9733-3FFFEAC6E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00250"/>
            <a:ext cx="228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3486F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1512E3-513A-4806-96A4-A4F9263E5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9431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Split by product, not by individual 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67742A-0097-42BC-B1FD-0A09F6FED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52700"/>
            <a:ext cx="228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5936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2E128A-2195-4B6E-BBB4-1DD0AC690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955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458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Exclude training products from held-out evaluation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105390-9E86-40EB-9B99-64AE8E0DF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05150"/>
            <a:ext cx="228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765AE8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64E718-4353-4044-97F4-7EAFCA77C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0480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Preserve evidence IDs outside model-visible text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8D1360-EA77-4147-AABC-FCC4C1EA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57600"/>
            <a:ext cx="228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76D8C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C4192C-A17F-4A0C-8947-5444149BD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6004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Run base, FT and GPT on identical cases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B4CF64-7A0E-4C9F-9FF1-52E36F84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10050"/>
            <a:ext cx="228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6339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E3CA0A-662D-4A03-B169-2C8BBF5A3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1529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Present outputs blindly to the judge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4AC2E4-F131-4C3D-9834-BA96F242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054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103-case v2 set: 51 DO_NOT_BUY · 24 CONDITIONAL_BUY · 24 INSUFFICIENT_EVIDENCE · 4 BUY</a:t>
            </a:r>
          </a:p>
        </p:txBody>
      </p:sp>
    </p:spTree>
    <p:extLst>
      <p:ext uri="{BB962C8B-B14F-4D97-AF65-F5344CB8AC3E}">
        <p14:creationId xmlns:p14="http://schemas.microsoft.com/office/powerpoint/2010/main" val="126731845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8e724af807466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2885F0-B76A-409F-BF75-1D4771A6B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619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6339B7-6F08-4C28-9777-BFBE4B20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defRPr>
            </a:pPr>
            <a:r>
              <a:rPr sz="975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rPr>
              <a:t>Results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A0B85B-EDAD-46BA-8097-BADAE0C14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47650"/>
            <a:ext cx="866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2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Broad benchmark: GPT-4.1 mini led overall quality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44C95E-9A03-42B8-8304-BD64F6E5B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3337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C32158-A6E4-4E55-828B-47449D160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038" y="6192869"/>
            <a:ext cx="3569779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Southworks | Development on Demand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8E6D49-1A73-455A-9C10-864F908C3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5206" y="6192869"/>
            <a:ext cx="4500563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US | Uruguay | UK | Spain | Peru | Mexico | Colombia | Brazil | Argentina</a:t>
            </a:r>
          </a:p>
        </p:txBody>
      </p:sp>
      <p:graphicFrame>
        <p:nvGraphicFramePr>
          <p:cNvPr id="29" name=""/>
          <p:cNvGraphicFramePr/>
          <p:nvPr/>
        </p:nvGraphicFramePr>
        <p:xfrm>
          <a:off xmlns:a="http://schemas.openxmlformats.org/drawingml/2006/main" x="552450" y="1162050"/>
          <a:ext xmlns:a="http://schemas.openxmlformats.org/drawingml/2006/main" cx="11087100" cy="2190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1571625"/>
                <a:gridCol w="1476375"/>
                <a:gridCol w="1666875"/>
                <a:gridCol w="1762125"/>
                <a:gridCol w="1847850"/>
              </a:tblGrid>
              <a:tr h="547688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Model</a:t>
                      </a:r>
                    </a:p>
                  </a:txBody>
                  <a:tcPr marL="95250" marR="76200" marT="57150" marB="38100">
                    <a:solidFill>
                      <a:srgbClr val="70AC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Quality /100</a:t>
                      </a:r>
                    </a:p>
                  </a:txBody>
                  <a:tcPr marL="95250" marR="76200" marT="57150" marB="38100">
                    <a:solidFill>
                      <a:srgbClr val="70AC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Pass rate</a:t>
                      </a:r>
                    </a:p>
                  </a:txBody>
                  <a:tcPr marL="95250" marR="76200" marT="57150" marB="38100">
                    <a:solidFill>
                      <a:srgbClr val="70AC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Critical errors</a:t>
                      </a:r>
                    </a:p>
                  </a:txBody>
                  <a:tcPr marL="95250" marR="76200" marT="57150" marB="38100">
                    <a:solidFill>
                      <a:srgbClr val="70AC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Output tokens</a:t>
                      </a:r>
                    </a:p>
                  </a:txBody>
                  <a:tcPr marL="95250" marR="76200" marT="57150" marB="38100">
                    <a:solidFill>
                      <a:srgbClr val="70AC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Mean latency</a:t>
                      </a:r>
                    </a:p>
                  </a:txBody>
                  <a:tcPr marL="95250" marR="76200" marT="57150" marB="38100">
                    <a:solidFill>
                      <a:srgbClr val="70ACEA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GPT-4.1 mini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81.61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65.0%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17.0%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69,066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9.93 s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Qwen3-4B FT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74.58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47.5%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23.0%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17,670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1.32 s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Qwen3-4B base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65.09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25.5%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46.5%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57,978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1.54 s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69CF55-BF4B-4EE9-BBE1-9FDE46FC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24765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AD2A13-FD20-4721-A0EC-41B8F986E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81450"/>
            <a:ext cx="205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028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3600" b="0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rPr>
              <a:t>+9.49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B54E22-69EE-4DEC-AFAD-D35613796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29150"/>
            <a:ext cx="205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quality points vs. base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504AB4-6D7F-4726-A396-B76DE2A0C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29050"/>
            <a:ext cx="24765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92BF98-296B-42F6-AA51-48DAD7981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981450"/>
            <a:ext cx="205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028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3600" b="0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rPr>
              <a:t>+22 pp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D1CE4C-F1E3-4DF1-9369-43E86FFC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629150"/>
            <a:ext cx="205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pass rate vs. base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C25594-D13C-4C7D-BBFD-36A17B5E8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829050"/>
            <a:ext cx="24765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E9F11C-E8DF-4E1D-A7AF-F261E258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81450"/>
            <a:ext cx="205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028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3600" b="0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rPr>
              <a:t>−23.5 pp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47D44C-1B48-47C8-9AAB-0AD251F7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29150"/>
            <a:ext cx="205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critical errors vs. base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733B33-3F9B-4F94-A9AA-B2308F6B5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829050"/>
            <a:ext cx="24765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9566F4-444B-403A-A255-6EBDB8156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981450"/>
            <a:ext cx="205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028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3600" b="0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rPr>
              <a:t>−74.4%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05040B-85A0-4CD7-A974-73368D865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629150"/>
            <a:ext cx="205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output tokens vs. GPT-4.1 mini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EC2C9C-DFC3-42E0-8C9D-2B0221F92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340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127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7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GPT-4.1 mini won the general benchmark. Fine-tuning still moved the 4B model much closer while making responses shorter and faster in the observed deployments.</a:t>
            </a:r>
          </a:p>
        </p:txBody>
      </p:sp>
    </p:spTree>
    <p:extLst>
      <p:ext uri="{BB962C8B-B14F-4D97-AF65-F5344CB8AC3E}">
        <p14:creationId xmlns:p14="http://schemas.microsoft.com/office/powerpoint/2010/main" val="84827278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463aa82315424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44264B-5750-4C12-853C-09010756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619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D7D604-4D44-4ECA-B5B5-7C51E8BD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defRPr>
            </a:pPr>
            <a:r>
              <a:rPr sz="975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rPr>
              <a:t>Results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480722-2DD3-4E67-9B68-0D9E0578C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47650"/>
            <a:ext cx="866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2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Narrow benchmark: FT v2 led, but remained unsafe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224A61-AE38-47B1-8606-B8D94288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3337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872EDA-A6E6-4D43-896B-952182C60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038" y="6192869"/>
            <a:ext cx="3569779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Southworks | Development on Demand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77A26C-EB31-45FB-B351-895BE970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5206" y="6192869"/>
            <a:ext cx="4500563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US | Uruguay | UK | Spain | Peru | Mexico | Colombia | Brazil | Argentina</a:t>
            </a:r>
          </a:p>
        </p:txBody>
      </p:sp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590550" y="1219200"/>
          <a:ext xmlns:a="http://schemas.openxmlformats.org/drawingml/2006/main" cx="63817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b2fff91ed7447b9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302EF5-FB46-4339-A908-C3508A702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200150"/>
            <a:ext cx="35242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C1E4AD-D1FD-4F8B-8870-A6B6DAE53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35255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028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3600" b="0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rPr>
              <a:t>72.82%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E42695-EB74-4A5B-895A-A35AD8D6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0025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FT v2 blind win rate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54F904-10B4-4F32-B042-81853C6A5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52750"/>
            <a:ext cx="35242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2DE79B-6C93-4787-B3D7-58C13E576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0515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028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3600" b="0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rPr>
              <a:t>45.63%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AF39BF-6482-43FF-9931-D724A824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75285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FT v2 decision accuracy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A9F0C6-8E36-4575-9C67-A7F2C0C27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05350"/>
            <a:ext cx="352425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AA77DC-8B90-4D88-A172-50D03A9E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5775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028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D24747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3600" b="0">
                <a:solidFill>
                  <a:srgbClr val="D24747"/>
                </a:solidFill>
                <a:latin typeface="Instrument Sans regular"/>
                <a:ea typeface="Instrument Sans regular"/>
                <a:cs typeface="Instrument Sans regular"/>
              </a:rPr>
              <a:t>66.02%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C740F8-22DC-48F9-A5AC-A4DFB590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50545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FT v2 critical-error rate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641871-E36E-4F57-B99A-C71251A05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48350"/>
            <a:ext cx="981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775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65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The specialist won this constrained comparison. Its absolute safety level still blocks autonomous deployment.</a:t>
            </a:r>
          </a:p>
        </p:txBody>
      </p:sp>
    </p:spTree>
    <p:extLst>
      <p:ext uri="{BB962C8B-B14F-4D97-AF65-F5344CB8AC3E}">
        <p14:creationId xmlns:p14="http://schemas.microsoft.com/office/powerpoint/2010/main" val="26153521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a464c75fd14ca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FE4ED3-3531-419D-B586-DCE9EBE1C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619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28A51C-B9E5-4FB8-9AA2-809390F95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defRPr>
            </a:pPr>
            <a:r>
              <a:rPr sz="975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rPr>
              <a:t>Efficiency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7FA427-1BC4-4DC4-AAF9-570C1536A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47650"/>
            <a:ext cx="866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2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Specialization reduced output volume and observed latency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434508-C4DC-4803-B4D3-4C78536C5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3337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AA75D5-23C5-46A8-8683-0F7864E62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038" y="6192869"/>
            <a:ext cx="3569779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Southworks | Development on Demand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7AEA9A-4719-49B3-BAB5-4A343284B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5206" y="6192869"/>
            <a:ext cx="4500563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US | Uruguay | UK | Spain | Peru | Mexico | Colombia | Brazil | Argentina</a:t>
            </a:r>
          </a:p>
        </p:txBody>
      </p:sp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666750" y="1143000"/>
          <a:ext xmlns:a="http://schemas.openxmlformats.org/drawingml/2006/main" cx="53340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17e58bf2fc94e4e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C7038F-9A8B-44A1-8B31-DD69EAA1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434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Output tokens across 200 cases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97141E-AEFB-4CB7-9C4E-C752AADCB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257300"/>
            <a:ext cx="41910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E9750F-A65D-48A4-B52F-D23DFE6A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409700"/>
            <a:ext cx="377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028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3600" b="0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rPr>
              <a:t>4× less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CD1625-4CE9-4299-BC35-38B0651B5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057400"/>
            <a:ext cx="377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output than GPT-4.1 mini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E5E2B2-B2B2-465D-AA96-37DA7DBB1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86100"/>
            <a:ext cx="41910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CA155D-D596-4770-B386-5668E62B3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238500"/>
            <a:ext cx="377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028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3600" b="0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rPr>
              <a:t>1.32 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D225F1-E026-484D-93E1-2CCB6A90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886200"/>
            <a:ext cx="377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FT mean latency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C72FCB-6FF7-4BED-A8F8-223245378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14900"/>
            <a:ext cx="41910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D1275D-409C-4701-B6E8-D0C9A6EC4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067300"/>
            <a:ext cx="377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028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76D8C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3600" b="0">
                <a:solidFill>
                  <a:srgbClr val="176D8C"/>
                </a:solidFill>
                <a:latin typeface="Instrument Sans regular"/>
                <a:ea typeface="Instrument Sans regular"/>
                <a:cs typeface="Instrument Sans regular"/>
              </a:rPr>
              <a:t>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571D90-619B-448C-8689-1ABCF400A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715000"/>
            <a:ext cx="377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FT responses at 500-token limit</a:t>
            </a:r>
          </a:p>
        </p:txBody>
      </p:sp>
    </p:spTree>
    <p:extLst>
      <p:ext uri="{BB962C8B-B14F-4D97-AF65-F5344CB8AC3E}">
        <p14:creationId xmlns:p14="http://schemas.microsoft.com/office/powerpoint/2010/main" val="114676657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db393e21bf4bb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17B3D2-A603-414B-BC56-261869F1E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86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6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45DBB5-4C39-41A7-BEDF-BD26B78B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724150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3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43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What the work proves</a:t>
            </a:r>
          </a:p>
        </p:txBody>
      </p:sp>
    </p:spTree>
    <p:extLst>
      <p:ext uri="{BB962C8B-B14F-4D97-AF65-F5344CB8AC3E}">
        <p14:creationId xmlns:p14="http://schemas.microsoft.com/office/powerpoint/2010/main" val="127007897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f562ffed1b410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6C9EC6-38C9-482D-A2D7-E08B00165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619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DD5170-A6A3-463E-AAE8-29F696F96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defRPr>
            </a:pPr>
            <a:r>
              <a:rPr sz="975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rPr>
              <a:t>Approach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13DFD3-40BF-486C-9F30-E305E768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47650"/>
            <a:ext cx="866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2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Measure first, then change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7D6EA7-192F-4D07-972B-32EF99914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3337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EF4648-650C-450B-A310-8A599072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038" y="6192869"/>
            <a:ext cx="3569779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Southworks | Development on Demand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A9038C-D516-4BED-AFCC-F7713A93E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5206" y="6192869"/>
            <a:ext cx="4500563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US | Uruguay | UK | Spain | Peru | Mexico | Colombia | Brazil | Argentina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9EA470-58F4-484C-9551-27964AB41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032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7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Every iteration keeps the same held-out evidence and adds a new measurement. Improvements that only look good on training data do not count.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5FE4F1-922B-4339-B982-656ED521E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2571750" cy="36385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17413C-1E78-435E-9496-45FC74CFD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25717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3486F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A2A366-05C7-4BED-AF4F-0774F7D3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2305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1  Baseline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002FFD-CAA4-46D1-9C55-1A44F257C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219075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Run the small base model and the generalist on the same contract.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E9AB7C-F8A8-493C-AE67-5B427A04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434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rPr>
              <a:t>Result: comparison floor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F02F83-8B78-4AA8-BE31-DE76D0B1E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52600"/>
            <a:ext cx="2571750" cy="36385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C1008E-403E-400F-8BFD-9CAD61BA3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52600"/>
            <a:ext cx="25717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5936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8DC0A3-7E57-415B-8AFD-4778F7C74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885950"/>
            <a:ext cx="2305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2  Fine-tune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3B88CA-A53E-4382-BF8C-91C4B1F0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71750"/>
            <a:ext cx="219075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Train on reviewed examples with preserved provenance and split isolation.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8F5C49-BEBF-44F7-94D3-94183DA5F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7434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rPr>
              <a:t>Result: candidate model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6C5CD9-2DAC-4BA5-ADF8-E2AB7B204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52600"/>
            <a:ext cx="2571750" cy="36385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3A6C3B-2D8F-4C51-8D5F-ECE701175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52600"/>
            <a:ext cx="25717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765AE8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83F4B6-F5C0-4304-97A0-75DEEEEDC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85950"/>
            <a:ext cx="2305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3  Blind judge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6F189A-BB0F-4F05-BC47-181207EF6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71750"/>
            <a:ext cx="219075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Randomize model identity and score grounding, rules, coverage and decisions.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03A1D8-E1E4-4207-9886-B8FF99086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434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65AE8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1">
                <a:solidFill>
                  <a:srgbClr val="765AE8"/>
                </a:solidFill>
                <a:latin typeface="Instrument Sans regular"/>
                <a:ea typeface="Instrument Sans regular"/>
                <a:cs typeface="Instrument Sans regular"/>
              </a:rPr>
              <a:t>Result: quality report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CDE34B-53CF-4ED8-BCAE-391D3DFE8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52600"/>
            <a:ext cx="2571750" cy="36385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8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542CA5-EA9B-4132-A483-27BA64CF3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52600"/>
            <a:ext cx="25717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76D8C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ED6FA5-8440-499E-B57D-DEF9AACD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885950"/>
            <a:ext cx="2305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4  Diagnose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FA3B49-FC2A-406A-B270-FCA32C22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71750"/>
            <a:ext cx="219075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Inspect critical errors by class, task and evidence pattern before retraining.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D588AD-8D0F-4FDF-9260-ACC7762ED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7434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82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D8C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1">
                <a:solidFill>
                  <a:srgbClr val="176D8C"/>
                </a:solidFill>
                <a:latin typeface="Instrument Sans regular"/>
                <a:ea typeface="Instrument Sans regular"/>
                <a:cs typeface="Instrument Sans regular"/>
              </a:rPr>
              <a:t>Result: targeted next dataset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11962B-BC43-4A97-AC4B-DB736921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829300"/>
            <a:ext cx="7658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7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The evaluation becomes part of the training loop, not a final presentation step.</a:t>
            </a:r>
          </a:p>
        </p:txBody>
      </p:sp>
    </p:spTree>
    <p:extLst>
      <p:ext uri="{BB962C8B-B14F-4D97-AF65-F5344CB8AC3E}">
        <p14:creationId xmlns:p14="http://schemas.microsoft.com/office/powerpoint/2010/main" val="44880567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174bc727e7497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4B83AE-1DE5-4520-8EEA-DBD5F7790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619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1345EB-D413-4D4C-ADFB-D762D7022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defRPr>
            </a:pPr>
            <a:r>
              <a:rPr sz="975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rPr>
              <a:t>Economics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6A871F-B0FD-426E-A78F-D40037D5D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47650"/>
            <a:ext cx="866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2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The break-even depends on fixed cost and marginal savings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06898A-11FF-42CA-AC59-D56C97377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3337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979464-556F-484C-A10E-D4059B9CE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038" y="6192869"/>
            <a:ext cx="3569779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Southworks | Development on Demand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F7AB6C-9C8A-423F-AFEE-91AAB4E38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5206" y="6192869"/>
            <a:ext cx="4500563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US | Uruguay | UK | Spain | Peru | Mexico | Colombia | Brazil | Argentina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65489C-F17A-401B-82AE-CD66B4E2D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43000"/>
            <a:ext cx="107823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3486F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E82F98-807C-4265-B88A-4B33A144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097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356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175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rPr>
              <a:t>Small-model cost = F + N × c_small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569FF3-E4B3-4DA9-AB0C-B20AD1EA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097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356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65AE8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175" b="1">
                <a:solidFill>
                  <a:srgbClr val="765AE8"/>
                </a:solidFill>
                <a:latin typeface="Instrument Sans regular"/>
                <a:ea typeface="Instrument Sans regular"/>
                <a:cs typeface="Instrument Sans regular"/>
              </a:rPr>
              <a:t>Large-LLM cost = N × c_large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08CEB6-3CCE-4739-A406-7A72EBED9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575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65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Break-even requests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54A999-1F98-499C-8C2D-528B3870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333750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5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30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1EFB22-FE69-40A2-AC1E-7D99E3D09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714750"/>
            <a:ext cx="1257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36111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80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────────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5FA822-085A-4EB9-AC97-0F5CF945B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0005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87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c_large − c_small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726D8C-8097-4825-BC10-AAA02CDC0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7813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8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What must enter the model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FA2815-1D68-4B58-B87D-606CB931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27660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6944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633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800" b="0">
                <a:solidFill>
                  <a:srgbClr val="FF6339"/>
                </a:solidFill>
                <a:latin typeface="Instrument Sans regular"/>
                <a:ea typeface="Instrument Sans regular"/>
                <a:cs typeface="Instrument Sans regular"/>
              </a:rPr>
              <a:t>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5D92A2-D6EE-4C54-914F-7ADCEE8F5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2575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Data preparation and human 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5ECC20-56B1-4299-82A5-D6B9A363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73380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6944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633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800" b="0">
                <a:solidFill>
                  <a:srgbClr val="FF6339"/>
                </a:solidFill>
                <a:latin typeface="Instrument Sans regular"/>
                <a:ea typeface="Instrument Sans regular"/>
                <a:cs typeface="Instrument Sans regular"/>
              </a:rPr>
              <a:t>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856107-A701-4013-9B5B-A0B4F6F5D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7147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Training, evaluation and deployment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89E219-ACB6-4E31-9837-B095DA6EF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19100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6944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633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800" b="0">
                <a:solidFill>
                  <a:srgbClr val="FF6339"/>
                </a:solidFill>
                <a:latin typeface="Instrument Sans regular"/>
                <a:ea typeface="Instrument Sans regular"/>
                <a:cs typeface="Instrument Sans regular"/>
              </a:rPr>
              <a:t>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F1385E-BC06-45A7-B007-49D9E68EA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1719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Hosted input, output and cached-token prices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059CA5-0CB4-4221-8E8C-188C02F8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64820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6944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633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800" b="0">
                <a:solidFill>
                  <a:srgbClr val="FF6339"/>
                </a:solidFill>
                <a:latin typeface="Instrument Sans regular"/>
                <a:ea typeface="Instrument Sans regular"/>
                <a:cs typeface="Instrument Sans regular"/>
              </a:rPr>
              <a:t>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86679F-C525-42D4-9FF0-AFA5C034E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6291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Dedicated GPU utilization and batching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59520A-4275-45A3-9C9C-312CEB1DA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105400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6944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633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800" b="0">
                <a:solidFill>
                  <a:srgbClr val="FF6339"/>
                </a:solidFill>
                <a:latin typeface="Instrument Sans regular"/>
                <a:ea typeface="Instrument Sans regular"/>
                <a:cs typeface="Instrument Sans regular"/>
              </a:rPr>
              <a:t>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2F65CE-BA01-4672-B351-71397995A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0863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Fallback rate to a large LLM or human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6788D5-88C1-4A24-B205-1F41118EC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959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The experiments establish quality and processing differences. They do not yet establish a final dollar break-even because production prices and utilization are still inputs.</a:t>
            </a:r>
          </a:p>
        </p:txBody>
      </p:sp>
    </p:spTree>
    <p:extLst>
      <p:ext uri="{BB962C8B-B14F-4D97-AF65-F5344CB8AC3E}">
        <p14:creationId xmlns:p14="http://schemas.microsoft.com/office/powerpoint/2010/main" val="210231381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3b653d49764d6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BF28E9-BD97-4D87-BC69-EAFF5F43D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619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5797A7-1427-4749-A075-B446E7D84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defRPr>
            </a:pPr>
            <a:r>
              <a:rPr sz="975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rPr>
              <a:t>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6ED5C2-802F-4673-A123-028667CC5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47650"/>
            <a:ext cx="866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2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A hybrid route contains risk and preserves savings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43E4AD-6CD5-4D07-B284-D85F44557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3337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0E672B-CBE4-45CD-A002-B5E5AE064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038" y="6192869"/>
            <a:ext cx="3569779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Southworks | Development on Demand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6448CB-9775-4C09-9B8F-08D419379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5206" y="6192869"/>
            <a:ext cx="4500563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US | Uruguay | UK | Spain | Peru | Mexico | Colombia | Brazil | Argentina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3B0B65-A00F-4596-AEB3-781AC74EA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1619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486F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46BB8A-47BE-4179-901A-E8D9FD360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1390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rPr>
              <a:t>Request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43714B-5040-4684-8A49-04E27D3A5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495550"/>
            <a:ext cx="419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5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DABB31-87BA-4740-B50D-2C415DF73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86000"/>
            <a:ext cx="1619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5936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7A9447-943F-44DA-A546-E540D866C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33650"/>
            <a:ext cx="1390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rPr>
              <a:t>Qwen FT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4DE63C-2256-4CA2-A00D-28D0C376F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95550"/>
            <a:ext cx="419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5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762D83-226F-43EB-974F-53B6A42CD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286000"/>
            <a:ext cx="2000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633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18AC72-4356-4D89-AC5D-3F5903385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533650"/>
            <a:ext cx="1771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7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633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FF6339"/>
                </a:solidFill>
                <a:latin typeface="Instrument Sans regular"/>
                <a:ea typeface="Instrument Sans regular"/>
                <a:cs typeface="Instrument Sans regular"/>
              </a:rPr>
              <a:t>Confidence + rules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ECBEDC-EC69-45C4-B680-1887B442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495550"/>
            <a:ext cx="419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5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F9F139-A448-4E4E-A13D-3EA69C081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86000"/>
            <a:ext cx="1619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65AE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473AE4-9419-484F-BB43-DE85FD5DE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33650"/>
            <a:ext cx="1390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1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65AE8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765AE8"/>
                </a:solidFill>
                <a:latin typeface="Instrument Sans regular"/>
                <a:ea typeface="Instrument Sans regular"/>
                <a:cs typeface="Instrument Sans regular"/>
              </a:rPr>
              <a:t>GPT or human fallback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7A9268-DF24-4F51-8D33-CE99AD7B3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495550"/>
            <a:ext cx="419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5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17E08A-0372-4BA3-BD41-6C2A09C0C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286000"/>
            <a:ext cx="1619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6D8C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89A2BD-E935-4B1A-A39A-9ECE1805F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533650"/>
            <a:ext cx="1390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75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6D8C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176D8C"/>
                </a:solidFill>
                <a:latin typeface="Instrument Sans regular"/>
                <a:ea typeface="Instrument Sans regular"/>
                <a:cs typeface="Instrument Sans regular"/>
              </a:rPr>
              <a:t>Final response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A11723-916D-4D2B-99DF-880620316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385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rPr>
              <a:t>High confidence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443F9C-EE06-4351-81D4-486E73A61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962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accept specialist response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D795F8-4A4F-408F-8CE6-F2B1DC5BA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65AE8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1">
                <a:solidFill>
                  <a:srgbClr val="765AE8"/>
                </a:solidFill>
                <a:latin typeface="Instrument Sans regular"/>
                <a:ea typeface="Instrument Sans regular"/>
                <a:cs typeface="Instrument Sans regular"/>
              </a:rPr>
              <a:t>Low confidence or rule failure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C9A6C2-DC92-4F4B-8057-0F6612557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624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escalate only the difficult cases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5AA3A8-A7C2-4BD8-A312-0743EE23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91100"/>
            <a:ext cx="9334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19ECCF-F6C2-48F9-A25E-143D32DB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1625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rPr>
              <a:t>Target operating model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7E9F0F-7634-488C-B8B7-8C919EA78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105400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254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7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Keep recurring traffic on the small model. Pay for general reasoning only when uncertainty or business risk justifies it.</a:t>
            </a:r>
          </a:p>
        </p:txBody>
      </p:sp>
    </p:spTree>
    <p:extLst>
      <p:ext uri="{BB962C8B-B14F-4D97-AF65-F5344CB8AC3E}">
        <p14:creationId xmlns:p14="http://schemas.microsoft.com/office/powerpoint/2010/main" val="102579038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710da20097466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4DC1D8-D590-4D25-B18D-691882AC8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619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DE2DFF-76DB-4529-8A4B-100D08CA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defRPr>
            </a:pPr>
            <a:r>
              <a:rPr sz="975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rPr>
              <a:t>Considerations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65E151-38DC-473D-8469-141D89961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47650"/>
            <a:ext cx="866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2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Current evidence has four material constraints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1921E4-C2EC-4FDF-8323-A6CDEDD08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3337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FA180D-042E-4C7D-A642-94A6A58DD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038" y="6192869"/>
            <a:ext cx="3569779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Southworks | Development on Demand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1553F2-51AF-44C4-B0BB-F1F14905E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5206" y="6192869"/>
            <a:ext cx="4500563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US | Uruguay | UK | Spain | Peru | Mexico | Colombia | Brazil | Argentina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514350" y="1143000"/>
          <a:ext xmlns:a="http://schemas.openxmlformats.org/drawingml/2006/main" cx="111633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3810000"/>
                <a:gridCol w="5114925"/>
              </a:tblGrid>
              <a:tr h="6191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Constraint</a:t>
                      </a:r>
                    </a:p>
                  </a:txBody>
                  <a:tcPr marL="95250" marR="76200" marT="57150" marB="38100">
                    <a:solidFill>
                      <a:srgbClr val="70AC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Evidence</a:t>
                      </a:r>
                    </a:p>
                  </a:txBody>
                  <a:tcPr marL="95250" marR="76200" marT="57150" marB="38100">
                    <a:solidFill>
                      <a:srgbClr val="70AC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Decision implication</a:t>
                      </a:r>
                    </a:p>
                  </a:txBody>
                  <a:tcPr marL="95250" marR="76200" marT="57150" marB="38100">
                    <a:solidFill>
                      <a:srgbClr val="70ACEA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Critical errors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FT v2: 66.02% on the 103-case set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No autonomous purchase decisions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Class imbalance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Only 4 BUY references in the v2 benchmark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Rebalance before trusting macro-F1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Automated judge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GPT-6 Sol is a single evaluator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Calibrate with blind human review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Cost gap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Production GPU and provider prices not recorded together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Complete a measured cost model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Different deployments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Latency spans Fireworks AI and MS Foundry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Treat latency as observed, not architecture-pure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1A777C-07EA-44FD-9F67-11AFD02AB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4292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D24747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875" b="1">
                <a:solidFill>
                  <a:srgbClr val="D24747"/>
                </a:solidFill>
                <a:latin typeface="Instrument Sans regular"/>
                <a:ea typeface="Instrument Sans regular"/>
                <a:cs typeface="Instrument Sans regular"/>
              </a:rPr>
              <a:t>A strong relative result does not override an unsafe absolute error rate.</a:t>
            </a:r>
          </a:p>
        </p:txBody>
      </p:sp>
    </p:spTree>
    <p:extLst>
      <p:ext uri="{BB962C8B-B14F-4D97-AF65-F5344CB8AC3E}">
        <p14:creationId xmlns:p14="http://schemas.microsoft.com/office/powerpoint/2010/main" val="104329062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1584642dde4e5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4C4A41-E466-4B3B-B560-72B1B7B8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619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147C44-1503-4413-A9F9-925FF4E20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defRPr>
            </a:pPr>
            <a:r>
              <a:rPr sz="975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rPr>
              <a:t>Next steps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3D2FB2-6030-4C8D-B00C-1DBC1A3C9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47650"/>
            <a:ext cx="866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2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Path from prototype evidence to a production decision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D0774A-1B32-40DB-AAA4-E80203C3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3337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FFB0CB-9361-47E5-B9B9-9BBABF656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038" y="6192869"/>
            <a:ext cx="3569779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Southworks | Development on Demand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73EEFC-7E72-4ED0-8F5E-73B65B98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5206" y="6192869"/>
            <a:ext cx="4500563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US | Uruguay | UK | Spain | Peru | Mexico | Colombia | Brazil | Argentina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9B1641-6D00-4C06-8A2A-94AC2EF5F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86F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33947B-49BC-4ED3-91F3-4B2935ACA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20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EE72F1-7A3D-4BDA-BA96-8F97E6FD7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38112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3333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9D7E8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0">
                <a:solidFill>
                  <a:srgbClr val="C9D7E8"/>
                </a:solidFill>
                <a:latin typeface="Instrument Sans regular"/>
                <a:ea typeface="Instrument Sans regular"/>
                <a:cs typeface="Instrument Sans regular"/>
              </a:rPr>
              <a:t>────────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E2CA69-31A9-4F61-8F8D-CE963FB3A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1455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Data v3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FCDFAC-474E-4611-8E5F-74CB1034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0"/>
            <a:ext cx="1809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Balance decisions and add close contrasts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ADF5C8-A293-498F-B020-205144EAC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2382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936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5914E2-0AAC-456B-8C14-7CDA11609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3620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E977D1-DE57-48EC-8D32-C3045DD93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38112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3333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9D7E8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0">
                <a:solidFill>
                  <a:srgbClr val="C9D7E8"/>
                </a:solidFill>
                <a:latin typeface="Instrument Sans regular"/>
                <a:ea typeface="Instrument Sans regular"/>
                <a:cs typeface="Instrument Sans regular"/>
              </a:rPr>
              <a:t>────────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424090-16B9-4C23-88AA-9DE47290E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11455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Safety gates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27B371-DF11-4C93-9F82-D1F66AA80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571750"/>
            <a:ext cx="1809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Block BUY when required evidence is missing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33C39A-F5A7-4F13-BFB9-845FDA9D7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2382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5AE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3B9605-F691-4C25-875C-9A45F72A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3620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9F3D5B-5673-4AB2-B4F0-39A34E599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38112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3333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9D7E8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0">
                <a:solidFill>
                  <a:srgbClr val="C9D7E8"/>
                </a:solidFill>
                <a:latin typeface="Instrument Sans regular"/>
                <a:ea typeface="Instrument Sans regular"/>
                <a:cs typeface="Instrument Sans regular"/>
              </a:rPr>
              <a:t>────────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54279F-29CE-436D-BC39-A1FCF2044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11455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Human calibration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B50D0C-8B14-42C5-AEC9-619D292C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571750"/>
            <a:ext cx="1809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Review disagreements and critical errors blind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3CF7BB-A0A7-47D2-BDEA-A1ECAD6F2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2382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D8C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9D0C7F-F225-49AD-96B7-89CDB0926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3620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09F772-A45C-4594-A4E1-FA077D23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38112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43333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9D7E8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0">
                <a:solidFill>
                  <a:srgbClr val="C9D7E8"/>
                </a:solidFill>
                <a:latin typeface="Instrument Sans regular"/>
                <a:ea typeface="Instrument Sans regular"/>
                <a:cs typeface="Instrument Sans regular"/>
              </a:rPr>
              <a:t>────────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C2E0C0-7847-46B3-ABC8-57AE4732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11455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Cost benchmark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0AF4F9-EBEF-43E1-9696-CBAE43674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571750"/>
            <a:ext cx="1809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Measure serving, batching and fallback rate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F2F4B7-0A6D-4456-9588-B1D078984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2382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339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D94A83-2C3E-4E60-B237-525D0835A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3620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9F25CB-00C7-49B0-B6AD-4010FD6B3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11455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Controlled pilot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10195D-1741-444C-BAB8-5879CBB94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571750"/>
            <a:ext cx="1809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275" b="0">
                <a:solidFill>
                  <a:srgbClr val="667085"/>
                </a:solidFill>
                <a:latin typeface="Instrument Sans regular"/>
                <a:ea typeface="Instrument Sans regular"/>
                <a:cs typeface="Instrument Sans regular"/>
              </a:rPr>
              <a:t>Run real traffic with monitoring and fallback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ADE2BF-F12D-4F82-B8FA-1028F9819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1097280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8B7F3E-2649-4D54-A02C-C332A462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862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875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Go / no-go evidence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7919E0D-CB1F-4067-A601-DDAF96EBC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815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454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650" b="0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rPr>
              <a:t>›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19BFD16-7962-4F4F-9A16-BDE1C8D64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625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Quality threshold by task and decision class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48E6366-AD5F-4B3F-98FE-8F47521F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863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454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650" b="0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rPr>
              <a:t>›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38AFFEE-A6E2-49F6-B012-2167C0F77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673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Maximum acceptable critical-error rate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D4D3304-506C-4401-93D7-9C7FEE584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911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454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650" b="0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rPr>
              <a:t>›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008CE06-8751-41B4-8D40-8DA6456D8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3721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Validated price per 1,000 production requests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0F9689D-F562-4AC1-885E-E212D09E6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959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454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650" b="0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rPr>
              <a:t>›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A610FF8-7E8E-4E6C-9136-E29D318D6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6769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3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Fallback rate and end-to-end SLA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30E65FA-33A4-469A-8DD6-6F2E2B7A6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781550"/>
            <a:ext cx="438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5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800" b="1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The next milestone is a decision package, not another isolated model score.</a:t>
            </a:r>
          </a:p>
        </p:txBody>
      </p:sp>
    </p:spTree>
    <p:extLst>
      <p:ext uri="{BB962C8B-B14F-4D97-AF65-F5344CB8AC3E}">
        <p14:creationId xmlns:p14="http://schemas.microsoft.com/office/powerpoint/2010/main" val="2018426428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3fbebeb6c7410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A24B06-B622-4715-8234-808C15C68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619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A8E47B-A6BA-48BB-BFA0-D17ACAD7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defRPr>
            </a:pPr>
            <a:r>
              <a:rPr sz="975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rPr>
              <a:t>Appendix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B21BF5-1E27-4626-89B6-1D07F78E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47650"/>
            <a:ext cx="866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2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Two Amazon benchmarks answer different questions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0CB673-3E71-41C0-9790-168E2550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3337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848625-62B6-4A39-BD22-3E299838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038" y="6192869"/>
            <a:ext cx="3569779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Southworks | Development on Demand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6DF7F8-D9E6-4071-BEC2-DEA0758E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5206" y="6192869"/>
            <a:ext cx="4500563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US | Uruguay | UK | Spain | Peru | Mexico | Colombia | Brazil | Argentina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552450" y="1066800"/>
          <a:ext xmlns:a="http://schemas.openxmlformats.org/drawingml/2006/main" cx="11087100" cy="4476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352925"/>
                <a:gridCol w="4352925"/>
              </a:tblGrid>
              <a:tr h="559594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Dimension</a:t>
                      </a:r>
                    </a:p>
                  </a:txBody>
                  <a:tcPr marL="95250" marR="76200" marT="57150" marB="38100">
                    <a:solidFill>
                      <a:srgbClr val="70AC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200-case broad benchmark</a:t>
                      </a:r>
                    </a:p>
                  </a:txBody>
                  <a:tcPr marL="95250" marR="76200" marT="57150" marB="38100">
                    <a:solidFill>
                      <a:srgbClr val="70AC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103-case v2 benchmark</a:t>
                      </a:r>
                    </a:p>
                  </a:txBody>
                  <a:tcPr marL="95250" marR="76200" marT="57150" marB="38100">
                    <a:solidFill>
                      <a:srgbClr val="70ACEA"/>
                    </a:solidFill>
                  </a:tcPr>
                </a:tc>
              </a:tr>
              <a:tr h="55959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Scope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Four tasks, 50 cases each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Purchase recommendation only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</a:tr>
              <a:tr h="55959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Fine-tune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ft-qwen3-4b-amazon-10k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ft-qwen3-4b-amazon-v2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</a:tr>
              <a:tr h="55959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Winner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GPT-4.1 mini overall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Qwen3-4B FT v2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</a:tr>
              <a:tr h="55959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FT judge score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74.58 / 100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59.24 / 100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</a:tr>
              <a:tr h="55959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FT pass rate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47.5%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30.10%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</a:tr>
              <a:tr h="55959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FT critical errors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23.0%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66.02%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</a:tr>
              <a:tr h="55959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Interpretation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Competitive specialist with strong efficiency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42424"/>
                          </a:solidFill>
                          <a:latin typeface="Instrument Sans regular"/>
                          <a:ea typeface="Instrument Sans regular"/>
                          <a:cs typeface="Instrument Sans regular"/>
                        </a:rPr>
                        <a:t>Specialist leads peers, but absolute safety is weak</a:t>
                      </a:r>
                    </a:p>
                  </a:txBody>
                  <a:tcPr marL="95250" marR="76200" marT="47625" marB="38100">
                    <a:solidFill>
                      <a:srgbClr val="EAF1FA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5F946C-9DD0-48CD-965C-5E5C108E1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905500"/>
            <a:ext cx="9791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35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D24747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425" b="1">
                <a:solidFill>
                  <a:srgbClr val="D24747"/>
                </a:solidFill>
                <a:latin typeface="Instrument Sans regular"/>
                <a:ea typeface="Instrument Sans regular"/>
                <a:cs typeface="Instrument Sans regular"/>
              </a:rPr>
              <a:t>Scores cannot be compared across the two sets as if they came from one test. The task mix, references and fine-tune changed.</a:t>
            </a:r>
          </a:p>
        </p:txBody>
      </p:sp>
    </p:spTree>
    <p:extLst>
      <p:ext uri="{BB962C8B-B14F-4D97-AF65-F5344CB8AC3E}">
        <p14:creationId xmlns:p14="http://schemas.microsoft.com/office/powerpoint/2010/main" val="929708623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8b586b7f114bb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06AECC-0615-41A5-8E86-FF51F1E31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619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73F70B-5F85-4E5B-A46B-0686B6B4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defRPr>
            </a:pPr>
            <a:r>
              <a:rPr sz="975" b="1">
                <a:solidFill>
                  <a:srgbClr val="242424"/>
                </a:solidFill>
                <a:latin typeface="PP Telegraf regular"/>
                <a:ea typeface="PP Telegraf regular"/>
                <a:cs typeface="PP Telegraf regular"/>
              </a:rPr>
              <a:t>Discussion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606476-2D78-46D6-91C8-EE4F3AEA7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47650"/>
            <a:ext cx="866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250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Decisions needed before the next iteration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073BBD-2918-44F0-8527-ACEBB337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3337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900" b="0">
                <a:solidFill>
                  <a:srgbClr val="98A1AB"/>
                </a:solidFill>
                <a:latin typeface="Instrument Sans regular"/>
                <a:ea typeface="Instrument Sans regular"/>
                <a:cs typeface="Instrument Sans regular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87CF05-A9ED-4452-A219-1594DA3F7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038" y="6192869"/>
            <a:ext cx="3569779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Southworks | Development on Demand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3AD8A3-415E-4F42-8074-3B3D6B314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5206" y="6192869"/>
            <a:ext cx="4500563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000" b="0">
                <a:solidFill>
                  <a:srgbClr val="999999"/>
                </a:solidFill>
                <a:latin typeface="Instrument Sans regular"/>
                <a:ea typeface="Instrument Sans regular"/>
                <a:cs typeface="Instrument Sans regular"/>
              </a:rPr>
              <a:t>US | Uruguay | UK | Spain | Peru | Mexico | Colombia | Brazil | Argentina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7BBA0F-5B76-47A7-9408-D36263F0F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287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75" b="1">
                <a:solidFill>
                  <a:srgbClr val="3486F6"/>
                </a:solidFill>
                <a:latin typeface="Instrument Sans regular"/>
                <a:ea typeface="Instrument Sans regular"/>
                <a:cs typeface="Instrument Sans regular"/>
              </a:rPr>
              <a:t>1.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38C4E2-0E8E-424A-86B3-4D114B32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0096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25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7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Which business decision should define success: answer quality, purchase label accuracy, or reduced analyst effort?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B6BBFF-7CF3-4E5B-BEB2-2275E114C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75" b="1">
                <a:solidFill>
                  <a:srgbClr val="15936F"/>
                </a:solidFill>
                <a:latin typeface="Instrument Sans regular"/>
                <a:ea typeface="Instrument Sans regular"/>
                <a:cs typeface="Instrument Sans regular"/>
              </a:rPr>
              <a:t>2.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D04FF2-EA54-4C94-B3C9-FDD67080B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7907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7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What critical-error rate is acceptable before fallback?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013F1A-24B7-497A-B691-FD2365B3C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65AE8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75" b="1">
                <a:solidFill>
                  <a:srgbClr val="765AE8"/>
                </a:solidFill>
                <a:latin typeface="Instrument Sans regular"/>
                <a:ea typeface="Instrument Sans regular"/>
                <a:cs typeface="Instrument Sans regular"/>
              </a:rPr>
              <a:t>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56A5E4-2357-457D-8FA6-BBD75A9E5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717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7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What monthly volume and latency SLA should drive the cost model?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1C069D-954A-45C1-BD0B-71A9D6B36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718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D8C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75" b="1">
                <a:solidFill>
                  <a:srgbClr val="176D8C"/>
                </a:solidFill>
                <a:latin typeface="Instrument Sans regular"/>
                <a:ea typeface="Instrument Sans regular"/>
                <a:cs typeface="Instrument Sans regular"/>
              </a:rPr>
              <a:t>4.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2095DB-3728-486B-9B7F-1CA9007BB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528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7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Should GPT-4.1 mini remain the primary generalist baseline?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2249EE-C9BE-447C-B358-BC141AAC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529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6339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75" b="1">
                <a:solidFill>
                  <a:srgbClr val="FF6339"/>
                </a:solidFill>
                <a:latin typeface="Instrument Sans regular"/>
                <a:ea typeface="Instrument Sans regular"/>
                <a:cs typeface="Instrument Sans regular"/>
              </a:rPr>
              <a:t>5.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521BD9-2486-4B7E-8484-9C82D387B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338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7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Who will perform the blind human calibration set?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DA0825-22F0-4847-A805-E82972FE0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339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24747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75" b="1">
                <a:solidFill>
                  <a:srgbClr val="D24747"/>
                </a:solidFill>
                <a:latin typeface="Instrument Sans regular"/>
                <a:ea typeface="Instrument Sans regular"/>
                <a:cs typeface="Instrument Sans regular"/>
              </a:rPr>
              <a:t>6.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5B6C4E-AF6C-4C47-841A-183441899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149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575" b="0">
                <a:solidFill>
                  <a:srgbClr val="242424"/>
                </a:solidFill>
                <a:latin typeface="Instrument Sans regular"/>
                <a:ea typeface="Instrument Sans regular"/>
                <a:cs typeface="Instrument Sans regular"/>
              </a:rPr>
              <a:t>Which production route should we benchmark: dedicated GPU, serverless endpoint, or both?</a:t>
            </a:r>
          </a:p>
        </p:txBody>
      </p:sp>
    </p:spTree>
    <p:extLst>
      <p:ext uri="{BB962C8B-B14F-4D97-AF65-F5344CB8AC3E}">
        <p14:creationId xmlns:p14="http://schemas.microsoft.com/office/powerpoint/2010/main" val="740871109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add99493a74fe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7f601ff8c744c3"/>
          <a:stretch xmlns:a="http://schemas.openxmlformats.org/drawingml/2006/main"/>
        </p:blipFill>
        <p:spPr>
          <a:xfrm xmlns:a="http://schemas.openxmlformats.org/drawingml/2006/main">
            <a:off x="4552950" y="1257300"/>
            <a:ext cx="3238500" cy="3238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E14823-13B6-4905-BB28-0920853DB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0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3900" b="0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Let’s go!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0B709D-DDF4-4454-B4FF-82CFCB075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98170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2550" b="1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✦ southworks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104EF4-BC8D-46F2-B11C-98A2DBB0C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61912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defRPr>
            </a:pPr>
            <a:r>
              <a:rPr sz="1050" b="0">
                <a:solidFill>
                  <a:srgbClr val="FFFFFF"/>
                </a:solidFill>
                <a:latin typeface="Instrument Sans regular"/>
                <a:ea typeface="Instrument Sans regular"/>
                <a:cs typeface="Instrument Sans regular"/>
              </a:rPr>
              <a:t>SOUTHWORKS | Development on Demand</a:t>
            </a:r>
          </a:p>
        </p:txBody>
      </p:sp>
    </p:spTree>
    <p:extLst>
      <p:ext uri="{BB962C8B-B14F-4D97-AF65-F5344CB8AC3E}">
        <p14:creationId xmlns:p14="http://schemas.microsoft.com/office/powerpoint/2010/main" val="14573502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2026-10-22T16:24:43.8290000Z</dcterms:created>
  <dcterms:modified xsi:type="dcterms:W3CDTF">2026-10-22T16:24:43.8290000Z</dcterms:modified>
</coreProperties>
</file>