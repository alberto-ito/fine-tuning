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4274bec0e7643ca" Type="http://schemas.openxmlformats.org/officeDocument/2006/relationships/extended-properties" Target="docProps/app.xml"/><Relationship Id="R77a2dbd9e33941bd" Type="http://schemas.openxmlformats.org/officeDocument/2006/relationships/officeDocument" Target="ppt/presentation.xml"/><Relationship Id="Rb730351a588840b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3263211e3d416d"/>
  </p:sldMasterIdLst>
  <p:notesMasterIdLst>
    <p:notesMasterId xmlns:r="http://schemas.openxmlformats.org/officeDocument/2006/relationships" r:id="R9e535f738e874602"/>
  </p:notesMasterIdLst>
  <p:sldIdLst>
    <p:sldId xmlns:r="http://schemas.openxmlformats.org/officeDocument/2006/relationships" id="256" r:id="R72e3a80742f74319"/>
    <p:sldId xmlns:r="http://schemas.openxmlformats.org/officeDocument/2006/relationships" id="257" r:id="R0499efcefbb94e73"/>
    <p:sldId xmlns:r="http://schemas.openxmlformats.org/officeDocument/2006/relationships" id="258" r:id="R98e41adf70804355"/>
    <p:sldId xmlns:r="http://schemas.openxmlformats.org/officeDocument/2006/relationships" id="259" r:id="R0d6f980fcc114c72"/>
    <p:sldId xmlns:r="http://schemas.openxmlformats.org/officeDocument/2006/relationships" id="260" r:id="R5ee1d01766f9491e"/>
    <p:sldId xmlns:r="http://schemas.openxmlformats.org/officeDocument/2006/relationships" id="261" r:id="R0458e225e2eb4a5c"/>
    <p:sldId xmlns:r="http://schemas.openxmlformats.org/officeDocument/2006/relationships" id="262" r:id="R7e6f4f4096e543bd"/>
    <p:sldId xmlns:r="http://schemas.openxmlformats.org/officeDocument/2006/relationships" id="263" r:id="R45be2ff150f14939"/>
    <p:sldId xmlns:r="http://schemas.openxmlformats.org/officeDocument/2006/relationships" id="264" r:id="R5ae1746726e14223"/>
    <p:sldId xmlns:r="http://schemas.openxmlformats.org/officeDocument/2006/relationships" id="265" r:id="R522d560365584324"/>
    <p:sldId xmlns:r="http://schemas.openxmlformats.org/officeDocument/2006/relationships" id="266" r:id="R17c9dec4a1aa4802"/>
    <p:sldId xmlns:r="http://schemas.openxmlformats.org/officeDocument/2006/relationships" id="267" r:id="Re217828ace964343"/>
    <p:sldId xmlns:r="http://schemas.openxmlformats.org/officeDocument/2006/relationships" id="268" r:id="R2645744e392a418e"/>
    <p:sldId xmlns:r="http://schemas.openxmlformats.org/officeDocument/2006/relationships" id="269" r:id="R1643b5ca8cb24b1b"/>
    <p:sldId xmlns:r="http://schemas.openxmlformats.org/officeDocument/2006/relationships" id="270" r:id="R22cd31f9eb67408b"/>
    <p:sldId xmlns:r="http://schemas.openxmlformats.org/officeDocument/2006/relationships" id="271" r:id="R81b9b6073f114551"/>
    <p:sldId xmlns:r="http://schemas.openxmlformats.org/officeDocument/2006/relationships" id="272" r:id="R48991f1f9ab540d3"/>
    <p:sldId xmlns:r="http://schemas.openxmlformats.org/officeDocument/2006/relationships" id="273" r:id="Rffd581a6b20b4097"/>
    <p:sldId xmlns:r="http://schemas.openxmlformats.org/officeDocument/2006/relationships" id="274" r:id="Rdbfabe417a79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58e225e2eb4a5c" Type="http://schemas.openxmlformats.org/officeDocument/2006/relationships/slide" Target="slides/slide6.xml"/><Relationship Id="R0499efcefbb94e73" Type="http://schemas.openxmlformats.org/officeDocument/2006/relationships/slide" Target="slides/slide2.xml"/><Relationship Id="R0d6f980fcc114c72" Type="http://schemas.openxmlformats.org/officeDocument/2006/relationships/slide" Target="slides/slide4.xml"/><Relationship Id="R1643b5ca8cb24b1b" Type="http://schemas.openxmlformats.org/officeDocument/2006/relationships/slide" Target="slides/slide14.xml"/><Relationship Id="R17c9dec4a1aa4802" Type="http://schemas.openxmlformats.org/officeDocument/2006/relationships/slide" Target="slides/slide11.xml"/><Relationship Id="R22cd31f9eb67408b" Type="http://schemas.openxmlformats.org/officeDocument/2006/relationships/slide" Target="slides/slide15.xml"/><Relationship Id="R2645744e392a418e" Type="http://schemas.openxmlformats.org/officeDocument/2006/relationships/slide" Target="slides/slide13.xml"/><Relationship Id="R45be2ff150f14939" Type="http://schemas.openxmlformats.org/officeDocument/2006/relationships/slide" Target="slides/slide8.xml"/><Relationship Id="R48991f1f9ab540d3" Type="http://schemas.openxmlformats.org/officeDocument/2006/relationships/slide" Target="slides/slide17.xml"/><Relationship Id="R522d560365584324" Type="http://schemas.openxmlformats.org/officeDocument/2006/relationships/slide" Target="slides/slide10.xml"/><Relationship Id="R57311813523b4584" Type="http://schemas.openxmlformats.org/officeDocument/2006/relationships/theme" Target="theme/theme1.xml"/><Relationship Id="R5ae1746726e14223" Type="http://schemas.openxmlformats.org/officeDocument/2006/relationships/slide" Target="slides/slide9.xml"/><Relationship Id="R5ee1d01766f9491e" Type="http://schemas.openxmlformats.org/officeDocument/2006/relationships/slide" Target="slides/slide5.xml"/><Relationship Id="R71c24ca3507346ee" Type="http://schemas.openxmlformats.org/officeDocument/2006/relationships/presProps" Target="presProps.xml"/><Relationship Id="R72e3a80742f74319" Type="http://schemas.openxmlformats.org/officeDocument/2006/relationships/slide" Target="slides/slide1.xml"/><Relationship Id="R7e6f4f4096e543bd" Type="http://schemas.openxmlformats.org/officeDocument/2006/relationships/slide" Target="slides/slide7.xml"/><Relationship Id="R81b9b6073f114551" Type="http://schemas.openxmlformats.org/officeDocument/2006/relationships/slide" Target="slides/slide16.xml"/><Relationship Id="R98e41adf70804355" Type="http://schemas.openxmlformats.org/officeDocument/2006/relationships/slide" Target="slides/slide3.xml"/><Relationship Id="R9e535f738e874602" Type="http://schemas.openxmlformats.org/officeDocument/2006/relationships/notesMaster" Target="notesMasters/notesMaster1.xml"/><Relationship Id="Ra674ec733a7b4271" Type="http://schemas.openxmlformats.org/officeDocument/2006/relationships/tableStyles" Target="tableStyles.xml"/><Relationship Id="Rdbfabe417a794348" Type="http://schemas.openxmlformats.org/officeDocument/2006/relationships/slide" Target="slides/slide19.xml"/><Relationship Id="Re217828ace964343" Type="http://schemas.openxmlformats.org/officeDocument/2006/relationships/slide" Target="slides/slide12.xml"/><Relationship Id="Rf23263211e3d416d" Type="http://schemas.openxmlformats.org/officeDocument/2006/relationships/slideMaster" Target="slideMasters/slideMaster1.xml"/><Relationship Id="Rffd581a6b20b409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21bb07299e0847b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1e9e3506c3f43e4" Type="http://schemas.openxmlformats.org/officeDocument/2006/relationships/slide" Target="../slides/slide1.xml"/><Relationship Id="Re5d3dac4bd464db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b96650307ec94c5c" Type="http://schemas.openxmlformats.org/officeDocument/2006/relationships/slide" Target="../slides/slide2.xml"/><Relationship Id="Re9dfbb0d958247a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24e241dd4854fff" Type="http://schemas.openxmlformats.org/officeDocument/2006/relationships/notesMaster" Target="../notesMasters/notesMaster1.xml"/><Relationship Id="Ree5ed19969764c2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16fd2c6009d4a05" Type="http://schemas.openxmlformats.org/officeDocument/2006/relationships/slide" Target="../slides/slide4.xml"/><Relationship Id="R58e38e9b11f740d6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a6437c18268a42aa" Type="http://schemas.openxmlformats.org/officeDocument/2006/relationships/notesMaster" Target="../notesMasters/notesMaster1.xml"/><Relationship Id="Ra7719dae8c6249f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c5d11a55dc243c3" Type="http://schemas.openxmlformats.org/officeDocument/2006/relationships/slide" Target="../slides/slide6.xml"/><Relationship Id="R261131c1b68a482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2534f0046e34b5e" Type="http://schemas.openxmlformats.org/officeDocument/2006/relationships/slide" Target="../slides/slide7.xml"/><Relationship Id="R6567fd0e65834ab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2b55f10a6384713" Type="http://schemas.openxmlformats.org/officeDocument/2006/relationships/notesMaster" Target="../notesMasters/notesMaster1.xml"/><Relationship Id="Red11246cd7d14a7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5cd11264ce74b63" Type="http://schemas.openxmlformats.org/officeDocument/2006/relationships/notesMaster" Target="../notesMasters/notesMaster1.xml"/><Relationship Id="R75e1826abf624f7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d8639d15425b4fc7" Type="http://schemas.openxmlformats.org/officeDocument/2006/relationships/notesMaster" Target="../notesMasters/notesMaster1.xml"/><Relationship Id="Rdb39f59de6b8494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919b945eb0fc467f" Type="http://schemas.openxmlformats.org/officeDocument/2006/relationships/slide" Target="../slides/slide11.xml"/><Relationship Id="Rfe46f6d99f294903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a1b3aebd1944043" Type="http://schemas.openxmlformats.org/officeDocument/2006/relationships/slide" Target="../slides/slide12.xml"/><Relationship Id="R8f855164baa3445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b6f05404c1d4441" Type="http://schemas.openxmlformats.org/officeDocument/2006/relationships/slide" Target="../slides/slide13.xml"/><Relationship Id="R8f133028146240a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c5693815b314dab" Type="http://schemas.openxmlformats.org/officeDocument/2006/relationships/notesMaster" Target="../notesMasters/notesMaster1.xml"/><Relationship Id="R562b05ee7da94f5c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8bf04f906eb47ac" Type="http://schemas.openxmlformats.org/officeDocument/2006/relationships/slide" Target="../slides/slide15.xml"/><Relationship Id="Re59884916fa848b9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c62ccdf784647a9" Type="http://schemas.openxmlformats.org/officeDocument/2006/relationships/slide" Target="../slides/slide16.xml"/><Relationship Id="R728aa3d86d79425d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e8e062267654ea0" Type="http://schemas.openxmlformats.org/officeDocument/2006/relationships/slide" Target="../slides/slide17.xml"/><Relationship Id="Rab6d631a300e43f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368a9f987dd41d4" Type="http://schemas.openxmlformats.org/officeDocument/2006/relationships/slide" Target="../slides/slide18.xml"/><Relationship Id="Redeb40f1f8d643dd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d3e8281580f34e4f" Type="http://schemas.openxmlformats.org/officeDocument/2006/relationships/notesMaster" Target="../notesMasters/notesMaster1.xml"/><Relationship Id="Rd7699277e6484d22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repository results under Fireworks/, MS Foundry/, Base Model/, and PROJECT_CONCLUSIONS.md. Background artwork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PROJECT_CONCLUSIONS.md; Fireworks/Amazon reviews 2023/evaluation reports dated 2026-10-15, 2026-10-20 and 2026-10-22.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measured GPT-4.1-family baseline is GPT-4.1 mini. No result in this deck should be attributed to the full GPT-4.1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Amazon Reviews data README and evaluation scripts; Hugging Face pipeline README; Fireworks and MS Foundry experiment folders.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sources: Fireworks/, MS Foundry/, and scripts under Fireworks/Amazon reviews 2023/scripts.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PROJECT_CONCLUSIONS.md and MS Foundry/gpt-5.6-luna/banking77_comparison.md. Token ratios are processing ratios, not invoices.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Amazon Reviews 2023 README, DATASET_REVIEW_RULES.md, and evaluation manifests. The v2 class distribution is materially imbalanced.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Fireworks/Amazon reviews 2023/evaluation/ft_qwen3_4b_amazon_10k/REPORT_THREE_MODELS_GPT6_JUDGE.md. 200 cases, 50 per task. GPT-6 Sol judge. Latencies span different providers and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Fireworks/Amazon reviews 2023/evaluation/ft_qwen3_4b_amazon_v2/STATUS.md and judge_summary_gpt6sol.json (explicit-prompt run, 2026-10-20). 103 purchase-recommendation cases; only four BUY references. Chart shows the GPT-6 Sol judge score /100. In a separate round against GPT-5 (STATUS_GPT5.md), FT v2 kept the best decision accuracy (54.37% vs. 37.86%) but GPT-5 had the higher judge score (63.70 vs. 60.40).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200-case Amazon benchmark. GPT-4.1 mini had 23 cases at the 500-token limit. Latency comparison is not architecture-pure because providers and deployments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 reports, judge prompts and dataset review rules in the Amazon Reviews track.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PROJECT_CONCLUSIONS.md. F is the fixed investment; N is request volume; c_small and c_large are marginal production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production pattern derived from PROJECT_CONCLUSIONS.md and the observed critical-error rates.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v2 report limitations, three-model benchmark interpretation, and PROJECT_CONCLUSIONS.md.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synthesized from both Amazon evaluation reports and PROJECT_CONCLUSIONS.md.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REPORT_THREE_MODELS_GPT6_JUDGE.md and ft_qwen3_4b_amazon_v2/STATUS.md.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 prompts for project sponsors and technical stakeholders.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b4747fef65e444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15589f5e5034f95" Type="http://schemas.openxmlformats.org/officeDocument/2006/relationships/slideLayout" Target="../slideLayouts/slideLayout1.xml"/><Relationship Id="Rf9b2ed3d8bcd420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589f5e5034f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d00913e2c2a4df1" Type="http://schemas.openxmlformats.org/officeDocument/2006/relationships/image" Target="../media/image.png"/><Relationship Id="R166d0fe984a1499d" Type="http://schemas.openxmlformats.org/officeDocument/2006/relationships/notesSlide" Target="../notesSlides/notesSlide1.xml"/><Relationship Id="Re2a6973447264bd8" Type="http://schemas.openxmlformats.org/officeDocument/2006/relationships/image" Target="../media/image2.png"/><Relationship Id="Re8fa8fd9a43d4d68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62b829b52314f34" Type="http://schemas.openxmlformats.org/officeDocument/2006/relationships/notesSlide" Target="../notesSlides/notesSlide2.xml"/><Relationship Id="Rbf22f1348f6f411b" Type="http://schemas.openxmlformats.org/officeDocument/2006/relationships/image" Target="../media/image3.png"/><Relationship Id="Rc9d28a11afff49a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340958fd22143ba" Type="http://schemas.openxmlformats.org/officeDocument/2006/relationships/slideLayout" Target="../slideLayouts/slideLayout1.xml"/><Relationship Id="R3f3da1e559ac4757" Type="http://schemas.openxmlformats.org/officeDocument/2006/relationships/notesSlide" Target="../notesSlides/notesSlide3.xml"/><Relationship Id="Ra76677eae18c4ac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0e1cd01dadff4333" Type="http://schemas.openxmlformats.org/officeDocument/2006/relationships/slideLayout" Target="../slideLayouts/slideLayout1.xml"/><Relationship Id="R31e6742661fa4543" Type="http://schemas.openxmlformats.org/officeDocument/2006/relationships/notesSlide" Target="../notesSlides/notesSlide4.xml"/><Relationship Id="R3d773183d18d47cd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2e47a865d0c64f3e" Type="http://schemas.openxmlformats.org/officeDocument/2006/relationships/notesSlide" Target="../notesSlides/notesSlide5.xml"/><Relationship Id="R86e266f17c0046cb" Type="http://schemas.openxmlformats.org/officeDocument/2006/relationships/slideLayout" Target="../slideLayouts/slideLayout1.xml"/><Relationship Id="Raf0aee7523654330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09a76f4b0e61453d" Type="http://schemas.openxmlformats.org/officeDocument/2006/relationships/notesSlide" Target="../notesSlides/notesSlide6.xml"/><Relationship Id="R21f3f1dc395f472d" Type="http://schemas.openxmlformats.org/officeDocument/2006/relationships/chart" Target="charts/chart1.xml"/><Relationship Id="Rc16370701875499f" Type="http://schemas.openxmlformats.org/officeDocument/2006/relationships/slideLayout" Target="../slideLayouts/slideLayout1.xml"/><Relationship Id="Ref41ac6363c94d38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14c02d4056a84b2d" Type="http://schemas.openxmlformats.org/officeDocument/2006/relationships/notesSlide" Target="../notesSlides/notesSlide7.xml"/><Relationship Id="Rcf3d7ebb52ad4920" Type="http://schemas.openxmlformats.org/officeDocument/2006/relationships/image" Target="../media/image8.png"/><Relationship Id="Re17aa360648444c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a8e724af807466c" Type="http://schemas.openxmlformats.org/officeDocument/2006/relationships/image" Target="../media/image9.png"/><Relationship Id="Rb268da9caa5e43fb" Type="http://schemas.openxmlformats.org/officeDocument/2006/relationships/notesSlide" Target="../notesSlides/notesSlide8.xml"/><Relationship Id="Re7db8de060fb4e0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b2fff91ed7447b9" Type="http://schemas.openxmlformats.org/officeDocument/2006/relationships/chart" Target="charts/chart2.xml"/><Relationship Id="R2b45702d7ee34380" Type="http://schemas.openxmlformats.org/officeDocument/2006/relationships/slideLayout" Target="../slideLayouts/slideLayout1.xml"/><Relationship Id="R55a5c6df94c64247" Type="http://schemas.openxmlformats.org/officeDocument/2006/relationships/notesSlide" Target="../notesSlides/notesSlide9.xml"/><Relationship Id="Raa463aa823154241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42c34f9ff54544a3" Type="http://schemas.openxmlformats.org/officeDocument/2006/relationships/slideLayout" Target="../slideLayouts/slideLayout1.xml"/><Relationship Id="R60a464c75fd14ca7" Type="http://schemas.openxmlformats.org/officeDocument/2006/relationships/image" Target="../media/image11.png"/><Relationship Id="R84865d85a264487f" Type="http://schemas.openxmlformats.org/officeDocument/2006/relationships/notesSlide" Target="../notesSlides/notesSlide10.xml"/><Relationship Id="R917e58bf2fc94e4e" Type="http://schemas.openxmlformats.org/officeDocument/2006/relationships/chart" Target="charts/chart3.xml"/></Relationships>
</file>

<file path=ppt/slides/_rels/slide11.xml.rels><?xml version='1.0' encoding='UTF-8' standalone='yes'?>
<Relationships xmlns="http://schemas.openxmlformats.org/package/2006/relationships"><Relationship Id="R90db393e21bf4bb2" Type="http://schemas.openxmlformats.org/officeDocument/2006/relationships/image" Target="../media/image12.png"/><Relationship Id="Rc033462c35754aaa" Type="http://schemas.openxmlformats.org/officeDocument/2006/relationships/slideLayout" Target="../slideLayouts/slideLayout1.xml"/><Relationship Id="Re434ed61d5cd46c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4f562ffed1b4100" Type="http://schemas.openxmlformats.org/officeDocument/2006/relationships/image" Target="../media/image13.png"/><Relationship Id="R811cde1533d6432e" Type="http://schemas.openxmlformats.org/officeDocument/2006/relationships/notesSlide" Target="../notesSlides/notesSlide12.xml"/><Relationship Id="Rc0b121ff7d894f5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3bb2ec8f3a1f4e79" Type="http://schemas.openxmlformats.org/officeDocument/2006/relationships/notesSlide" Target="../notesSlides/notesSlide13.xml"/><Relationship Id="R87ffcd0615094d9a" Type="http://schemas.openxmlformats.org/officeDocument/2006/relationships/slideLayout" Target="../slideLayouts/slideLayout1.xml"/><Relationship Id="Rdc174bc727e7497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463b653d49764d69" Type="http://schemas.openxmlformats.org/officeDocument/2006/relationships/image" Target="../media/image15.png"/><Relationship Id="R47d82d56b43a461c" Type="http://schemas.openxmlformats.org/officeDocument/2006/relationships/slideLayout" Target="../slideLayouts/slideLayout1.xml"/><Relationship Id="R70b29a917d54485b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09655ea0b564825" Type="http://schemas.openxmlformats.org/officeDocument/2006/relationships/slideLayout" Target="../slideLayouts/slideLayout1.xml"/><Relationship Id="R4f710da20097466d" Type="http://schemas.openxmlformats.org/officeDocument/2006/relationships/image" Target="../media/image16.png"/><Relationship Id="Ree6540df7b8d48b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a3555a82e8674008" Type="http://schemas.openxmlformats.org/officeDocument/2006/relationships/slideLayout" Target="../slideLayouts/slideLayout1.xml"/><Relationship Id="Rc131b1c788694561" Type="http://schemas.openxmlformats.org/officeDocument/2006/relationships/notesSlide" Target="../notesSlides/notesSlide16.xml"/><Relationship Id="Rdb1584642dde4e58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023fbebeb6c74102" Type="http://schemas.openxmlformats.org/officeDocument/2006/relationships/image" Target="../media/image18.png"/><Relationship Id="R5fd3254d9aa5414d" Type="http://schemas.openxmlformats.org/officeDocument/2006/relationships/slideLayout" Target="../slideLayouts/slideLayout1.xml"/><Relationship Id="R704efbe355da47ee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48b586b7f114bb0" Type="http://schemas.openxmlformats.org/officeDocument/2006/relationships/image" Target="../media/image19.png"/><Relationship Id="R90233e0c03bf4e17" Type="http://schemas.openxmlformats.org/officeDocument/2006/relationships/slideLayout" Target="../slideLayouts/slideLayout1.xml"/><Relationship Id="Rb46741d8546947ee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dda8bee45494301" Type="http://schemas.openxmlformats.org/officeDocument/2006/relationships/slideLayout" Target="../slideLayouts/slideLayout1.xml"/><Relationship Id="R1bcf9173769148ea" Type="http://schemas.openxmlformats.org/officeDocument/2006/relationships/notesSlide" Target="../notesSlides/notesSlide19.xml"/><Relationship Id="R1d7f601ff8c744c3" Type="http://schemas.openxmlformats.org/officeDocument/2006/relationships/image" Target="../media/image21.png"/><Relationship Id="Rd2add99493a74fe8" Type="http://schemas.openxmlformats.org/officeDocument/2006/relationships/image" Target="../media/image20.png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486F6"/>
            </a:solidFill>
          </c:spPr>
          <c:cat>
            <c:strLit>
              <c:ptCount val="5"/>
              <c:pt idx="0">
                <c:v>Qwen3.5 0.8B FT</c:v>
              </c:pt>
              <c:pt idx="1">
                <c:v>Qwen3 0.6B FT</c:v>
              </c:pt>
              <c:pt idx="2">
                <c:v>GPT-5.6 Luna</c:v>
              </c:pt>
              <c:pt idx="3">
                <c:v>GPT-5.6 agent</c:v>
              </c:pt>
              <c:pt idx="4">
                <c:v>GPT-4o agent</c:v>
              </c:pt>
            </c:strLit>
          </c:cat>
          <c:val>
            <c:numLit>
              <c:formatCode>General</c:formatCode>
              <c:ptCount val="5"/>
              <c:pt idx="0">
                <c:v>86.88</c:v>
              </c:pt>
              <c:pt idx="1">
                <c:v>85.06</c:v>
              </c:pt>
              <c:pt idx="2">
                <c:v>85.19</c:v>
              </c:pt>
              <c:pt idx="3">
                <c:v>84.71</c:v>
              </c:pt>
              <c:pt idx="4">
                <c:v>78.15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42424"/>
                  </a:solidFill>
                  <a:latin typeface="Instrument Sans regular"/>
                  <a:ea typeface="Instrument Sans regular"/>
                  <a:cs typeface="Instrument Sans regula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 xmlns:a="http://schemas.openxmlformats.org/drawingml/2006/main">
              <a:srgbClr val="765AE8"/>
            </a:solidFill>
          </c:spPr>
          <c:cat>
            <c:strRef>
              <c:f>Sheet1!$A$2:$A$4</c:f>
              <c:strCache>
                <c:ptCount val="3"/>
                <c:pt idx="0">
                  <c:v>Qwen3-4B FT v2</c:v>
                </c:pt>
                <c:pt idx="1">
                  <c:v>Qwen3-4B base</c:v>
                </c:pt>
                <c:pt idx="2">
                  <c:v>GPT-4.1 mini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61.0</c:v>
                </c:pt>
                <c:pt idx="1">
                  <c:v>42.75</c:v>
                </c:pt>
                <c:pt idx="2">
                  <c:v>53.64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42424"/>
                  </a:solidFill>
                  <a:latin typeface="Instrument Sans regular"/>
                  <a:ea typeface="Instrument Sans regular"/>
                  <a:cs typeface="Instrument Sans regula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50112"/>
        <c:crossBetween val="between"/>
      </c:valAx>
    </c:plotArea>
    <c:plotVisOnly val="1"/>
  </c:chart>
  <c:externalData xmlns:ns0="http://schemas.openxmlformats.org/officeDocument/2006/relationships" ns0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Output tokens</c:v>
          </c:tx>
          <c:spPr>
            <a:solidFill xmlns:a="http://schemas.openxmlformats.org/drawingml/2006/main">
              <a:srgbClr val="3486F6"/>
            </a:solidFill>
          </c:spPr>
          <c:cat>
            <c:strLit>
              <c:ptCount val="3"/>
              <c:pt idx="0">
                <c:v>Qwen3-4B FT</c:v>
              </c:pt>
              <c:pt idx="1">
                <c:v>Qwen3-4B base</c:v>
              </c:pt>
              <c:pt idx="2">
                <c:v>GPT-4.1 mini</c:v>
              </c:pt>
            </c:strLit>
          </c:cat>
          <c:val>
            <c:numLit>
              <c:formatCode>#,##0</c:formatCode>
              <c:ptCount val="3"/>
              <c:pt idx="0">
                <c:v>17670</c:v>
              </c:pt>
              <c:pt idx="1">
                <c:v>57978</c:v>
              </c:pt>
              <c:pt idx="2">
                <c:v>69066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42424"/>
                  </a:solidFill>
                  <a:latin typeface="Instrument Sans regular"/>
                  <a:ea typeface="Instrument Sans regular"/>
                  <a:cs typeface="Instrument Sans regula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72768"/>
      </c:catAx>
      <c:valAx>
        <c:axId val="48672768"/>
        <c:scaling>
          <c:orientation val="minMax"/>
          <c:max val="8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50112"/>
        <c:crossBetween val="between"/>
        <c:majorUnit val="20000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0913e2c2a4d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6973447264bd8"/>
          <a:stretch xmlns:a="http://schemas.openxmlformats.org/drawingml/2006/main"/>
        </p:blipFill>
        <p:spPr>
          <a:xfrm xmlns:a="http://schemas.openxmlformats.org/drawingml/2006/main">
            <a:off x="7715250" y="91440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99818-E01C-49C9-85B8-ED2DD1D8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AD9D6-037C-4D62-B944-5902E99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Find it, craft it, tell it — your story, made smarter with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0DEFD-703E-45CE-917F-409C776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31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Small Models,</a:t>
            </a:r>
          </a:p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Specialized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52DA3-6B91-4295-BAC1-50F06E0F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95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800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rPr>
              <a:t>Fine-tuning with Fireworks AI and evaluation with Microsoft Foundry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95266-74CA-47D3-B4D0-A2B0A89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19044124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2f1348f6f41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DAAD3-D5D7-44A2-8DB0-0C588E3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770EE-4FF0-4D8E-BB48-CBBE7C89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5D029-F1F7-4D25-A03A-E348CE9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small model can compete when the domain is narrow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07C3D-8228-404C-A8A8-CF772F4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E0FF5-DAE1-4438-A46F-C7A2E6E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5F3D3-63C9-4372-85CB-C8809222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71DF1-E1A3-4AC0-9CA3-CD2CF14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82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2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project tests whether a fine-tuned Qwen model can match a general-purpose LLM on a specific business contract, then recover the training investment through cheaper recurring inference.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CCC29-475A-49E9-9209-2B13D488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BFAD2-F408-4444-8902-4419A31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Banking77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32935-83F6-4BA2-8E21-17CB11A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431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Qwen3.5-0.8B reached 86.88% accuracy, ahead of GPT-5.6 Luna direct at 85.19%.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1375C-8676-4571-A175-06894C1C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7A1A0-8F16-442E-916A-0D79CDE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Amazon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41914-04B5-4BB0-84EC-B87B543D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Qwen3-4B FT improved sharply over the base. GPT-4.1 mini led the broad test, while FT v2 led the narrower purchase 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530A7-EFE3-4CA6-A9F4-39FA99AA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15C75-EACF-4953-95E6-D527185D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Operational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CF4D7-B7D9-48F6-B4DE-FF524185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first Amazon FT used 74.4% fewer output tokens than GPT-4.1 mini and had much lower observed latency.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04D6C-B6DF-496C-B608-A583D9FE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C440E-D70D-478E-B431-C222BA4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Current 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E45B7-F746-44F1-8227-1A808E1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latest FT still has a 59.22% critical-error rate. It needs safer data, deterministic checks and fallback routing.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5F561-541F-4573-9FF7-7FAC5BD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865BE-DE24-41F6-9B64-AFC534F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Business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F20D2-ED81-454A-9F0D-DACF75D5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Fine-tuning is a fixed investment. Savings accumulate only after production serving costs and traffic are measured.</a:t>
            </a:r>
          </a:p>
        </p:txBody>
      </p:sp>
    </p:spTree>
    <p:extLst>
      <p:ext uri="{BB962C8B-B14F-4D97-AF65-F5344CB8AC3E}">
        <p14:creationId xmlns:p14="http://schemas.microsoft.com/office/powerpoint/2010/main" val="1670431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677eae18c4a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33574-556C-4D02-B38D-B161E8B3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B4D34-EB90-489E-BB9E-6E33B3FA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860FC-BD07-452C-8CC8-FADC872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comparison we designed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74E4D-74B8-4DB7-AC12-12242FE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313BC-351F-436E-B2BE-B3AB2C6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54766-B904-40BE-AA53-20D9336E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60CC5-E25B-4BD1-A51E-BA7FC68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One stable domain, two operating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648B9-CAB0-4087-B289-67627797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486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76E12-2186-433E-B7A9-2E9647E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Small specialized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FA20-6423-432C-BC42-E4F3B47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Qwen 0.6B to 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F6641-AB25-4FFD-85E2-F5C1206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3905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Fine-tuned on approved examples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Short task contract at inference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Controlled output format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Dedicated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5E45F-E497-4A1F-B84C-086D6AE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EAF8"/>
          </a:solidFill>
          <a:ln xmlns:a="http://schemas.openxmlformats.org/drawingml/2006/main" w="9525">
            <a:solidFill>
              <a:srgbClr val="765A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04EF0-1C8D-4591-8C65-319AB9B3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General-purpose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DEA6E-67A3-4538-9192-B2649AEE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GPT-4.1 mini and GPT baselines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B9B4B-14D9-4FE2-B324-70EC0304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3905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Zero-shot or prompted behavior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Instructions repeated at inference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Broader reasoning capability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Hosted API or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46433-52F4-4A17-AECC-43B8531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Same held-out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B6EBC-BBFE-413F-8569-0864C0D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9120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Quality · critical errors · latency · tokens · cost</a:t>
            </a:r>
          </a:p>
        </p:txBody>
      </p:sp>
    </p:spTree>
    <p:extLst>
      <p:ext uri="{BB962C8B-B14F-4D97-AF65-F5344CB8AC3E}">
        <p14:creationId xmlns:p14="http://schemas.microsoft.com/office/powerpoint/2010/main" val="905677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73183d18d47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CCFA3-37B1-42DC-A0DE-10D53556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218C-A888-4ECB-86EE-36F2108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B7B31-4353-40E7-89C8-3F5D637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From raw evidence to a comparable 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F9DC1-0F46-4195-A1EB-931B8C8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CDB2D-745E-4A72-BC55-3FDF075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A43B5-6B84-4A47-A4FA-97EA342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59B95-6630-4CCC-8783-BD887334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2619375" cy="4095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9B5D1-3B70-4465-B86A-52E5AA2C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8CC30-26BD-4865-A2B8-8B3ED93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  Build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A1E0E-8C02-4645-9FC4-27F83A4F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8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Select source evidence. Group by product or intent. Remove leakage and duplicates.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4945B-B39A-42F6-8AAE-309ADD1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Output: versioned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38590-3E4F-48E7-B446-4DD2992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09700"/>
            <a:ext cx="2619375" cy="4095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A4966-913D-4D2F-97FB-E658893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09700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B533B-BE95-4DE8-8F02-D9D0CBB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430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  Generate and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1D523-54ED-4267-A645-34D34EC8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28850"/>
            <a:ext cx="2238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Create supervised examples. Apply automatic rules and human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413FC-C604-4FAA-9380-3873D3F7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577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Output: approved SFT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4B00B-D50E-4C8E-8606-E6D591A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09700"/>
            <a:ext cx="2619375" cy="4095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8547C-45F7-42F6-AB9A-B993BDF9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09700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E0E62-43BD-49B6-92AD-D69C6403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430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  Train and deploy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A7BB1-87ED-4354-A1E3-EAF96F34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2238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 Qwen on Fireworks AI. Keep base and FT endpoints available.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CA54B-E477-4CDD-A464-BFE6D148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Output: model deployment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8270C-B915-4789-8BAE-B289FE13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409700"/>
            <a:ext cx="2333625" cy="40957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58ECE-0E04-4148-90C8-352868B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409700"/>
            <a:ext cx="2333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63A76-EEE4-4E06-9F41-04483189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543050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  Evaluate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DCC89-BB06-47BD-AD5A-2D03A492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1952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Run identical held-out cases through base, FT and GPT. Judge blind and inspect errors.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55AFC6-9884-43DC-A750-D673550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57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5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Output: decision report</a:t>
            </a:r>
          </a:p>
        </p:txBody>
      </p:sp>
    </p:spTree>
    <p:extLst>
      <p:ext uri="{BB962C8B-B14F-4D97-AF65-F5344CB8AC3E}">
        <p14:creationId xmlns:p14="http://schemas.microsoft.com/office/powerpoint/2010/main" val="474552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aee75236543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E7706-B7AA-4EE4-8764-443C8463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AFD51-758F-463C-97F6-406131F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04B53-0087-491A-A4F5-28B4809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AI and Microsoft Foundry have different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27683-1C41-4990-A589-CB8340A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72D20-52A8-4D09-8AB7-3919E3FB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FC84C-F980-420F-9373-30AFEB10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66750" y="12573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43375"/>
                <a:gridCol w="4143375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Capability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AI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Microsoft Foundry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Small-model serving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 base and fine-tuned deployments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Catalog and deployment feasibility checks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Fine-tuning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supervised fine-tunes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Teacher and validation workflows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Large-model baseline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 base comparison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GPT-4.1 mini, GPT-5.6 Luna and GPT agents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Evaluation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Token, latency and response capture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Hosted inference and judge workflows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Project value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Fast iteration on compact models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Generalist baselines and model-assisted evaluation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72D1B-9C90-4CDC-B6C5-E38F2651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benchmark joins both platforms into one decision process: train the specialist, test it against a strong generalist, then inspect the failures.</a:t>
            </a:r>
          </a:p>
        </p:txBody>
      </p:sp>
    </p:spTree>
    <p:extLst>
      <p:ext uri="{BB962C8B-B14F-4D97-AF65-F5344CB8AC3E}">
        <p14:creationId xmlns:p14="http://schemas.microsoft.com/office/powerpoint/2010/main" val="6009229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1ac6363c94d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3F7CC-64ED-40D8-8674-2D84B22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6E79E-752E-4855-9D86-BA58F798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Proof of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D7D14-B9A6-4945-A4F9-6784D1B4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Banking77 showed parity with a sub-billion-parameter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AE4DC-49B0-4F06-BE89-A08A449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BD7BF-5E06-4EAF-9B71-B1E8E00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40E80-CC09-4FA1-9252-3656B40B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88320-AE88-46E6-8E1C-335CBD87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E458A-43E1-4713-BB41-CBFCF3BE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86.88%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965A3-CD57-4B9C-900B-28C83050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Qwen3.5-0.8B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58D1F-3424-46D8-900A-BCC70D69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DCB7D-06F4-4A50-8F1B-EABEF7E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85.19%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7F083-D0BF-4396-A80D-14ED3FA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GPT-5.6 Luna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D0D8B-BCF7-4841-9EE3-E82F7634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EA3B4-B065-4ECE-A6BD-D7E8AAC9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35.3×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B2EE0-A25B-4488-B736-CE9811AE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more tokens for direct GPT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2C16A-F17E-4C1F-A1A2-DE1B0CC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0EDDD-7282-443B-A4CF-E1E0C26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3,080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2F93D-90DD-46BD-A042-89918CFF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shared test examples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838200" y="3067050"/>
          <a:ext xmlns:a="http://schemas.openxmlformats.org/drawingml/2006/main" cx="6667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f3f1dc395f472d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01D03-D913-4FB6-B34E-D5DD7A8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Closed-label classification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06815-EB46-453D-82AC-82606AB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14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The specialist encodes the 77-class contract in its weights. The generalist receives instructions and labels repeatedly.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A1AE2-9B84-446A-82C8-2C99BEEB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E5F2C0-9A02-4C22-8C8D-13FA884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0.8B model delivered the highest test quality.</a:t>
            </a:r>
          </a:p>
        </p:txBody>
      </p:sp>
    </p:spTree>
    <p:extLst>
      <p:ext uri="{BB962C8B-B14F-4D97-AF65-F5344CB8AC3E}">
        <p14:creationId xmlns:p14="http://schemas.microsoft.com/office/powerpoint/2010/main" val="8243476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d7ebb52ad49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A114-2435-4F0D-9C98-DB303C2E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DF706-01A8-4E6B-A16C-C42A7263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Primary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E5EA5-B1A8-4878-9393-28ECB73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Amazon Reviews tests a generative business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41BD0-8776-437C-BAD2-A6FA48C5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11488-5B86-4DBE-82D9-A8777B8F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74BC4-5C49-4FDD-A92D-FC11047B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8B58B-F2BE-4E61-B2FF-5308DC2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Evidence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A72AC-0AFA-4377-AC97-B4FE670D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Product metadata + customer reviews + user 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4A32A-0F4C-4AF5-913E-87DFD67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Model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C9735-3A7D-47B6-B3D6-EAE08740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Grounded answer with one of four purchase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9C6C5-BCF5-451A-A406-10EB9D04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88023-130A-4BEB-BF7B-44FCC332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Pros and cons, use cases, common problems and purchase 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D80D6-39CF-4CA7-B07C-5E54074B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435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ABFE6-C741-4A07-A6D5-AC4CD906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2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Leakage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40A17-BE6B-4C69-9733-3FFFEAC6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512E3-513A-4806-96A4-A4F9263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Split by product, not by individual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7742A-0097-42BC-B1FD-0A09F6FE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E128A-2195-4B6E-BBB4-1DD0AC6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5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Exclude training products from held-out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05390-9E86-40EB-9B99-64AE8E0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4E718-4353-4044-97F4-7EAFCA7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Preserve evidence IDs outside model-visible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D1360-EA77-4147-AABC-FCC4C1E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4192C-A17F-4A0C-8947-5444149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Run base, FT and GPT on identical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4CF64-7A0E-4C9F-9FF1-52E36F84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33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3CA0A-662D-4A03-B169-2C8BBF5A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Present outputs blindly to the judge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AC2E4-F131-4C3D-9834-BA96F24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103-case v2 set: 51 DO_NOT_BUY · 24 CONDITIONAL_BUY · 24 INSUFFICIENT_EVIDENCE · 4 BUY</a:t>
            </a:r>
          </a:p>
        </p:txBody>
      </p:sp>
    </p:spTree>
    <p:extLst>
      <p:ext uri="{BB962C8B-B14F-4D97-AF65-F5344CB8AC3E}">
        <p14:creationId xmlns:p14="http://schemas.microsoft.com/office/powerpoint/2010/main" val="12673184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e724af80746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885F0-B76A-409F-BF75-1D4771A6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339B7-6F08-4C28-9777-BFBE4B20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0B85B-EDAD-46BA-8097-BADAE0C1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Broad benchmark: GPT-4.1 mini led overall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4C95E-9A03-42B8-8304-BD64F6E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32158-A6E4-4E55-828B-47449D16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E6D49-1A73-455A-9C10-864F908C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52450" y="1162050"/>
          <a:ext xmlns:a="http://schemas.openxmlformats.org/drawingml/2006/main" cx="110871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571625"/>
                <a:gridCol w="1476375"/>
                <a:gridCol w="1666875"/>
                <a:gridCol w="1762125"/>
                <a:gridCol w="1847850"/>
              </a:tblGrid>
              <a:tr h="547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Model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Quality /100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Pass rate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Critical errors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Output tokens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Mean latency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GPT-4.1 mini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81.61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65.0%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69,066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9.93 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FT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74.58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47.5%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23.0%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17,670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1.32 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base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65.09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25.5%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46.5%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57,978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1.54 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9CF55-BF4B-4EE9-BBE1-9FDE46FC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D2A13-FD20-4721-A0EC-41B8F986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+9.49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54E22-69EE-4DEC-AFAD-D356137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quality points vs.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04AB4-6D7F-4726-A396-B76DE2A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2BF98-296B-42F6-AA51-48DAD79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+22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1CE4C-F1E3-4DF1-9369-43E86FF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pass rate vs. 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25594-D13C-4C7D-BBFD-36A17B5E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9F11C-E8DF-4E1D-A7AF-F261E25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−23.5 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7D44C-1B48-47C8-9AAB-0AD251F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critical errors vs.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33B33-3F9B-4F94-A9AA-B2308F6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566F4-444B-403A-A255-6EBDB815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−74.4%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5040B-85A0-4CD7-A974-73368D86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output tokens vs.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C2C9C-DFC3-42E0-8C9D-2B0221F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34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GPT-4.1 mini won the general benchmark. Fine-tuning still moved the 4B model much closer while making responses shorter and faster in the observed deployments.</a:t>
            </a:r>
          </a:p>
        </p:txBody>
      </p:sp>
    </p:spTree>
    <p:extLst>
      <p:ext uri="{BB962C8B-B14F-4D97-AF65-F5344CB8AC3E}">
        <p14:creationId xmlns:p14="http://schemas.microsoft.com/office/powerpoint/2010/main" val="8482727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63aa8231542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4264B-5750-4C12-853C-0901075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7D604-4D44-4ECA-B5B5-7C51E8BD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80722-2DD3-4E67-9B68-0D9E057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Narrow benchmark: FT v2 led, but remained unsafe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24A61-AE38-47B1-8606-B8D94288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72EDA-A6E6-4D43-896B-952182C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7A26C-EB31-45FB-B351-895BE97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90550" y="1219200"/>
          <a:ext xmlns:a="http://schemas.openxmlformats.org/drawingml/2006/main" cx="6381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2fff91ed7447b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02EF5-FB46-4339-A908-C3508A70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00150"/>
            <a:ext cx="3524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1E4AD-D1FD-4F8B-8870-A6B6DAE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525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64.08%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42695-EB74-4A5B-895A-A35AD8D6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v2 blind win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4F904-10B4-4F32-B042-81853C6A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524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DE79B-6C93-4787-B3D7-58C13E5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54.37%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F39BF-6482-43FF-9931-D724A82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v2 decision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9F0C6-8E36-4575-9C67-A7F2C0C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3524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A77DC-8B90-4D88-A172-50D03A9E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59.22%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740F8-22DC-48F9-A5AC-A4DFB590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054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v2 critical-error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41871-E36E-4F57-B99A-C71251A0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483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7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specialist won this constrained comparison. Its absolute safety level still blocks autonomous deployment.</a:t>
            </a:r>
          </a:p>
        </p:txBody>
      </p:sp>
    </p:spTree>
    <p:extLst>
      <p:ext uri="{BB962C8B-B14F-4D97-AF65-F5344CB8AC3E}">
        <p14:creationId xmlns:p14="http://schemas.microsoft.com/office/powerpoint/2010/main" val="2615352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464c75fd14c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E4ED3-3531-419D-B586-DCE9EBE1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A51C-B9E5-4FB8-9AA2-809390F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Efficiency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FA427-1BC4-4DC4-AAF9-570C153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Specialization reduced output volume and observed latency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34508-C4DC-4803-B4D3-4C78536C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75D5-23C5-46A8-8683-0F7864E6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AEA9A-4719-49B3-BAB5-4A343284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66750" y="114300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7e58bf2fc94e4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7038F-9A8B-44A1-8B31-DD69EAA1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Output tokens across 200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7141E-AEFB-4CB7-9C4E-C752AAD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4191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9750F-A65D-48A4-B52F-D23DFE6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4× less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D1625-4CE9-4299-BC35-38B0651B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574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output than GPT-4.1 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5E2B2-B2B2-465D-AA96-37DA7DB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191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A155D-D596-4770-B386-5668E62B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1.32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225F1-E026-484D-93E1-2CCB6A9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mean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72FCB-6FF7-4BED-A8F8-2232453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191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1275D-409C-4701-B6E8-D0C9A6EC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673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71D90-619B-448C-8689-1ABCF400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7150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responses at 500-token limit</a:t>
            </a:r>
          </a:p>
        </p:txBody>
      </p:sp>
    </p:spTree>
    <p:extLst>
      <p:ext uri="{BB962C8B-B14F-4D97-AF65-F5344CB8AC3E}">
        <p14:creationId xmlns:p14="http://schemas.microsoft.com/office/powerpoint/2010/main" val="11467665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b393e21bf4b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7B3D2-A603-414B-BC56-261869F1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5DBB5-4C39-41A7-BEDF-BD26B78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the work proves</a:t>
            </a:r>
          </a:p>
        </p:txBody>
      </p:sp>
    </p:spTree>
    <p:extLst>
      <p:ext uri="{BB962C8B-B14F-4D97-AF65-F5344CB8AC3E}">
        <p14:creationId xmlns:p14="http://schemas.microsoft.com/office/powerpoint/2010/main" val="12700789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562ffed1b41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9EC6-38C9-482D-A2D7-E08B001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D5170-A6A3-463E-AAE8-29F696F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3DFD3-40BF-486C-9F30-E305E768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Measure first, then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D6EA7-192F-4D07-972B-32EF9991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F4648-650C-450B-A310-8A599072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9038C-D516-4BED-AFCC-F7713A9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EA470-58F4-484C-9551-27964AB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Every iteration keeps the same held-out evidence and adds a new measurement. Improvements that only look good on training data do not 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FE4F1-922B-4339-B982-656ED52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7413C-1E78-435E-9496-45FC74CF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2A366-05C7-4BED-AF4F-0774F7D3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 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02FFD-CAA4-46D1-9C55-1A44F257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Run the small base model and the generalist on the same contract.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9AB7C-F8A8-493C-AE67-5B427A0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Result: comparison floor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02F83-8B78-4AA8-BE31-DE76D0B1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1008E-403E-400F-8BFD-9CAD61B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DC0A3-7E57-415B-8AFD-4778F7C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  Fine-tune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B88CA-A53E-4382-BF8C-91C4B1F0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Train on reviewed examples with preserved provenance and split isolation.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F5C49-BEBF-44F7-94D3-94183DA5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Result: candidate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C5CD9-2DAC-4BA5-ADF8-E2AB7B2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A6C3B-2D8F-4C51-8D5F-ECE70117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3F4B6-F5C0-4304-97A0-75DEEEE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  Blind judge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F189A-BB0F-4F05-BC47-181207EF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Randomize model identity and score grounding, rules, coverage and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3A1D8-E1E4-4207-9886-B8FF990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Result: quality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DE34B-53CF-4ED8-BCAE-391D3DFE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42CA5-EA9B-4132-A483-27BA64CF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D6FA5-8440-499E-B57D-DEF9AACD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  Diagnose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A3B49-FC2A-406A-B270-FCA32C22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Inspect critical errors by class, task and evidence pattern before retraining.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588AD-8D0F-4FDF-9260-ACC7762E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Result: targeted next dataset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1962B-BC43-4A97-AC4B-DB73692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29300"/>
            <a:ext cx="765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evaluation becomes part of the training loop, not a final presentation step.</a:t>
            </a:r>
          </a:p>
        </p:txBody>
      </p:sp>
    </p:spTree>
    <p:extLst>
      <p:ext uri="{BB962C8B-B14F-4D97-AF65-F5344CB8AC3E}">
        <p14:creationId xmlns:p14="http://schemas.microsoft.com/office/powerpoint/2010/main" val="44880567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74bc727e749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B83AE-1DE5-4520-8EEA-DBD5F779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45EB-D413-4D4C-ADFB-D762D702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A871F-B0FD-426E-A78F-D40037D5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break-even depends on fixed cost and marginal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6898A-11FF-42CA-AC59-D56C973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79464-556F-484C-A10E-D4059B9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7AB6C-9C8A-423F-AFEE-91AAB4E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5489C-F17A-401B-82AE-CD66B4E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82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486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82F98-807C-4265-B88A-4B33A144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09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Small-model cost = F + N × c_small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69FF3-E4B3-4DA9-AB0C-B20AD1E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Large-LLM cost = N × c_large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8CEB6-3CCE-4739-A406-7A72EBED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Break-even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4A999-1F98-499C-8C2D-528B3870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33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0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EFB22-FE69-40A2-AC1E-7D99E3D0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147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FA822-085A-4EB9-AC97-0F5CF945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c_large − c_small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26D8C-8097-4825-BC10-AAA02CDC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must enter the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A2815-1D68-4B58-B87D-606CB93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76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D92A2-D6EE-4C54-914F-7ADCEE8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preparation and human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ECC20-56B1-4299-82A5-D6B9A363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338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56107-A701-4013-9B5B-A0B4F6F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Training, evaluation and deployment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9E219-ACB6-4E31-9837-B095DA6E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910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1385E-BC06-45A7-B007-49D9E68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71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Hosted input, output and cached-token prices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59CA5-0CB4-4221-8E8C-188C02F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6679F-C525-42D4-9FF0-AFA5C03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29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Dedicated GPU utilization and batching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9520A-4275-45A3-9C9C-312CEB1D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054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F65CE-BA01-4672-B351-71397995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86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Fallback rate to a large LLM or human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788D5-88C1-4A24-B205-1F41118E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The experiments establish quality and processing differences. They do not yet establish a final dollar break-even because production prices and utilization are still inputs.</a:t>
            </a:r>
          </a:p>
        </p:txBody>
      </p:sp>
    </p:spTree>
    <p:extLst>
      <p:ext uri="{BB962C8B-B14F-4D97-AF65-F5344CB8AC3E}">
        <p14:creationId xmlns:p14="http://schemas.microsoft.com/office/powerpoint/2010/main" val="21023138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b653d49764d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F28E9-BD97-4D87-BC69-EAFF5F4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797A7-1427-4749-A075-B446E7D8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ED5C2-802F-4673-A123-028667C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hybrid route contains risk and preserves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3E4AD-6CD5-4D07-B284-D85F4455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E672B-CBE4-45CD-A002-B5E5AE0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448CB-9775-4C09-9B8F-08D41937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B0B65-A00F-4596-AEB3-781AC74E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86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6BB8A-47BE-4179-901A-E8D9FD3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3714B-5040-4684-8A49-04E27D3A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ABB31-87BA-4740-B50D-2C415DF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3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A9447-943F-44DA-A546-E540D866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Qwen 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DE63C-2256-4CA2-A00D-28D0C376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62D83-226F-43EB-974F-53B6A42C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860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33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8AC72-4356-4D89-AC5D-3F59033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3365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Confidence +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BEDC-EC69-45C4-B680-1887B44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9F139-A448-4E4E-A13D-3EA69C0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5A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73AE4-9419-484F-BB43-DE85FD5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GPT or human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A9268-DF24-4F51-8D33-CE99AD7B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7E08A-0372-4BA3-BD41-6C2A09C0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D8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9A2BD-E935-4B1A-A39A-9ECE180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5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Final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11723-916D-4D2B-99DF-88062031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High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443F9C-EE06-4351-81D4-486E73A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accept specialist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795F8-4A4F-408F-8CE6-F2B1DC5B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Low confidence or rule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9A6C2-DC92-4F4B-8057-0F661255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escalate only the difficult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AA3A8-A7C2-4BD8-A312-0743EE2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933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9ECCF-F6C2-48F9-A25E-143D32D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62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Target operating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E9F0F-7634-488C-B8B7-8C919EA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054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Keep recurring traffic on the small model. Pay for general reasoning only when uncertainty or business risk justifies it.</a:t>
            </a:r>
          </a:p>
        </p:txBody>
      </p:sp>
    </p:spTree>
    <p:extLst>
      <p:ext uri="{BB962C8B-B14F-4D97-AF65-F5344CB8AC3E}">
        <p14:creationId xmlns:p14="http://schemas.microsoft.com/office/powerpoint/2010/main" val="10257903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10da2009746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C1D8-D590-4D25-B18D-691882AC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E2DFF-76DB-4529-8A4B-100D08C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Considerations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5E151-38DC-473D-8469-141D8996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Current evidence has four material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921E4-C2EC-4FDF-8323-A6CDEDD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A180D-042E-4C7D-A642-94A6A58D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553F2-51AF-44C4-B0BB-F1F14905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14350" y="1143000"/>
          <a:ext xmlns:a="http://schemas.openxmlformats.org/drawingml/2006/main" cx="111633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810000"/>
                <a:gridCol w="5114925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Constraint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Evidence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Decision implication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Critical errors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v2: 59.22% on the 103-case set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No autonomous purchase decisions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Class imbalance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Only 4 BUY references in the v2 benchmark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Rebalance before trusting macro-F1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Automated judge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GPT-6 Sol is a single evaluator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Calibrate with blind human review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Cost gap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Production GPU and provider prices not recorded together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Complete a measured cost model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Different deployments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Latency spans Fireworks AI and MS Foundry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Treat latency as observed, not architecture-pure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A777C-07EA-44FD-9F67-11AFD02A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A strong relative result does not override an unsafe absolute error rate.</a:t>
            </a:r>
          </a:p>
        </p:txBody>
      </p:sp>
    </p:spTree>
    <p:extLst>
      <p:ext uri="{BB962C8B-B14F-4D97-AF65-F5344CB8AC3E}">
        <p14:creationId xmlns:p14="http://schemas.microsoft.com/office/powerpoint/2010/main" val="10432906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584642dde4e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C4A41-E466-4B3B-B560-72B1B7B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47C44-1503-4413-A9F9-925FF4E2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D2FB2-6030-4C8D-B00C-1DBC1A3C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Path from prototype evidence to a production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0774A-1B32-40DB-AAA4-E80203C3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FB0CB-9361-47E5-B9B9-9BBABF6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3EEFC-7E72-4ED0-8F5E-73B65B98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B1641-6D00-4C06-8A2A-94AC2EF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3947B-49BC-4ED3-91F3-4B2935AC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E72F1-7A3D-4BDA-BA96-8F97E6F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2CA69-31A9-4F61-8F8D-CE963FB3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CDFAC-474E-4611-8E5F-74CB1034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Balance decisions and add close contrasts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DF5C8-A293-498F-B020-205144EA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914E2-0AAC-456B-8C14-7CDA1160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977D1-DE57-48EC-8D32-C3045DD9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24090-16B9-4C23-88AA-9DE4729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Safety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7B371-DF11-4C93-9F82-D1F66AA8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Block BUY when required evidence is missing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3C39A-F5A7-4F13-BFB9-845FDA9D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B9605-F691-4C25-875C-9A45F72A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F3D5B-5673-4AB2-B4F0-39A34E59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4279F-29CE-436D-BC39-A1FCF20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Human calibration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50D0C-8B14-42C5-AEC9-619D292C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Review disagreements and critical errors blind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CF7BB-A0A7-47D2-BDEA-A1ECAD6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D0C7F-F225-49AD-96B7-89CDB092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9F772-A45C-4594-A4E1-FA077D2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2E0C0-7847-46B3-ABC8-57AE4732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Cost benchmark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AF4F9-EBEF-43E1-9696-CBAE4367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serving, batching and fallback 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2F4B7-0A6D-4456-9588-B1D07898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33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94A83-2C3E-4E60-B237-525D0835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F25CB-00C7-49B0-B6AD-4010FD6B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Controlled pilot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0195D-1741-444C-BAB8-5879CBB9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Run real traffic with monitoring and 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DE2BF-F12D-4F82-B8FA-1028F981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B7F3E-2649-4D54-A02C-C332A46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Go / no-go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919E0D-CB1F-4067-A601-DDAF96E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9BFD16-7962-4F4F-9A16-BDE1C8D6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Quality threshold by task and decision class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8E6366-AD5F-4B3F-98FE-8F47521F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8AFFEE-A6E2-49F6-B012-2167C0F7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Maximum acceptable critical-error 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4D3304-506C-4401-93D7-9C7FEE5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8CE06-8751-41B4-8D40-8DA6456D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Validated price per 1,000 production requests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F9689D-F562-4AC1-885E-E212D09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610FF8-7E8E-4E6C-9136-E29D318D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Fallback rate and end-to-end SLA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0E65FA-33A4-469A-8DD6-6F2E2B7A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815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next milestone is a decision package, not another isolated model score.</a:t>
            </a:r>
          </a:p>
        </p:txBody>
      </p:sp>
    </p:spTree>
    <p:extLst>
      <p:ext uri="{BB962C8B-B14F-4D97-AF65-F5344CB8AC3E}">
        <p14:creationId xmlns:p14="http://schemas.microsoft.com/office/powerpoint/2010/main" val="20184264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fbebeb6c741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4B06-B622-4715-8234-808C15C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8E47B-A6BA-48BB-BFA0-D17ACAD7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21BF5-1E27-4626-89B6-1D07F78E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Two Amazon benchmarks answer different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CB673-3E71-41C0-9790-168E2550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48625-62B6-4A39-BD22-3E29983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DF7F8-D9E6-4071-BEC2-DEA0758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52450" y="1066800"/>
          <a:ext xmlns:a="http://schemas.openxmlformats.org/drawingml/2006/main" cx="110871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52925"/>
                <a:gridCol w="4352925"/>
              </a:tblGrid>
              <a:tr h="5595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Dimension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200-case broad benchmark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103-case v2 benchmark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Scope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Four tasks, 50 cases each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Purchase recommendation only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Fine-tune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ft-qwen3-4b-amazon-10k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ft-qwen3-4b-amazon-v2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Winner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GPT-4.1 mini overall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FT v2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judge score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74.58 / 100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61.00 / 100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pass rate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47.5%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34.95%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critical errors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23.0%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59.22%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Interpretation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Competitive specialist with strong efficiency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Specialist leads peers, but absolute safety is weak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F946C-9DD0-48CD-965C-5E5C108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5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Scores cannot be compared across the two sets as if they came from one test. The task mix, references and fine-tune changed.</a:t>
            </a:r>
          </a:p>
        </p:txBody>
      </p:sp>
    </p:spTree>
    <p:extLst>
      <p:ext uri="{BB962C8B-B14F-4D97-AF65-F5344CB8AC3E}">
        <p14:creationId xmlns:p14="http://schemas.microsoft.com/office/powerpoint/2010/main" val="9297086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b586b7f114b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6AECC-0615-41A5-8E86-FF51F1E3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3F70B-5F85-4E5B-A46B-0686B6B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06476-2D78-46D6-91C8-EE4F3AEA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Decisions needed before the next iteration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3BBD-2918-44F0-8527-ACEBB337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7CF05-A9ED-4452-A219-1594DA3F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AD8A3-415E-4F42-8074-3B3D6B3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BBA0F-5B76-47A7-9408-D36263F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8C4E2-0E8E-424A-86B3-4D114B3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09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5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Which business decision should define success: answer quality, purchase label accuracy, or reduced analyst effort?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6BBFF-7CF3-4E5B-BEB2-2275E114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04FF2-EA54-4C94-B3C9-FDD6708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critical-error rate is acceptable before fallback?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13F1A-24B7-497A-B691-FD2365B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6A5E4-2357-457D-8FA6-BBD75A9E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monthly volume and latency SLA should drive the cost model?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C069D-954A-45C1-BD0B-71A9D6B3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095DB-3728-486B-9B7F-1CA9007B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Should GPT-4.1 mini remain the primary generalist baseline?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249EE-C9BE-447C-B358-BC141AA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21BD9-2486-4B7E-8484-9C82D387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Who will perform the blind human calibration set?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A0825-22F0-4847-A805-E82972F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B6C4E-AF6C-4C47-841A-1834418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Which production route should we benchmark: dedicated GPU, serverless endpoint, or both?</a:t>
            </a:r>
          </a:p>
        </p:txBody>
      </p:sp>
    </p:spTree>
    <p:extLst>
      <p:ext uri="{BB962C8B-B14F-4D97-AF65-F5344CB8AC3E}">
        <p14:creationId xmlns:p14="http://schemas.microsoft.com/office/powerpoint/2010/main" val="74087110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dd99493a74f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f601ff8c744c3"/>
          <a:stretch xmlns:a="http://schemas.openxmlformats.org/drawingml/2006/main"/>
        </p:blipFill>
        <p:spPr>
          <a:xfrm xmlns:a="http://schemas.openxmlformats.org/drawingml/2006/main">
            <a:off x="4552950" y="12573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14823-13B6-4905-BB28-0920853D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9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Let’s go!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B709D-DDF4-4454-B4FF-82CFCB07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81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04EF4-BC8D-46F2-B11C-98A2DBB0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191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1457350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2026-10-22T16:24:43.8290000Z</dcterms:created>
  <dcterms:modified xsi:type="dcterms:W3CDTF">2026-10-22T16:24:43.8290000Z</dcterms:modified>
</coreProperties>
</file>