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2" r:id="rId23"/>
    <p:sldId id="262" r:id="rId8"/>
    <p:sldId id="263" r:id="rId9"/>
    <p:sldId id="264" r:id="rId10"/>
    <p:sldId id="265" r:id="rId11"/>
    <p:sldId id="266" r:id="rId12"/>
    <p:sldId id="267" r:id="rId13"/>
    <p:sldId id="261" r:id="rId7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315"/>
  </p:normalViewPr>
  <p:slideViewPr>
    <p:cSldViewPr snapToGrid="0">
      <p:cViewPr varScale="1">
        <p:scale>
          <a:sx n="106" d="100"/>
          <a:sy n="106" d="100"/>
        </p:scale>
        <p:origin x="1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3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6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per active hour</c:v>
                </c:pt>
              </c:strCache>
            </c:strRef>
          </c:tx>
          <c:spPr>
            <a:solidFill>
              <a:srgbClr val="3486F6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Foundry reference</c:v>
                </c:pt>
                <c:pt idx="1">
                  <c:v>Fireworks B200</c:v>
                </c:pt>
                <c:pt idx="2">
                  <c:v>Fireworks H200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13</c:v>
                </c:pt>
                <c:pt idx="2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252-AC4D-9952-39D8EC2A43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GPT-5 tokens</c:v>
                </c:pt>
              </c:strCache>
            </c:strRef>
          </c:tx>
          <c:spPr>
            <a:ln w="34925">
              <a:solidFill>
                <a:srgbClr val="7B5CE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1917</c:v>
                </c:pt>
                <c:pt idx="2">
                  <c:v>3834</c:v>
                </c:pt>
                <c:pt idx="3">
                  <c:v>5751</c:v>
                </c:pt>
                <c:pt idx="4">
                  <c:v>7668</c:v>
                </c:pt>
                <c:pt idx="5">
                  <c:v>9585</c:v>
                </c:pt>
                <c:pt idx="6">
                  <c:v>11502</c:v>
                </c:pt>
                <c:pt idx="7">
                  <c:v>13419</c:v>
                </c:pt>
                <c:pt idx="8">
                  <c:v>15336</c:v>
                </c:pt>
                <c:pt idx="9">
                  <c:v>17253</c:v>
                </c:pt>
                <c:pt idx="10">
                  <c:v>19170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Fireworks H200 ($8/h)</c:v>
                </c:pt>
              </c:strCache>
            </c:strRef>
          </c:tx>
          <c:spPr>
            <a:ln w="34925">
              <a:solidFill>
                <a:srgbClr val="15936F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5760</c:v>
                </c:pt>
                <c:pt idx="1">
                  <c:v>5760</c:v>
                </c:pt>
                <c:pt idx="2">
                  <c:v>5760</c:v>
                </c:pt>
                <c:pt idx="3">
                  <c:v>5760</c:v>
                </c:pt>
                <c:pt idx="4">
                  <c:v>5760</c:v>
                </c:pt>
                <c:pt idx="5">
                  <c:v>5760</c:v>
                </c:pt>
                <c:pt idx="6">
                  <c:v>5760</c:v>
                </c:pt>
                <c:pt idx="7">
                  <c:v>5760</c:v>
                </c:pt>
                <c:pt idx="8">
                  <c:v>5760</c:v>
                </c:pt>
                <c:pt idx="9">
                  <c:v>5760</c:v>
                </c:pt>
                <c:pt idx="10">
                  <c:v>5760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Fireworks B200 ($13/h)</c:v>
                </c:pt>
              </c:strCache>
            </c:strRef>
          </c:tx>
          <c:spPr>
            <a:ln w="25400">
              <a:solidFill>
                <a:srgbClr val="3486F6"/>
              </a:solidFill>
              <a:prstDash val="lg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9360</c:v>
                </c:pt>
                <c:pt idx="1">
                  <c:v>9360</c:v>
                </c:pt>
                <c:pt idx="2">
                  <c:v>9360</c:v>
                </c:pt>
                <c:pt idx="3">
                  <c:v>9360</c:v>
                </c:pt>
                <c:pt idx="4">
                  <c:v>9360</c:v>
                </c:pt>
                <c:pt idx="5">
                  <c:v>9360</c:v>
                </c:pt>
                <c:pt idx="6">
                  <c:v>9360</c:v>
                </c:pt>
                <c:pt idx="7">
                  <c:v>9360</c:v>
                </c:pt>
                <c:pt idx="8">
                  <c:v>9360</c:v>
                </c:pt>
                <c:pt idx="9">
                  <c:v>9360</c:v>
                </c:pt>
                <c:pt idx="10">
                  <c:v>9360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667085"/>
                    </a:solidFill>
                    <a:latin typeface="Instrument Sans regular"/>
                  </a:rPr>
                  <a:t>Requests per hour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C9D0DA"/>
            </a:solidFill>
          </a:ln>
        </c:spPr>
        <c:txPr>
          <a:bodyPr/>
          <a:lstStyle/>
          <a:p>
            <a:pPr>
              <a:defRPr sz="1000">
                <a:solidFill>
                  <a:srgbClr val="667085"/>
                </a:solidFill>
                <a:latin typeface="Instrument Sans regula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7085"/>
                </a:solidFill>
                <a:latin typeface="Instrument Sans regular"/>
              </a:defRPr>
            </a:pPr>
          </a:p>
        </c:txPr>
        <c:crossAx val="2118791784"/>
        <c:crosses val="autoZero"/>
        <c:majorUnit val="5000.0"/>
      </c:valAx>
    </c:plotArea>
    <c:legend>
      <c:legendPos val="t"/>
      <c:layout/>
      <c:overlay val="0"/>
      <c:txPr>
        <a:bodyPr/>
        <a:lstStyle/>
        <a:p>
          <a:pPr>
            <a:defRPr sz="1050">
              <a:solidFill>
                <a:srgbClr val="667085"/>
              </a:solidFill>
              <a:latin typeface="Instrument Sans regula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Accuracy (%)</c:v>
          </c:tx>
          <c:spPr>
            <a:solidFill>
              <a:srgbClr val="3486F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GPT-4o agent</c:v>
              </c:pt>
              <c:pt idx="1">
                <c:v>GPT-5.6 agent</c:v>
              </c:pt>
              <c:pt idx="2">
                <c:v>GPT-5.6 direct</c:v>
              </c:pt>
              <c:pt idx="3">
                <c:v>Qwen3 0.6B FT</c:v>
              </c:pt>
              <c:pt idx="4">
                <c:v>Qwen3.5 0.8B FT</c:v>
              </c:pt>
            </c:strLit>
          </c:cat>
          <c:val>
            <c:numLit>
              <c:formatCode>General</c:formatCode>
              <c:ptCount val="5"/>
              <c:pt idx="0">
                <c:v>78.150000000000006</c:v>
              </c:pt>
              <c:pt idx="1">
                <c:v>84.71</c:v>
              </c:pt>
              <c:pt idx="2">
                <c:v>85.19</c:v>
              </c:pt>
              <c:pt idx="3">
                <c:v>85.06</c:v>
              </c:pt>
              <c:pt idx="4">
                <c:v>86.88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425-4442-9640-C3CE7D3708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Total tokens</c:v>
          </c:tx>
          <c:spPr>
            <a:solidFill>
              <a:srgbClr val="765AE8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Qwen3.5 0.8B FT</c:v>
              </c:pt>
              <c:pt idx="1">
                <c:v>GPT-5.6 direct</c:v>
              </c:pt>
            </c:strLit>
          </c:cat>
          <c:val>
            <c:numLit>
              <c:formatCode>General</c:formatCode>
              <c:ptCount val="2"/>
              <c:pt idx="0">
                <c:v>38779</c:v>
              </c:pt>
              <c:pt idx="1">
                <c:v>1368780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758-594B-9753-BEA2422D5BE1}"/>
            </c:ext>
          </c:extLst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#,##0" sourceLinked="0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Decision accuracy (%)</c:v>
          </c:tx>
          <c:spPr>
            <a:solidFill>
              <a:srgbClr val="15936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Qwen3-4B FT v2</c:v>
              </c:pt>
              <c:pt idx="1">
                <c:v>GPT-5</c:v>
              </c:pt>
              <c:pt idx="2">
                <c:v>Qwen3-4B base</c:v>
              </c:pt>
            </c:strLit>
          </c:cat>
          <c:val>
            <c:numLit>
              <c:formatCode>General</c:formatCode>
              <c:ptCount val="3"/>
              <c:pt idx="0">
                <c:v>54.37</c:v>
              </c:pt>
              <c:pt idx="1">
                <c:v>37.86</c:v>
              </c:pt>
              <c:pt idx="2">
                <c:v>27.18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885-B84A-9B76-30EE616151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Judge score / 100</c:v>
          </c:tx>
          <c:spPr>
            <a:solidFill>
              <a:srgbClr val="765A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42424"/>
                    </a:solidFill>
                    <a:latin typeface="Instrument Sans regular"/>
                    <a:ea typeface="Instrument Sans regular"/>
                    <a:cs typeface="Instrument Sans regula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Qwen3-4B FT v2</c:v>
              </c:pt>
              <c:pt idx="1">
                <c:v>GPT-5</c:v>
              </c:pt>
              <c:pt idx="2">
                <c:v>Qwen3-4B base</c:v>
              </c:pt>
            </c:strLit>
          </c:cat>
          <c:val>
            <c:numLit>
              <c:formatCode>General</c:formatCode>
              <c:ptCount val="3"/>
              <c:pt idx="0">
                <c:v>60.4</c:v>
              </c:pt>
              <c:pt idx="1">
                <c:v>63.7</c:v>
              </c:pt>
              <c:pt idx="2">
                <c:v>43.12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DD0-F746-8479-96112B0459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Fireworks is a first-party inference provider in Foundry, with PayGo and PTU options. Direct Fireworks is evaluated as an alternative route, not a missing integration.</a:t>
            </a:r>
            <a:endParaRPr lang="es-419"/>
          </a:p>
          <a:p>
            <a:r>
              <a:rPr lang="en-US"/>
              <a:t>Sources: https://fireworks.ai/partners/microsoft and Microsoft Foundry Fireworks documentation. </a:t>
            </a:r>
            <a:br>
              <a:rPr lang="en-US"/>
            </a:b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Microsoft lists A100, H100, H200 and MI300 families on the pricing page, but publishes no numerical public rate. B200 is not listed. Fireworks rates: https://fireworks.ai/pricing. </a:t>
            </a:r>
            <a:endParaRPr lang="es-419"/>
          </a:p>
          <a:p>
            <a:r>
              <a:rPr lang="en-US"/>
              <a:t>Sources: https://fireworks.ai/partners/microsoft and Microsoft Foundry Fireworks documentation. </a:t>
            </a:r>
            <a:br>
              <a:rPr lang="en-US"/>
            </a:b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case: Banking77 is an intent-classification benchmark for banking and financial-services conversations. It tests whether a model can map customer queries to one of 77 predefined support intents. </a:t>
            </a:r>
            <a:br>
              <a:rPr lang="es-419"/>
            </a:br>
            <a:r>
              <a:t>Best-model comparison: Qwen3.5-0.8B LoRA versus GPT-5.6 Luna direct. </a:t>
            </a:r>
            <a:br>
              <a:rPr lang="es-419"/>
            </a:br>
            <a:r>
              <a:t>Accuracy: 86.88% versus 85.19%. </a:t>
            </a:r>
            <a:br>
              <a:rPr lang="es-419"/>
            </a:br>
            <a:r>
              <a:t>Total tokens: 38,779 versus 1,368,780 across the same 3,080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case: this custom dataset is derived from the Amazon Reviews 2023 dataset. </a:t>
            </a:r>
            <a:br>
              <a:rPr lang="es-419"/>
            </a:br>
            <a:r>
              <a:t>It was prepared to train and evaluate a shopping copilot that reviews product evidence and recommends BUY</a:t>
            </a:r>
            <a:r>
              <a:rPr lang="es-419"/>
              <a:t>, CONDITIONAL BUY, INSUFFICIENT EVIDENCE</a:t>
            </a:r>
            <a:r>
              <a:t> or NOT BUY. </a:t>
            </a:r>
            <a:br>
              <a:rPr lang="es-419"/>
            </a:br>
            <a:r>
              <a:rPr lang="es-419"/>
              <a:t>GPT 6 Sol was used as blind judge of all models in the benchmark</a:t>
            </a:r>
            <a:br>
              <a:rPr lang="es-419"/>
            </a:br>
            <a:br>
              <a:rPr lang="es-419"/>
            </a:br>
            <a:r>
              <a:t>Best-model comparison: Qwen3-4B FT v2 versus GPT-5. Same 103 cases. </a:t>
            </a:r>
            <a:br>
              <a:rPr lang="es-419"/>
            </a:br>
            <a:r>
              <a:t>Decision accuracy: 54.37% versus 37.86%. </a:t>
            </a:r>
            <a:br>
              <a:rPr lang="es-419"/>
            </a:br>
            <a:r>
              <a:t>Blind judge score: 60.40 versus 63.70. </a:t>
            </a:r>
            <a:br>
              <a:rPr lang="es-419"/>
            </a:br>
            <a:r>
              <a:t>Total tokens: 247,281 versus 469,953.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Microsoft pricing source: https://devblogs.microsoft.com/foundry/whats-new-in-azure-ai-foundry-august-2025/</a:t>
            </a:r>
            <a:br>
              <a:rPr lang="es-419"/>
            </a:br>
            <a:r>
              <a:t>GPT-5 Global Standard pricing: $1.25 per million input tokens and $10 per million output tokens. </a:t>
            </a:r>
            <a:br>
              <a:rPr lang="es-419"/>
            </a:br>
            <a:r>
              <a:t>Observed usage across 103 Amazon cases: 223,680 input tokens and 246,273 output tokens. </a:t>
            </a:r>
            <a:br>
              <a:rPr lang="es-419"/>
            </a:br>
            <a:r>
              <a:t>Monthly estimates assume 1,000 requests/hour: 720h = $19,169.69 and 3.285B tokens; 176h = $4,685.92 and 803M tokens; 80h = $2,129.97 and 365M tokens.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Partnership value proposition for discussion. No official Southworks and Fireworks AI partnership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Break-even = GPU hourly rate / GPT-5 cost per request. GPT-5 cost per request = (2,171.7 input tokens x $1.25/M) + (2,391 output tokens x $10/M) = $0.0266, from 223,680 input and 246,273 output tokens across 103 Amazon benchmark requests. H200: $8 / $0.0266 = ~300 requests/hour. B200: $13 / $0.0266 = ~488 requests/hour. Always-on month = 720 h. At 1,000 req/h: GPT-5 $19,170/month vs H200 $5,760 (-70%). Validate before quoting: sustained throughput of Qwen3-4B FT on one GPU, latency SLA, fallback share and fine-tuning cost. Sources: https://fireworks.ai/pricing ; https://devblogs.microsoft.com/foundry/whats-new-in-azure-ai-foundry-august-2025/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5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7" Type="http://schemas.openxmlformats.org/officeDocument/2006/relationships/chart" Target="../charts/chart6.xml"/><Relationship Id="rId8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6" Type="http://schemas.openxmlformats.org/officeDocument/2006/relationships/chart" Target="../charts/chart10.xml"/><Relationship Id="rId7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0" y="1066800"/>
            <a:ext cx="3714750" cy="3714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1432FC-5112-41C7-8F59-F82457A5BD4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✦ southworks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6645C9-0EF9-4CE5-9D92-E89777F870DF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6953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43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3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Specialized AI,</a:t>
            </a:r>
          </a:p>
          <a:p>
            <a:pPr algn="l">
              <a:buNone/>
              <a:defRPr sz="43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3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Better Economics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297A8-2A98-425C-B258-63600C800DFC}"/>
              </a:ext>
            </a:extLst>
          </p:cNvPr>
          <p:cNvSpPr>
            <a:spLocks noGrp="1"/>
          </p:cNvSpPr>
          <p:nvPr/>
        </p:nvSpPr>
        <p:spPr>
          <a:xfrm>
            <a:off x="495300" y="3810000"/>
            <a:ext cx="676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FFFFFF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875" b="0">
                <a:solidFill>
                  <a:srgbClr val="FFFFFF"/>
                </a:solidFill>
                <a:latin typeface="PP Telegraf regular"/>
                <a:ea typeface="PP Telegraf regular"/>
                <a:cs typeface="PP Telegraf regular"/>
              </a:rPr>
              <a:t>A Southworks and Fireworks AI partnership opportunity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2C2B6-8242-418F-A542-7D8C70057615}"/>
              </a:ext>
            </a:extLst>
          </p:cNvPr>
          <p:cNvSpPr>
            <a:spLocks noGrp="1"/>
          </p:cNvSpPr>
          <p:nvPr/>
        </p:nvSpPr>
        <p:spPr>
          <a:xfrm>
            <a:off x="495300" y="4457700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r>
              <a:rPr sz="1200">
                <a:solidFill>
                  <a:srgbClr val="FFFFFF"/>
                </a:solidFill>
                <a:latin typeface="Instrument Sans regular"/>
              </a:rPr>
              <a:t>Executive proposal  |  October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4B6EB-C21D-47D7-8AF8-6E7F557EF20F}"/>
              </a:ext>
            </a:extLst>
          </p:cNvPr>
          <p:cNvSpPr>
            <a:spLocks noGrp="1"/>
          </p:cNvSpPr>
          <p:nvPr/>
        </p:nvSpPr>
        <p:spPr>
          <a:xfrm>
            <a:off x="438150" y="61912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</p:spTree>
    <p:extLst>
      <p:ext uri="{BB962C8B-B14F-4D97-AF65-F5344CB8AC3E}">
        <p14:creationId xmlns:p14="http://schemas.microsoft.com/office/powerpoint/2010/main" val="131246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9DCDB8A-0E7A-453F-82BF-CC8092BB7FA3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EA3D1F-7076-4036-97CB-CF6CEC2EAC3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SUMMARY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6A078A-7DCD-41CF-A916-2B917725A45D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can turn specialization into Fireworks adoption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B74F1-B0A0-40BD-B0B4-5326FD846E00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AEF91-3400-49BC-9AAF-17087FF0247F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A6FCF6-9528-4A4F-B890-7D69FED6BCDA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D19C8C-97C4-428A-863B-F9DEE3A64BF7}"/>
              </a:ext>
            </a:extLst>
          </p:cNvPr>
          <p:cNvSpPr>
            <a:spLocks noGrp="1"/>
          </p:cNvSpPr>
          <p:nvPr/>
        </p:nvSpPr>
        <p:spPr>
          <a:xfrm>
            <a:off x="800100" y="95250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23"/>
          </a:bodyPr>
          <a:lstStyle/>
          <a:p>
            <a:pPr algn="ctr">
              <a:buNone/>
              <a:def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combines compact-model fine-tuning, enterprise integration and economic validation. The partnership opportunity is to move suitable inference workloads to Fireworks while preserving the surrounding application estate.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16F708-ED10-4F43-9389-EABC4F9AE94C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181407-DDA4-4666-BBE6-EE05E6DCD537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Evidence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250041-2696-47B4-9E97-C38AA03313C6}"/>
              </a:ext>
            </a:extLst>
          </p:cNvPr>
          <p:cNvSpPr>
            <a:spLocks noGrp="1"/>
          </p:cNvSpPr>
          <p:nvPr/>
        </p:nvSpPr>
        <p:spPr>
          <a:xfrm>
            <a:off x="3238500" y="19621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Our own experiments show that a small, domain-specialized model can match or exceed a general-purpose LLM on a narrowly defined task.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36CBCE-C6E3-4552-8BDA-3ECF7D91EC8E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E573F1-BE2A-4BAC-B68F-245CBF31A603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Economics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CA1186-6E68-43AD-85EC-5884882B3D49}"/>
              </a:ext>
            </a:extLst>
          </p:cNvPr>
          <p:cNvSpPr>
            <a:spLocks noGrp="1"/>
          </p:cNvSpPr>
          <p:nvPr/>
        </p:nvSpPr>
        <p:spPr>
          <a:xfrm>
            <a:off x="3238500" y="285750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Fireworks offers a broader choice of deployable open models and a materially lower-cost path for dedicated inference than the comparable Foundry options assessed.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4E32C82-2E2D-42B0-9E42-72D4B3D4FB05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CE2F595-E0F3-4029-A526-5BF54AF5E550}"/>
              </a:ext>
            </a:extLst>
          </p:cNvPr>
          <p:cNvSpPr>
            <a:spLocks noGrp="1"/>
          </p:cNvSpPr>
          <p:nvPr/>
        </p:nvSpPr>
        <p:spPr>
          <a:xfrm>
            <a:off x="1428750" y="37528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path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5494B2-4DFE-462F-949F-6074B1FFB8D2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Customers can retain Azure applications and route selected inference calls to Fireworks endpoints.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1A354B-C98F-49BC-82AF-AF53505D1022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48" lnSpcReduction="10000"/>
          </a:bodyPr>
          <a:lstStyle/>
          <a:p>
            <a:pPr algn="l">
              <a:buNone/>
              <a:defRPr sz="16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EE871F-EA6F-4BFE-99FC-777971285533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Joint motion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B0309E-342E-4341-AB8A-C012D0A67DF7}"/>
              </a:ext>
            </a:extLst>
          </p:cNvPr>
          <p:cNvSpPr>
            <a:spLocks noGrp="1"/>
          </p:cNvSpPr>
          <p:nvPr/>
        </p:nvSpPr>
        <p:spPr>
          <a:xfrm>
            <a:off x="3238500" y="464820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Southworks can assess workloads, fine-tune, integrate, benchmark and operate customer pilots.</a:t>
            </a:r>
          </a:p>
        </p:txBody>
      </p:sp>
    </p:spTree>
    <p:extLst>
      <p:ext uri="{BB962C8B-B14F-4D97-AF65-F5344CB8AC3E}">
        <p14:creationId xmlns:p14="http://schemas.microsoft.com/office/powerpoint/2010/main" val="132336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44616C-0C4F-420B-9A0E-A478920E2E7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E4852F-F93E-4CC9-85D6-4918FF9981D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CHALLENGE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5B098-E137-47F8-879B-7B4BB84FC1A6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AI cost depends on workload shape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6A4A3-0EDD-454D-8226-9DA24FC1052D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E710A3-EA01-47A4-80CC-CB4BC018E281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16298E-736D-45EE-8DD0-A415B1C0FD95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A24E4C-C077-40B2-B83A-1C218A7D7607}"/>
              </a:ext>
            </a:extLst>
          </p:cNvPr>
          <p:cNvSpPr>
            <a:spLocks noGrp="1"/>
          </p:cNvSpPr>
          <p:nvPr/>
        </p:nvSpPr>
        <p:spPr>
          <a:xfrm>
            <a:off x="857250" y="9144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528" lnSpcReduction="10000"/>
          </a:bodyPr>
          <a:lstStyle/>
          <a:p>
            <a:pPr algn="ctr">
              <a:buNone/>
              <a:def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same application can face very different unit economics depending on whether it pays per token, reserves capacity, or pays only for active GPU time.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2E5B13-FDCB-4530-96D7-CD746B061949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1C2E0-740C-4391-B3BF-89375C0E5ED9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765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E2F9AE-EFF9-499F-9A2B-9067937D999C}"/>
              </a:ext>
            </a:extLst>
          </p:cNvPr>
          <p:cNvSpPr>
            <a:spLocks noGrp="1"/>
          </p:cNvSpPr>
          <p:nvPr/>
        </p:nvSpPr>
        <p:spPr>
          <a:xfrm>
            <a:off x="876299" y="2067258"/>
            <a:ext cx="1609725" cy="26946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GENERALIST</a:t>
            </a:r>
            <a:r>
              <a:rPr sz="9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 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9D42C5-7B48-45F1-8897-AFF89F40C067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 lnSpcReduction="1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No training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34BF48-C0FA-4910-B3D9-6E2D1316A91A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9527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Per-token billing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Flexible reasoning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Cost follows tokens and volume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AAF024-6855-49DA-9D5A-025823F7C74F}"/>
              </a:ext>
            </a:extLst>
          </p:cNvPr>
          <p:cNvSpPr>
            <a:spLocks noGrp="1"/>
          </p:cNvSpPr>
          <p:nvPr/>
        </p:nvSpPr>
        <p:spPr>
          <a:xfrm>
            <a:off x="838200" y="47148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765AE8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4F76BF-D381-4641-9813-39441775D235}"/>
              </a:ext>
            </a:extLst>
          </p:cNvPr>
          <p:cNvSpPr>
            <a:spLocks noGrp="1"/>
          </p:cNvSpPr>
          <p:nvPr/>
        </p:nvSpPr>
        <p:spPr>
          <a:xfrm>
            <a:off x="4448175" y="18097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4B0FEC-3D0C-4250-8354-CC121C32F123}"/>
              </a:ext>
            </a:extLst>
          </p:cNvPr>
          <p:cNvSpPr>
            <a:spLocks noGrp="1"/>
          </p:cNvSpPr>
          <p:nvPr/>
        </p:nvSpPr>
        <p:spPr>
          <a:xfrm>
            <a:off x="4676775" y="20383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DBE46-594E-4507-8556-2096642EB442}"/>
              </a:ext>
            </a:extLst>
          </p:cNvPr>
          <p:cNvSpPr>
            <a:spLocks noGrp="1"/>
          </p:cNvSpPr>
          <p:nvPr/>
        </p:nvSpPr>
        <p:spPr>
          <a:xfrm>
            <a:off x="4752974" y="2067258"/>
            <a:ext cx="1609725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FOUNDRY </a:t>
            </a: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CAPACITY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352319-432D-4D1C-A829-518B415D20BF}"/>
              </a:ext>
            </a:extLst>
          </p:cNvPr>
          <p:cNvSpPr>
            <a:spLocks noGrp="1"/>
          </p:cNvSpPr>
          <p:nvPr/>
        </p:nvSpPr>
        <p:spPr>
          <a:xfrm>
            <a:off x="4714875" y="2609850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 lnSpcReduction="1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Custom model option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91FE65-F857-405C-A150-72480B64DCF2}"/>
              </a:ext>
            </a:extLst>
          </p:cNvPr>
          <p:cNvSpPr>
            <a:spLocks noGrp="1"/>
          </p:cNvSpPr>
          <p:nvPr/>
        </p:nvSpPr>
        <p:spPr>
          <a:xfrm>
            <a:off x="4714875" y="3219450"/>
            <a:ext cx="29527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PTU or GPU capacity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Enterprise procurement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Idle capacity may still bill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9A2E72-30C5-4522-B30D-1C2F169014C6}"/>
              </a:ext>
            </a:extLst>
          </p:cNvPr>
          <p:cNvSpPr>
            <a:spLocks noGrp="1"/>
          </p:cNvSpPr>
          <p:nvPr/>
        </p:nvSpPr>
        <p:spPr>
          <a:xfrm>
            <a:off x="4714875" y="47148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3486F6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1DA0B8-8EA0-423F-B822-6422274FA54E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DE3B9C-D326-44C2-B67A-CA6460127F84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15936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3C74CE-F8CD-4CE6-A86E-23AC7F157DC6}"/>
              </a:ext>
            </a:extLst>
          </p:cNvPr>
          <p:cNvSpPr>
            <a:spLocks noGrp="1"/>
          </p:cNvSpPr>
          <p:nvPr/>
        </p:nvSpPr>
        <p:spPr>
          <a:xfrm>
            <a:off x="8629649" y="2067258"/>
            <a:ext cx="1609725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FIREWORKS </a:t>
            </a: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DIRECT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66A0A-4898-479B-AEE9-1D10DD0CF82D}"/>
              </a:ext>
            </a:extLst>
          </p:cNvPr>
          <p:cNvSpPr>
            <a:spLocks noGrp="1"/>
          </p:cNvSpPr>
          <p:nvPr/>
        </p:nvSpPr>
        <p:spPr>
          <a:xfrm>
            <a:off x="8591550" y="2609850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 lnSpcReduction="1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Fine-tuned endpoint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98FBF8-0676-4DF9-B317-5EC9D6AA9822}"/>
              </a:ext>
            </a:extLst>
          </p:cNvPr>
          <p:cNvSpPr>
            <a:spLocks noGrp="1"/>
          </p:cNvSpPr>
          <p:nvPr/>
        </p:nvSpPr>
        <p:spPr>
          <a:xfrm>
            <a:off x="8591550" y="3219450"/>
            <a:ext cx="29527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Per GPU second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Configurable serving</a:t>
            </a:r>
          </a:p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Economics follow active GPU hours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2D4F37-5C7D-4916-8DD4-9E34E0F43113}"/>
              </a:ext>
            </a:extLst>
          </p:cNvPr>
          <p:cNvSpPr>
            <a:spLocks noGrp="1"/>
          </p:cNvSpPr>
          <p:nvPr/>
        </p:nvSpPr>
        <p:spPr>
          <a:xfrm>
            <a:off x="8591550" y="47148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15936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A86DE2-BE07-4B14-98DC-DC215B857853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FF6339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816F2E-99EE-4FDD-88E4-D10CE05753A3}"/>
              </a:ext>
            </a:extLst>
          </p:cNvPr>
          <p:cNvSpPr>
            <a:spLocks noGrp="1"/>
          </p:cNvSpPr>
          <p:nvPr/>
        </p:nvSpPr>
        <p:spPr>
          <a:xfrm>
            <a:off x="2209800" y="539115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8816"/>
          </a:bodyPr>
          <a:lstStyle/>
          <a:p>
            <a:pPr algn="l">
              <a:buNone/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65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52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94113B-5023-4DDA-A255-26359408B714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6F0C48-BD10-4965-BBB6-67B84613557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OPPORTUNITY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968DF5-0D62-4FED-9D52-2E6BCEDBE102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Direct Fireworks deployment adds </a:t>
            </a:r>
            <a:r>
              <a:rPr sz="230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cheaper</a:t>
            </a:r>
            <a:r>
              <a:rPr sz="23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 option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B3AC1-4924-40B5-B48E-84EFCA683F88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1023F-FBC0-47AB-ADCA-594C2D7A8669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017A4-DEE3-4AFC-8E68-2950D2E34F56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92EED1-97F6-43B8-9D0D-767D99CF53F7}"/>
              </a:ext>
            </a:extLst>
          </p:cNvPr>
          <p:cNvSpPr>
            <a:spLocks noGrp="1"/>
          </p:cNvSpPr>
          <p:nvPr/>
        </p:nvSpPr>
        <p:spPr>
          <a:xfrm>
            <a:off x="1000125" y="895350"/>
            <a:ext cx="10191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167" lnSpcReduction="10000"/>
          </a:bodyPr>
          <a:lstStyle/>
          <a:p>
            <a:pPr algn="ctr">
              <a:buNone/>
              <a:def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models are already available inside Microsoft Foundry. Direct deployment is a separate commercial and technical option for selected workloads.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1DC36F-76F4-4F7A-903D-45C761553D02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4000500" cy="2857500"/>
          </a:xfrm>
          <a:prstGeom prst="roundRect">
            <a:avLst>
              <a:gd name="adj" fmla="val 2667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6E043-2EA6-499A-BF34-E330952D1AB2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RETAIN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FABBBD-387F-4B3C-A196-9E6062768CE5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387"/>
          </a:bodyPr>
          <a:lstStyle/>
          <a:p>
            <a:pPr algn="l">
              <a:buNone/>
              <a:def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Existing enterprise platform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4C776-45D2-4B4F-BCEA-239B9FA2B822}"/>
              </a:ext>
            </a:extLst>
          </p:cNvPr>
          <p:cNvSpPr>
            <a:spLocks noGrp="1"/>
          </p:cNvSpPr>
          <p:nvPr/>
        </p:nvSpPr>
        <p:spPr>
          <a:xfrm>
            <a:off x="1066800" y="2952252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Azure applications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D13898-251D-456F-B81D-A1A5B219AF0C}"/>
              </a:ext>
            </a:extLst>
          </p:cNvPr>
          <p:cNvSpPr>
            <a:spLocks noGrp="1"/>
          </p:cNvSpPr>
          <p:nvPr/>
        </p:nvSpPr>
        <p:spPr>
          <a:xfrm>
            <a:off x="1066800" y="3409452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Enterprise systems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E6C89A-8132-43A1-94C9-CF38B8CB5868}"/>
              </a:ext>
            </a:extLst>
          </p:cNvPr>
          <p:cNvSpPr>
            <a:spLocks noGrp="1"/>
          </p:cNvSpPr>
          <p:nvPr/>
        </p:nvSpPr>
        <p:spPr>
          <a:xfrm>
            <a:off x="1066800" y="3866652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Foundry services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4BB43B-6B74-4200-A0A6-8709500256EE}"/>
              </a:ext>
            </a:extLst>
          </p:cNvPr>
          <p:cNvSpPr>
            <a:spLocks noGrp="1"/>
          </p:cNvSpPr>
          <p:nvPr/>
        </p:nvSpPr>
        <p:spPr>
          <a:xfrm>
            <a:off x="1066800" y="4323852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Identity and 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BB8ACB-EABF-44DA-BCDB-9740BD719452}"/>
              </a:ext>
            </a:extLst>
          </p:cNvPr>
          <p:cNvSpPr>
            <a:spLocks noGrp="1"/>
          </p:cNvSpPr>
          <p:nvPr/>
        </p:nvSpPr>
        <p:spPr>
          <a:xfrm>
            <a:off x="4953000" y="3105150"/>
            <a:ext cx="476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8045BF-52D9-4403-9E2A-EC710D0C0D3D}"/>
              </a:ext>
            </a:extLst>
          </p:cNvPr>
          <p:cNvSpPr>
            <a:spLocks noGrp="1"/>
          </p:cNvSpPr>
          <p:nvPr/>
        </p:nvSpPr>
        <p:spPr>
          <a:xfrm>
            <a:off x="4667250" y="3524250"/>
            <a:ext cx="1047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lstStyle/>
          <a:p>
            <a:pPr algn="ctr">
              <a:buNone/>
              <a:def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Route suitable</a:t>
            </a:r>
          </a:p>
          <a:p>
            <a:pPr algn="ctr">
              <a:buNone/>
              <a:def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inference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08CB1E-D062-407B-95A9-C536F8DF5CC9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5676900" cy="2857500"/>
          </a:xfrm>
          <a:prstGeom prst="roundRect">
            <a:avLst>
              <a:gd name="adj" fmla="val 2667"/>
            </a:avLst>
          </a:prstGeom>
          <a:solidFill>
            <a:srgbClr val="F0FAF7"/>
          </a:solidFill>
          <a:ln w="9525">
            <a:solidFill>
              <a:srgbClr val="159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86F030-1784-44C0-8C11-6EAB556DD3BD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ADD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8500E2-53FC-40F1-B09E-F40E2DD1096D}"/>
              </a:ext>
            </a:extLst>
          </p:cNvPr>
          <p:cNvSpPr>
            <a:spLocks noGrp="1"/>
          </p:cNvSpPr>
          <p:nvPr/>
        </p:nvSpPr>
        <p:spPr>
          <a:xfrm>
            <a:off x="6096000" y="253365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27"/>
          </a:bodyPr>
          <a:lstStyle/>
          <a:p>
            <a:pPr algn="l">
              <a:buNone/>
              <a:def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direct execution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E5A390-E689-4E89-A79B-6AD90C5566AE}"/>
              </a:ext>
            </a:extLst>
          </p:cNvPr>
          <p:cNvSpPr>
            <a:spLocks noGrp="1"/>
          </p:cNvSpPr>
          <p:nvPr/>
        </p:nvSpPr>
        <p:spPr>
          <a:xfrm>
            <a:off x="6162239" y="297566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Fine-tuned </a:t>
            </a:r>
            <a:r>
              <a:rPr lang="es-419"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Model</a:t>
            </a: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 endpoint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D3C7DF-D0A0-42D4-9AFC-1460CF99C252}"/>
              </a:ext>
            </a:extLst>
          </p:cNvPr>
          <p:cNvSpPr>
            <a:spLocks noGrp="1"/>
          </p:cNvSpPr>
          <p:nvPr/>
        </p:nvSpPr>
        <p:spPr>
          <a:xfrm>
            <a:off x="6162239" y="337571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GPU-second billing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21EB38-513C-4E3F-94E2-A6204B1F692F}"/>
              </a:ext>
            </a:extLst>
          </p:cNvPr>
          <p:cNvSpPr>
            <a:spLocks noGrp="1"/>
          </p:cNvSpPr>
          <p:nvPr/>
        </p:nvSpPr>
        <p:spPr>
          <a:xfrm>
            <a:off x="6162239" y="377576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Model-specific optimization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242A73-44B9-41BD-BC43-485631A3C7BB}"/>
              </a:ext>
            </a:extLst>
          </p:cNvPr>
          <p:cNvSpPr>
            <a:spLocks noGrp="1"/>
          </p:cNvSpPr>
          <p:nvPr/>
        </p:nvSpPr>
        <p:spPr>
          <a:xfrm>
            <a:off x="6162239" y="417581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Optional autoscaling configuration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073591-E47E-4815-94F8-35D89CCB1728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D24747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BC1702-69CD-445A-AFDE-09E86E3F87B5}"/>
              </a:ext>
            </a:extLst>
          </p:cNvPr>
          <p:cNvSpPr>
            <a:spLocks noGrp="1"/>
          </p:cNvSpPr>
          <p:nvPr/>
        </p:nvSpPr>
        <p:spPr>
          <a:xfrm>
            <a:off x="2952750" y="5295900"/>
            <a:ext cx="8001000" cy="4000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88"/>
          </a:bodyPr>
          <a:lstStyle/>
          <a:p>
            <a:pPr algn="l">
              <a:buNone/>
              <a:def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55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54424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85C68BC-CE13-41A6-88A1-0CDFE43BA724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581492-922B-42A6-974D-BFC6EDAB02E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ECONOMICS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616744-1652-4478-B4AC-ABD60EDA8274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offers a lower-cost path to specialized deployment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93D4CF-1E11-48B8-8AC1-E7C71251EA1C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760529-BE99-4BF4-84C4-8AC676BCD581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43BDFD-1169-4496-927F-D9C2A691C0FB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77" name="Chart"/>
          <p:cNvGraphicFramePr/>
          <p:nvPr/>
        </p:nvGraphicFramePr>
        <p:xfrm>
          <a:off x="552450" y="1181100"/>
          <a:ext cx="54292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E12356C-87CE-4456-9DB2-2B3987EC306E}"/>
              </a:ext>
            </a:extLst>
          </p:cNvPr>
          <p:cNvSpPr>
            <a:spLocks noGrp="1"/>
          </p:cNvSpPr>
          <p:nvPr/>
        </p:nvSpPr>
        <p:spPr>
          <a:xfrm>
            <a:off x="6334125" y="1181100"/>
            <a:ext cx="23812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50EE38-9C18-4B00-945B-55358F89EEB7}"/>
              </a:ext>
            </a:extLst>
          </p:cNvPr>
          <p:cNvSpPr>
            <a:spLocks noGrp="1"/>
          </p:cNvSpPr>
          <p:nvPr/>
        </p:nvSpPr>
        <p:spPr>
          <a:xfrm>
            <a:off x="6543675" y="1352550"/>
            <a:ext cx="19621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Managed H200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FAD81A-DC4D-4B2D-B49A-41F312D80020}"/>
              </a:ext>
            </a:extLst>
          </p:cNvPr>
          <p:cNvSpPr>
            <a:spLocks noGrp="1"/>
          </p:cNvSpPr>
          <p:nvPr/>
        </p:nvSpPr>
        <p:spPr>
          <a:xfrm>
            <a:off x="6543675" y="1771650"/>
            <a:ext cx="1962150" cy="647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 Foundry preview; no public list price (Azure calculator quote only).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845888A-F0C4-4D81-B25B-BD4596CB2B72}"/>
              </a:ext>
            </a:extLst>
          </p:cNvPr>
          <p:cNvSpPr>
            <a:spLocks noGrp="1"/>
          </p:cNvSpPr>
          <p:nvPr/>
        </p:nvSpPr>
        <p:spPr>
          <a:xfrm>
            <a:off x="8905875" y="1181100"/>
            <a:ext cx="2571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CE8D9F-ECBA-430F-BD02-FAE25A40E4C8}"/>
              </a:ext>
            </a:extLst>
          </p:cNvPr>
          <p:cNvSpPr>
            <a:spLocks noGrp="1"/>
          </p:cNvSpPr>
          <p:nvPr/>
        </p:nvSpPr>
        <p:spPr>
          <a:xfrm>
            <a:off x="9115425" y="1352550"/>
            <a:ext cx="21526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Managed B200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0A0010-66D4-4701-A3D2-3F54F7CF4DC0}"/>
              </a:ext>
            </a:extLst>
          </p:cNvPr>
          <p:cNvSpPr>
            <a:spLocks noGrp="1"/>
          </p:cNvSpPr>
          <p:nvPr/>
        </p:nvSpPr>
        <p:spPr>
          <a:xfrm>
            <a:off x="9115425" y="1771650"/>
            <a:ext cx="2152650" cy="647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Not in the Foundry managed-compute catalog; no public rate.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DC3F0D2-FF42-49B1-A1E6-9F2993882748}"/>
              </a:ext>
            </a:extLst>
          </p:cNvPr>
          <p:cNvSpPr>
            <a:spLocks noGrp="1"/>
          </p:cNvSpPr>
          <p:nvPr/>
        </p:nvSpPr>
        <p:spPr>
          <a:xfrm>
            <a:off x="6334125" y="2781300"/>
            <a:ext cx="51435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08C012-91A3-4C55-84B9-BDD1E5795076}"/>
              </a:ext>
            </a:extLst>
          </p:cNvPr>
          <p:cNvSpPr>
            <a:spLocks noGrp="1"/>
          </p:cNvSpPr>
          <p:nvPr/>
        </p:nvSpPr>
        <p:spPr>
          <a:xfrm>
            <a:off x="6543675" y="2952750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Why Fireworks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C46A66-ECB9-472A-A8C3-FF9FB7F3E462}"/>
              </a:ext>
            </a:extLst>
          </p:cNvPr>
          <p:cNvSpPr>
            <a:spLocks noGrp="1"/>
          </p:cNvSpPr>
          <p:nvPr/>
        </p:nvSpPr>
        <p:spPr>
          <a:xfrm>
            <a:off x="6543675" y="3371850"/>
            <a:ext cx="47244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Public, simple GPU-second pricing and access to H200/B200 create a clearer and currently cheaper deployment path for the specialist models evaluated.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0269D0-C7B1-4BEB-9A28-89FF22CC2097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Commercial comparison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68E7D6-6BFD-4A38-BC4F-DB87723972BD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public rates: H200 $8 per GPU-hour; B200 $13. The $80/hour Foundry reference remains a </a:t>
            </a:r>
            <a:r>
              <a:rPr lang="es-419"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use case</a:t>
            </a: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 scenari</a:t>
            </a:r>
            <a:r>
              <a:rPr lang="es-419"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o</a:t>
            </a: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1CEFB3-B91D-4B44-A725-901450FC883E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952625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Foundry caveat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006105-508E-46EC-B78C-16243E36DD26}"/>
              </a:ext>
            </a:extLst>
          </p:cNvPr>
          <p:cNvSpPr>
            <a:spLocks noGrp="1"/>
          </p:cNvSpPr>
          <p:nvPr/>
        </p:nvSpPr>
        <p:spPr>
          <a:xfrm>
            <a:off x="2686050" y="56578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lang="en-US"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Foundry pricing and availability are not specified for B200; use a portal quote for a contractual TCO.</a:t>
            </a:r>
          </a:p>
        </p:txBody>
      </p:sp>
    </p:spTree>
    <p:extLst>
      <p:ext uri="{BB962C8B-B14F-4D97-AF65-F5344CB8AC3E}">
        <p14:creationId xmlns:p14="http://schemas.microsoft.com/office/powerpoint/2010/main" val="9295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46CA959-78C6-4464-986D-1AD790FDA53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6AFBF4-72C4-43DA-A7AB-19F4316DC85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22"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ECONOMICS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A6C768A-32DD-440B-BAE9-6528606A8881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Above ~300 requests/hour, a dedicated GPU beats GPT-5 pricing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AA40C80-6E6F-4A4C-9CA8-BB55609E7109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9497B9-ACB5-42C3-8226-E112257C1C27}"/>
              </a:ext>
            </a:extLst>
          </p:cNvPr>
          <p:cNvSpPr>
            <a:spLocks noGrp="1"/>
          </p:cNvSpPr>
          <p:nvPr/>
        </p:nvSpPr>
        <p:spPr>
          <a:xfrm>
            <a:off x="2305050" y="723900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Monthly cost by sustained request volume, always on (720 h). GPT-5 cost uses the token mix measured in the Amazon benchmark.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6A4811-7C49-4956-A581-9618F0DE9E19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DA7C9A-460D-4E0E-919D-66E5B9020D30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961F4B0-ACF3-449B-BC3F-AC2743AEA28A}"/>
              </a:ext>
            </a:extLst>
          </p:cNvPr>
          <p:cNvSpPr>
            <a:spLocks noGrp="1"/>
          </p:cNvSpPr>
          <p:nvPr/>
        </p:nvSpPr>
        <p:spPr>
          <a:xfrm>
            <a:off x="647700" y="4919472"/>
            <a:ext cx="10896600" cy="1024128"/>
          </a:xfrm>
          <a:prstGeom prst="roundRect">
            <a:avLst>
              <a:gd name="adj" fmla="val 10526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1B048E-0604-429C-BE16-A37A76EDAFEB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lstStyle/>
          <a:p>
            <a:pPr algn="l">
              <a:defRPr sz="1125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Assumptions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9A38E82-9A65-400A-8F53-F18D75FA8D3D}"/>
              </a:ext>
            </a:extLst>
          </p:cNvPr>
          <p:cNvSpPr>
            <a:spLocks noGrp="1"/>
          </p:cNvSpPr>
          <p:nvPr/>
        </p:nvSpPr>
        <p:spPr>
          <a:xfrm>
            <a:off x="2133600" y="5029200"/>
            <a:ext cx="9048750" cy="82296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 Global Standard list price ($1.25 / $10 per 1M input / output tokens) with 4,563 tokens per request as measured. Fireworks public H200 and B200 rates. Assumes one GPU sustains the load with the fine-tuned Qwen3-4B, to be confirmed with a throughput test. Excludes fine-tuning, fallback traffic and negotiated discounts.</a:t>
            </a:r>
          </a:p>
        </p:txBody>
      </p:sp>
      <p:graphicFrame>
        <p:nvGraphicFramePr>
          <p:cNvPr id="88" name="Break-even chart"/>
          <p:cNvGraphicFramePr>
            <a:graphicFrameLocks noGrp="1"/>
          </p:cNvGraphicFramePr>
          <p:nvPr/>
        </p:nvGraphicFramePr>
        <p:xfrm>
          <a:off x="548640" y="1188720"/>
          <a:ext cx="704088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E12356C-87CE-4456-9DB2-2B3987EC306E}"/>
              </a:ext>
            </a:extLst>
          </p:cNvPr>
          <p:cNvSpPr>
            <a:spLocks noGrp="1"/>
          </p:cNvSpPr>
          <p:nvPr/>
        </p:nvSpPr>
        <p:spPr>
          <a:xfrm>
            <a:off x="7909560" y="1188720"/>
            <a:ext cx="3657600" cy="109728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50EE38-9C18-4B00-945B-55358F89EEB7}"/>
              </a:ext>
            </a:extLst>
          </p:cNvPr>
          <p:cNvSpPr>
            <a:spLocks noGrp="1"/>
          </p:cNvSpPr>
          <p:nvPr/>
        </p:nvSpPr>
        <p:spPr>
          <a:xfrm>
            <a:off x="8110728" y="1316736"/>
            <a:ext cx="3291840" cy="41148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4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≈300 req/h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FAD81A-DC4D-4B2D-B49A-41F312D80020}"/>
              </a:ext>
            </a:extLst>
          </p:cNvPr>
          <p:cNvSpPr>
            <a:spLocks noGrp="1"/>
          </p:cNvSpPr>
          <p:nvPr/>
        </p:nvSpPr>
        <p:spPr>
          <a:xfrm>
            <a:off x="8110728" y="1737360"/>
            <a:ext cx="3291840" cy="50292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Break-even vs. one H200 at $8/h (≈490 req/h vs. B200 at $13/h)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E12356C-87CE-4456-9DB2-2B3987EC306E}"/>
              </a:ext>
            </a:extLst>
          </p:cNvPr>
          <p:cNvSpPr>
            <a:spLocks noGrp="1"/>
          </p:cNvSpPr>
          <p:nvPr/>
        </p:nvSpPr>
        <p:spPr>
          <a:xfrm>
            <a:off x="7909560" y="2404872"/>
            <a:ext cx="3657600" cy="109728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50EE38-9C18-4B00-945B-55358F89EEB7}"/>
              </a:ext>
            </a:extLst>
          </p:cNvPr>
          <p:cNvSpPr>
            <a:spLocks noGrp="1"/>
          </p:cNvSpPr>
          <p:nvPr/>
        </p:nvSpPr>
        <p:spPr>
          <a:xfrm>
            <a:off x="8110728" y="2532888"/>
            <a:ext cx="3291840" cy="41148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4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$8 vs. $26.6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FAD81A-DC4D-4B2D-B49A-41F312D80020}"/>
              </a:ext>
            </a:extLst>
          </p:cNvPr>
          <p:cNvSpPr>
            <a:spLocks noGrp="1"/>
          </p:cNvSpPr>
          <p:nvPr/>
        </p:nvSpPr>
        <p:spPr>
          <a:xfrm>
            <a:off x="8110728" y="2953512"/>
            <a:ext cx="3291840" cy="50292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Cost per 1,000 requests at 1,000 req/h: Fireworks H200 vs. GPT-5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E12356C-87CE-4456-9DB2-2B3987EC306E}"/>
              </a:ext>
            </a:extLst>
          </p:cNvPr>
          <p:cNvSpPr>
            <a:spLocks noGrp="1"/>
          </p:cNvSpPr>
          <p:nvPr/>
        </p:nvSpPr>
        <p:spPr>
          <a:xfrm>
            <a:off x="7909560" y="3621024"/>
            <a:ext cx="3657600" cy="109728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50EE38-9C18-4B00-945B-55358F89EEB7}"/>
              </a:ext>
            </a:extLst>
          </p:cNvPr>
          <p:cNvSpPr>
            <a:spLocks noGrp="1"/>
          </p:cNvSpPr>
          <p:nvPr/>
        </p:nvSpPr>
        <p:spPr>
          <a:xfrm>
            <a:off x="8110728" y="3749039"/>
            <a:ext cx="3291840" cy="41148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400" b="1">
                <a:solidFill>
                  <a:srgbClr val="7B5CE6"/>
                </a:solidFill>
                <a:latin typeface="Instrument Sans regular"/>
                <a:ea typeface="Instrument Sans regular"/>
                <a:cs typeface="Instrument Sans regular"/>
              </a:rPr>
              <a:t>−70%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FAD81A-DC4D-4B2D-B49A-41F312D80020}"/>
              </a:ext>
            </a:extLst>
          </p:cNvPr>
          <p:cNvSpPr>
            <a:spLocks noGrp="1"/>
          </p:cNvSpPr>
          <p:nvPr/>
        </p:nvSpPr>
        <p:spPr>
          <a:xfrm>
            <a:off x="8110728" y="4169663"/>
            <a:ext cx="3291840" cy="50292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Monthly cost at 1,000 req/h, always on: $5,760 vs. $19,170</a:t>
            </a:r>
          </a:p>
        </p:txBody>
      </p:sp>
    </p:spTree>
    <p:extLst>
      <p:ext uri="{BB962C8B-B14F-4D97-AF65-F5344CB8AC3E}">
        <p14:creationId xmlns:p14="http://schemas.microsoft.com/office/powerpoint/2010/main" val="2082142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2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D783669-E21E-4D61-A0EB-B9B46DF37632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E1D3BA4-3EEA-47EE-9E82-DC4C33EFD8B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22" lnSpcReduction="10000"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1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METHOD</a:t>
            </a:r>
            <a:endParaRPr sz="1000" b="1">
              <a:solidFill>
                <a:srgbClr val="242424"/>
              </a:solidFill>
              <a:latin typeface="PP Telegraf regular"/>
              <a:ea typeface="PP Telegraf regular"/>
              <a:cs typeface="PP Telegraf regular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70B3430-23C8-429B-9F86-E8442EFEC2F3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Specialized model development cycle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EE26775-A258-4773-A32A-797157C8E69E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07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ADADB0E-D951-407E-9DC9-ED52A71122FC}"/>
              </a:ext>
            </a:extLst>
          </p:cNvPr>
          <p:cNvSpPr>
            <a:spLocks noGrp="1"/>
          </p:cNvSpPr>
          <p:nvPr/>
        </p:nvSpPr>
        <p:spPr>
          <a:xfrm>
            <a:off x="2305050" y="723900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Six controlled steps, with evaluation results feeding the next dataset iteration.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42A87F8-B6C8-4EE1-85AD-7D40F412BE37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474CAC6-09B5-4DD9-B930-797FDDE5BF76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1EA8AC9-CB88-49C6-B36B-691AD77782DA}"/>
              </a:ext>
            </a:extLst>
          </p:cNvPr>
          <p:cNvSpPr>
            <a:spLocks noGrp="1"/>
          </p:cNvSpPr>
          <p:nvPr/>
        </p:nvSpPr>
        <p:spPr>
          <a:xfrm>
            <a:off x="1066800" y="1962150"/>
            <a:ext cx="9620250" cy="38100"/>
          </a:xfrm>
          <a:prstGeom prst="rect">
            <a:avLst/>
          </a:prstGeom>
          <a:solidFill>
            <a:srgbClr val="A9B7C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5777D3D-1115-4F12-93CD-342C54143617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590550" cy="590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21E0665-554E-402E-AFD0-E0E3CD8048C5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1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F15FFC1-3903-443B-A33A-CDF17B230CD5}"/>
              </a:ext>
            </a:extLst>
          </p:cNvPr>
          <p:cNvSpPr>
            <a:spLocks noGrp="1"/>
          </p:cNvSpPr>
          <p:nvPr/>
        </p:nvSpPr>
        <p:spPr>
          <a:xfrm>
            <a:off x="3333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Workload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5664A50-8108-434D-9BF2-7AB087A18B2D}"/>
              </a:ext>
            </a:extLst>
          </p:cNvPr>
          <p:cNvSpPr>
            <a:spLocks noGrp="1"/>
          </p:cNvSpPr>
          <p:nvPr/>
        </p:nvSpPr>
        <p:spPr>
          <a:xfrm>
            <a:off x="2286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Select a stable, measurable task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0BF8B19-3331-4C8F-A4FA-D4F2F0A6C17D}"/>
              </a:ext>
            </a:extLst>
          </p:cNvPr>
          <p:cNvSpPr>
            <a:spLocks noGrp="1"/>
          </p:cNvSpPr>
          <p:nvPr/>
        </p:nvSpPr>
        <p:spPr>
          <a:xfrm>
            <a:off x="2647950" y="1676400"/>
            <a:ext cx="590550" cy="590550"/>
          </a:xfrm>
          <a:prstGeom prst="ellipse">
            <a:avLst/>
          </a:prstGeom>
          <a:solidFill>
            <a:srgbClr val="14384B"/>
          </a:solidFill>
          <a:ln w="9525">
            <a:solidFill>
              <a:srgbClr val="143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C12D0DD-B8FF-4F4C-B28E-1CFFD0EB8ADE}"/>
              </a:ext>
            </a:extLst>
          </p:cNvPr>
          <p:cNvSpPr>
            <a:spLocks noGrp="1"/>
          </p:cNvSpPr>
          <p:nvPr/>
        </p:nvSpPr>
        <p:spPr>
          <a:xfrm>
            <a:off x="26479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509F601-4458-4462-B5BA-B7BF733FD095}"/>
              </a:ext>
            </a:extLst>
          </p:cNvPr>
          <p:cNvSpPr>
            <a:spLocks noGrp="1"/>
          </p:cNvSpPr>
          <p:nvPr/>
        </p:nvSpPr>
        <p:spPr>
          <a:xfrm>
            <a:off x="22002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EAA89F7-705C-4D0E-8EC6-E9F9A398B49F}"/>
              </a:ext>
            </a:extLst>
          </p:cNvPr>
          <p:cNvSpPr>
            <a:spLocks noGrp="1"/>
          </p:cNvSpPr>
          <p:nvPr/>
        </p:nvSpPr>
        <p:spPr>
          <a:xfrm>
            <a:off x="20955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Prepare representative business examples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A9AFAA6-2779-4EA0-B037-545547E843AD}"/>
              </a:ext>
            </a:extLst>
          </p:cNvPr>
          <p:cNvSpPr>
            <a:spLocks noGrp="1"/>
          </p:cNvSpPr>
          <p:nvPr/>
        </p:nvSpPr>
        <p:spPr>
          <a:xfrm>
            <a:off x="4514850" y="1676400"/>
            <a:ext cx="590550" cy="590550"/>
          </a:xfrm>
          <a:prstGeom prst="ellipse">
            <a:avLst/>
          </a:prstGeom>
          <a:solidFill>
            <a:srgbClr val="14384B"/>
          </a:solidFill>
          <a:ln w="9525">
            <a:solidFill>
              <a:srgbClr val="143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D702019-FA3B-4442-A43B-A73329C5C270}"/>
              </a:ext>
            </a:extLst>
          </p:cNvPr>
          <p:cNvSpPr>
            <a:spLocks noGrp="1"/>
          </p:cNvSpPr>
          <p:nvPr/>
        </p:nvSpPr>
        <p:spPr>
          <a:xfrm>
            <a:off x="45148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DE6FA32-534E-46CB-BBE0-B24E7C9046E9}"/>
              </a:ext>
            </a:extLst>
          </p:cNvPr>
          <p:cNvSpPr>
            <a:spLocks noGrp="1"/>
          </p:cNvSpPr>
          <p:nvPr/>
        </p:nvSpPr>
        <p:spPr>
          <a:xfrm>
            <a:off x="40671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D3CF290-9DDA-4A8C-A820-7D26CCA0DAA4}"/>
              </a:ext>
            </a:extLst>
          </p:cNvPr>
          <p:cNvSpPr>
            <a:spLocks noGrp="1"/>
          </p:cNvSpPr>
          <p:nvPr/>
        </p:nvSpPr>
        <p:spPr>
          <a:xfrm>
            <a:off x="39624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Train a compact model on Fireworks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5EBE2EAC-08F6-46DF-BC39-05830F5EBE95}"/>
              </a:ext>
            </a:extLst>
          </p:cNvPr>
          <p:cNvSpPr>
            <a:spLocks noGrp="1"/>
          </p:cNvSpPr>
          <p:nvPr/>
        </p:nvSpPr>
        <p:spPr>
          <a:xfrm>
            <a:off x="6381750" y="1676400"/>
            <a:ext cx="590550" cy="590550"/>
          </a:xfrm>
          <a:prstGeom prst="ellipse">
            <a:avLst/>
          </a:prstGeom>
          <a:solidFill>
            <a:srgbClr val="14384B"/>
          </a:solidFill>
          <a:ln w="9525">
            <a:solidFill>
              <a:srgbClr val="143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69055A5-72C2-4674-9608-EACE2F8BBE4C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7AFF50D-E63E-4105-93EE-E0EE4114DC86}"/>
              </a:ext>
            </a:extLst>
          </p:cNvPr>
          <p:cNvSpPr>
            <a:spLocks noGrp="1"/>
          </p:cNvSpPr>
          <p:nvPr/>
        </p:nvSpPr>
        <p:spPr>
          <a:xfrm>
            <a:off x="59340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Evaluate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F0472A5-569D-495D-AFFD-B771CEFBCB56}"/>
              </a:ext>
            </a:extLst>
          </p:cNvPr>
          <p:cNvSpPr>
            <a:spLocks noGrp="1"/>
          </p:cNvSpPr>
          <p:nvPr/>
        </p:nvSpPr>
        <p:spPr>
          <a:xfrm>
            <a:off x="58293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held-out accuracy and analyze errors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29A9B5F-DCD6-44AC-9EF4-D72C5A1EAE52}"/>
              </a:ext>
            </a:extLst>
          </p:cNvPr>
          <p:cNvSpPr>
            <a:spLocks noGrp="1"/>
          </p:cNvSpPr>
          <p:nvPr/>
        </p:nvSpPr>
        <p:spPr>
          <a:xfrm>
            <a:off x="8248650" y="1676400"/>
            <a:ext cx="590550" cy="590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6E840BC-D69F-4CAC-905F-A5173E887B93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5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D37FB42-A3E6-4CD5-95FC-88E776DE5E69}"/>
              </a:ext>
            </a:extLst>
          </p:cNvPr>
          <p:cNvSpPr>
            <a:spLocks noGrp="1"/>
          </p:cNvSpPr>
          <p:nvPr/>
        </p:nvSpPr>
        <p:spPr>
          <a:xfrm>
            <a:off x="78009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Deploy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FD248E1-A71E-4B10-9F41-369590472DA4}"/>
              </a:ext>
            </a:extLst>
          </p:cNvPr>
          <p:cNvSpPr>
            <a:spLocks noGrp="1"/>
          </p:cNvSpPr>
          <p:nvPr/>
        </p:nvSpPr>
        <p:spPr>
          <a:xfrm>
            <a:off x="76962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Integrate the Fireworks endpoint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E85DF4AC-5AD0-4CFE-AA2E-4F33E0BAE621}"/>
              </a:ext>
            </a:extLst>
          </p:cNvPr>
          <p:cNvSpPr>
            <a:spLocks noGrp="1"/>
          </p:cNvSpPr>
          <p:nvPr/>
        </p:nvSpPr>
        <p:spPr>
          <a:xfrm>
            <a:off x="10115550" y="1676400"/>
            <a:ext cx="590550" cy="590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18E6926-D1B0-4B1E-AF71-58DCA8C1C907}"/>
              </a:ext>
            </a:extLst>
          </p:cNvPr>
          <p:cNvSpPr>
            <a:spLocks noGrp="1"/>
          </p:cNvSpPr>
          <p:nvPr/>
        </p:nvSpPr>
        <p:spPr>
          <a:xfrm>
            <a:off x="10115550" y="1809750"/>
            <a:ext cx="5905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ctr">
              <a:def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6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0375C8E-17D6-447A-84CA-D606FDE0C12C}"/>
              </a:ext>
            </a:extLst>
          </p:cNvPr>
          <p:cNvSpPr>
            <a:spLocks noGrp="1"/>
          </p:cNvSpPr>
          <p:nvPr/>
        </p:nvSpPr>
        <p:spPr>
          <a:xfrm>
            <a:off x="9667875" y="24574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Optimize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ABA41E8-CFCA-4546-B88D-2703EF934070}"/>
              </a:ext>
            </a:extLst>
          </p:cNvPr>
          <p:cNvSpPr>
            <a:spLocks noGrp="1"/>
          </p:cNvSpPr>
          <p:nvPr/>
        </p:nvSpPr>
        <p:spPr>
          <a:xfrm>
            <a:off x="9563100" y="2876550"/>
            <a:ext cx="16954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Track quality, utilization and unit cost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063E90E9-2190-47C9-A3CF-6EFCFC8B9481}"/>
              </a:ext>
            </a:extLst>
          </p:cNvPr>
          <p:cNvSpPr>
            <a:spLocks noGrp="1"/>
          </p:cNvSpPr>
          <p:nvPr/>
        </p:nvSpPr>
        <p:spPr>
          <a:xfrm>
            <a:off x="2116320" y="3980392"/>
            <a:ext cx="5212170" cy="839258"/>
          </a:xfrm>
          <a:prstGeom prst="roundRect">
            <a:avLst>
              <a:gd name="adj" fmla="val 7692"/>
            </a:avLst>
          </a:prstGeom>
          <a:solidFill>
            <a:srgbClr val="EEF5FD"/>
          </a:solidFill>
          <a:ln w="9525">
            <a:solidFill>
              <a:srgbClr val="176D8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43DF2D9-CB26-4F69-9F58-87FECF8751BE}"/>
              </a:ext>
            </a:extLst>
          </p:cNvPr>
          <p:cNvSpPr>
            <a:spLocks noGrp="1"/>
          </p:cNvSpPr>
          <p:nvPr/>
        </p:nvSpPr>
        <p:spPr>
          <a:xfrm flipH="1">
            <a:off x="2962275" y="3601336"/>
            <a:ext cx="45719" cy="457200"/>
          </a:xfrm>
          <a:prstGeom prst="rect">
            <a:avLst/>
          </a:prstGeom>
          <a:solidFill>
            <a:srgbClr val="176D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D599E1D-A8F2-44E6-B250-D019080E7E91}"/>
              </a:ext>
            </a:extLst>
          </p:cNvPr>
          <p:cNvSpPr>
            <a:spLocks noGrp="1"/>
          </p:cNvSpPr>
          <p:nvPr/>
        </p:nvSpPr>
        <p:spPr>
          <a:xfrm>
            <a:off x="6605587" y="3648075"/>
            <a:ext cx="45719" cy="409575"/>
          </a:xfrm>
          <a:prstGeom prst="rect">
            <a:avLst/>
          </a:prstGeom>
          <a:solidFill>
            <a:srgbClr val="176D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43C1AC9-D8C4-473D-A95D-053B5470AF05}"/>
              </a:ext>
            </a:extLst>
          </p:cNvPr>
          <p:cNvSpPr>
            <a:spLocks noGrp="1"/>
          </p:cNvSpPr>
          <p:nvPr/>
        </p:nvSpPr>
        <p:spPr>
          <a:xfrm>
            <a:off x="2284589" y="4127998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4" lnSpcReduction="10000"/>
          </a:bodyPr>
          <a:lstStyle/>
          <a:p>
            <a:pPr algn="l">
              <a:defRPr sz="105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EVALUATION FEEDBACK LOOP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1CE907D-7BE5-41E3-A8BD-4139A3237582}"/>
              </a:ext>
            </a:extLst>
          </p:cNvPr>
          <p:cNvSpPr>
            <a:spLocks noGrp="1"/>
          </p:cNvSpPr>
          <p:nvPr/>
        </p:nvSpPr>
        <p:spPr>
          <a:xfrm>
            <a:off x="2276475" y="4349252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844" lnSpcReduction="10000"/>
          </a:bodyPr>
          <a:lstStyle/>
          <a:p>
            <a:pPr algn="l">
              <a:defRPr sz="12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Evaluation results guide dataset improvements and repeated fine-tuning until the model meets the workload's prediction-quality targets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321EC59-A58E-49C9-838B-E4918D6E6369}"/>
              </a:ext>
            </a:extLst>
          </p:cNvPr>
          <p:cNvSpPr>
            <a:spLocks noGrp="1"/>
          </p:cNvSpPr>
          <p:nvPr/>
        </p:nvSpPr>
        <p:spPr>
          <a:xfrm>
            <a:off x="3676651" y="3562351"/>
            <a:ext cx="2057399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325" lnSpcReduction="10000"/>
          </a:bodyPr>
          <a:lstStyle/>
          <a:p>
            <a:pPr algn="ctr">
              <a:defRPr sz="285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85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←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8AD70CC-3F5C-4A01-BDF9-DE538415C8F3}"/>
              </a:ext>
            </a:extLst>
          </p:cNvPr>
          <p:cNvSpPr>
            <a:spLocks noGrp="1"/>
          </p:cNvSpPr>
          <p:nvPr/>
        </p:nvSpPr>
        <p:spPr>
          <a:xfrm>
            <a:off x="2058729" y="5343525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ctr">
              <a:defRPr sz="9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975" b="1">
              <a:solidFill>
                <a:srgbClr val="176D8C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CAD5184-F3E0-45F2-891C-82CE48DDA6A8}"/>
              </a:ext>
            </a:extLst>
          </p:cNvPr>
          <p:cNvSpPr>
            <a:spLocks noGrp="1"/>
          </p:cNvSpPr>
          <p:nvPr/>
        </p:nvSpPr>
        <p:spPr>
          <a:xfrm>
            <a:off x="5602029" y="5343525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ctr">
              <a:defRPr sz="9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975" b="1">
              <a:solidFill>
                <a:srgbClr val="176D8C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500056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AB2BEE5-531D-44BE-95FF-79E4CC9F5EC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7DDDA8-EC4B-45C1-91F8-87BD9137577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CASE </a:t>
            </a: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STUDY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FACAB5-682D-481A-9D4B-6BC4C33F733C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791"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compact specialist can outperform a generalist </a:t>
            </a:r>
            <a:r>
              <a:rPr lang="es-419"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model</a:t>
            </a:r>
            <a:endParaRPr sz="2175" b="0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58A2FE-1A46-4DB5-90C4-251985F3EB4B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6C51AA-127E-43F0-B919-CFBDBCAA6760}"/>
              </a:ext>
            </a:extLst>
          </p:cNvPr>
          <p:cNvSpPr>
            <a:spLocks noGrp="1"/>
          </p:cNvSpPr>
          <p:nvPr/>
        </p:nvSpPr>
        <p:spPr>
          <a:xfrm>
            <a:off x="2301294" y="609600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3,080 banking-support queries, each mapped to one of 77 predefined customer-service intents.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37B1B9-18CE-4B02-B7AB-8AC0DC3AA1AC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187AA2-41BE-4449-A14F-1228C64F1EAE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246C21FA-5EE7-4D27-BECA-B736B3C3CB3A}"/>
              </a:ext>
            </a:extLst>
          </p:cNvPr>
          <p:cNvSpPr>
            <a:spLocks noGrp="1"/>
          </p:cNvSpPr>
          <p:nvPr/>
        </p:nvSpPr>
        <p:spPr>
          <a:xfrm>
            <a:off x="590550" y="1123950"/>
            <a:ext cx="11010900" cy="99060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9AFEC0-5CDB-4F3B-BB6B-6A7A116F66F1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09" lnSpcReduction="20000"/>
          </a:bodyPr>
          <a:lstStyle/>
          <a:p>
            <a:pPr algn="l">
              <a:defRPr sz="105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BEST FINE-TUNED MODEL VS. BEST GPT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D071A9B-2274-45BD-9379-7E9C6BD196B0}"/>
              </a:ext>
            </a:extLst>
          </p:cNvPr>
          <p:cNvSpPr>
            <a:spLocks noGrp="1"/>
          </p:cNvSpPr>
          <p:nvPr/>
        </p:nvSpPr>
        <p:spPr>
          <a:xfrm>
            <a:off x="914400" y="1609725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+1.69 pp accuracy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92D4C9-6C9A-4FBE-B5A0-B9C5F451919E}"/>
              </a:ext>
            </a:extLst>
          </p:cNvPr>
          <p:cNvSpPr>
            <a:spLocks noGrp="1"/>
          </p:cNvSpPr>
          <p:nvPr/>
        </p:nvSpPr>
        <p:spPr>
          <a:xfrm>
            <a:off x="3257550" y="160972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35.3× fewer total tokens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D7D7A8-9CB7-4C52-8FA6-5538BCFFD8A3}"/>
              </a:ext>
            </a:extLst>
          </p:cNvPr>
          <p:cNvSpPr>
            <a:spLocks noGrp="1"/>
          </p:cNvSpPr>
          <p:nvPr/>
        </p:nvSpPr>
        <p:spPr>
          <a:xfrm>
            <a:off x="6755908" y="1227180"/>
            <a:ext cx="4452334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Qwen3.5-0.8B FT compared with GPT-5.6 direct on the same test set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C77B5C7-2778-47B5-AD36-46BD62B33591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Accuracy (%)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67C641-B7BB-46B9-98AA-E8AABFBA2D73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Total tokens processed</a:t>
            </a:r>
          </a:p>
        </p:txBody>
      </p:sp>
      <p:graphicFrame>
        <p:nvGraphicFramePr>
          <p:cNvPr id="120" name="Chart"/>
          <p:cNvGraphicFramePr/>
          <p:nvPr/>
        </p:nvGraphicFramePr>
        <p:xfrm>
          <a:off x="552450" y="2571750"/>
          <a:ext cx="5286375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21" name="Chart"/>
          <p:cNvGraphicFramePr/>
          <p:nvPr/>
        </p:nvGraphicFramePr>
        <p:xfrm>
          <a:off x="6362700" y="2571750"/>
          <a:ext cx="523875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66156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D31113C-967B-4907-B241-C185BC5AD98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81F66D-46B6-4921-AD5C-72D1795B99A3}"/>
              </a:ext>
            </a:extLst>
          </p:cNvPr>
          <p:cNvSpPr>
            <a:spLocks noGrp="1"/>
          </p:cNvSpPr>
          <p:nvPr/>
        </p:nvSpPr>
        <p:spPr>
          <a:xfrm>
            <a:off x="400050" y="340569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22"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CASE STUDY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4F86BAE-1294-43C4-9613-7CDEDB45933C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71"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Specialization improves purchase decisions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58367B-CFE9-4E26-BA8A-86FBF8CFF166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09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B4B558-1C97-48B3-B17D-6BEE879E5983}"/>
              </a:ext>
            </a:extLst>
          </p:cNvPr>
          <p:cNvSpPr>
            <a:spLocks noGrp="1"/>
          </p:cNvSpPr>
          <p:nvPr/>
        </p:nvSpPr>
        <p:spPr>
          <a:xfrm>
            <a:off x="2305050" y="593636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103 Amazon product-review cases: predict </a:t>
            </a:r>
            <a:r>
              <a:rPr lang="es-419"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purchase recommendation</a:t>
            </a: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, then score explanation quality with a blind judge</a:t>
            </a:r>
            <a:r>
              <a:rPr lang="es-419"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 (GPT-6 Sol)</a:t>
            </a: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DBFD8A-CAD1-4FB2-90CC-54C87FA94A62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3D19CA-7E7C-464D-8560-ED1866587A68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FE3083B-91DE-4330-AEBA-40F3DCA7A067}"/>
              </a:ext>
            </a:extLst>
          </p:cNvPr>
          <p:cNvSpPr>
            <a:spLocks noGrp="1"/>
          </p:cNvSpPr>
          <p:nvPr/>
        </p:nvSpPr>
        <p:spPr>
          <a:xfrm>
            <a:off x="590550" y="1123950"/>
            <a:ext cx="11010900" cy="99060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89C78B-6939-43EE-B1ED-C3061668B8BF}"/>
              </a:ext>
            </a:extLst>
          </p:cNvPr>
          <p:cNvSpPr>
            <a:spLocks noGrp="1"/>
          </p:cNvSpPr>
          <p:nvPr/>
        </p:nvSpPr>
        <p:spPr>
          <a:xfrm>
            <a:off x="676275" y="1190624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09" lnSpcReduction="20000"/>
          </a:bodyPr>
          <a:lstStyle/>
          <a:p>
            <a:pPr algn="l">
              <a:defRPr sz="105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FINE-TUNED MODEL VS. GPT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252DCB-0EE9-4C76-A46C-6609D662A8B9}"/>
              </a:ext>
            </a:extLst>
          </p:cNvPr>
          <p:cNvSpPr>
            <a:spLocks noGrp="1"/>
          </p:cNvSpPr>
          <p:nvPr/>
        </p:nvSpPr>
        <p:spPr>
          <a:xfrm>
            <a:off x="838200" y="15525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+16.51 pp decision accuracy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708D3AA-2CD5-4C3A-97D8-EF9A9330426B}"/>
              </a:ext>
            </a:extLst>
          </p:cNvPr>
          <p:cNvSpPr>
            <a:spLocks noGrp="1"/>
          </p:cNvSpPr>
          <p:nvPr/>
        </p:nvSpPr>
        <p:spPr>
          <a:xfrm>
            <a:off x="3967164" y="1362074"/>
            <a:ext cx="19050" cy="552450"/>
          </a:xfrm>
          <a:prstGeom prst="rect">
            <a:avLst/>
          </a:prstGeom>
          <a:solidFill>
            <a:srgbClr val="C9D7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EA676A-CC26-4BFE-9E73-FEF71C190C34}"/>
              </a:ext>
            </a:extLst>
          </p:cNvPr>
          <p:cNvSpPr>
            <a:spLocks noGrp="1"/>
          </p:cNvSpPr>
          <p:nvPr/>
        </p:nvSpPr>
        <p:spPr>
          <a:xfrm>
            <a:off x="4529139" y="1514475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807"/>
          </a:bodyPr>
          <a:lstStyle/>
          <a:p>
            <a:pPr algn="l"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GPT-5 leads judge score by 3.30 points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934EA21-B7B6-4734-99D5-AF65B4C41280}"/>
              </a:ext>
            </a:extLst>
          </p:cNvPr>
          <p:cNvSpPr>
            <a:spLocks noGrp="1"/>
          </p:cNvSpPr>
          <p:nvPr/>
        </p:nvSpPr>
        <p:spPr>
          <a:xfrm>
            <a:off x="8415339" y="1359613"/>
            <a:ext cx="19050" cy="552450"/>
          </a:xfrm>
          <a:prstGeom prst="rect">
            <a:avLst/>
          </a:prstGeom>
          <a:solidFill>
            <a:srgbClr val="C9D7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8DE20C5-A33F-46DB-8AA7-2AC5906758EF}"/>
              </a:ext>
            </a:extLst>
          </p:cNvPr>
          <p:cNvSpPr>
            <a:spLocks noGrp="1"/>
          </p:cNvSpPr>
          <p:nvPr/>
        </p:nvSpPr>
        <p:spPr>
          <a:xfrm>
            <a:off x="8953501" y="1504950"/>
            <a:ext cx="2606040" cy="314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1.90× more tokens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0563DB3-7FE5-46DB-BB51-D5D3AF1A8A5C}"/>
              </a:ext>
            </a:extLst>
          </p:cNvPr>
          <p:cNvSpPr>
            <a:spLocks noGrp="1"/>
          </p:cNvSpPr>
          <p:nvPr/>
        </p:nvSpPr>
        <p:spPr>
          <a:xfrm>
            <a:off x="8951208" y="1847088"/>
            <a:ext cx="260604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905" lnSpcReduction="20000"/>
          </a:bodyPr>
          <a:lstStyle/>
          <a:p>
            <a:pPr algn="l">
              <a:defRPr sz="10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GPT-5 469,953 vs. FT 247,281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3C00BA-B4E6-469D-85F8-D475FCCBB8E9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5286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Decision accuracy (%)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8BCA51-F99D-4F80-9991-645EC78A4181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Blind judge score / 100</a:t>
            </a:r>
          </a:p>
        </p:txBody>
      </p:sp>
      <p:graphicFrame>
        <p:nvGraphicFramePr>
          <p:cNvPr id="124" name="Chart"/>
          <p:cNvGraphicFramePr/>
          <p:nvPr/>
        </p:nvGraphicFramePr>
        <p:xfrm>
          <a:off x="552450" y="2571750"/>
          <a:ext cx="5286375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5" name="Chart"/>
          <p:cNvGraphicFramePr/>
          <p:nvPr/>
        </p:nvGraphicFramePr>
        <p:xfrm>
          <a:off x="6362700" y="2571750"/>
          <a:ext cx="523875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63944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4185FB-0990-47A8-832B-F2442F133DB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AE110-FF20-4604-BACF-835F344BD53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LESSONS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781E77-00BA-4BB5-808C-0FCA58233E57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Reliable specialization requires explicit controls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3F997-469A-4BB8-AD68-66E9A297A51C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BCC181-1F3C-4DC1-AE1F-B13E40C375E8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965468-F782-47B0-B78A-9922F053530C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C39520-D681-4E91-91CE-E31A1C154C99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10858500" cy="666750"/>
          </a:xfrm>
          <a:prstGeom prst="rect">
            <a:avLst/>
          </a:prstGeom>
          <a:solidFill>
            <a:srgbClr val="F7FA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B2B866-7BBB-460F-A0EA-A3E5141BAD76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7BC851-E8B9-4595-AFCB-553D32506FED}"/>
              </a:ext>
            </a:extLst>
          </p:cNvPr>
          <p:cNvSpPr>
            <a:spLocks noGrp="1"/>
          </p:cNvSpPr>
          <p:nvPr/>
        </p:nvSpPr>
        <p:spPr>
          <a:xfrm>
            <a:off x="1524000" y="136207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Task fit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D4DE28-AB95-4448-8039-C97978E1F2F6}"/>
              </a:ext>
            </a:extLst>
          </p:cNvPr>
          <p:cNvSpPr>
            <a:spLocks noGrp="1"/>
          </p:cNvSpPr>
          <p:nvPr/>
        </p:nvSpPr>
        <p:spPr>
          <a:xfrm>
            <a:off x="3905250" y="1362075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Stable inputs, clear outputs and measurable success criteria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7B633B-D038-4D27-AB1D-7F949937817E}"/>
              </a:ext>
            </a:extLst>
          </p:cNvPr>
          <p:cNvSpPr>
            <a:spLocks noGrp="1"/>
          </p:cNvSpPr>
          <p:nvPr/>
        </p:nvSpPr>
        <p:spPr>
          <a:xfrm>
            <a:off x="666750" y="2066925"/>
            <a:ext cx="10858500" cy="666750"/>
          </a:xfrm>
          <a:prstGeom prst="rect">
            <a:avLst/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54EAA9-DEB8-4F07-B5D5-0CAABD2C2BA8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6A6BC-85D8-43BA-96B0-96AD19C8C636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 quality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AF7998-1471-42A4-9A82-9C067AC0148F}"/>
              </a:ext>
            </a:extLst>
          </p:cNvPr>
          <p:cNvSpPr>
            <a:spLocks noGrp="1"/>
          </p:cNvSpPr>
          <p:nvPr/>
        </p:nvSpPr>
        <p:spPr>
          <a:xfrm>
            <a:off x="3905250" y="2228850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Representative examples, provenance and product-level split isolation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AFD783-AC3C-498A-9D32-CBC796B30AA4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10858500" cy="666750"/>
          </a:xfrm>
          <a:prstGeom prst="rect">
            <a:avLst/>
          </a:prstGeom>
          <a:solidFill>
            <a:srgbClr val="F7FA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CA1BED-9A76-41FA-A565-689D126411DC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F91AB4-8920-43A7-BDF6-3BD81FED50C5}"/>
              </a:ext>
            </a:extLst>
          </p:cNvPr>
          <p:cNvSpPr>
            <a:spLocks noGrp="1"/>
          </p:cNvSpPr>
          <p:nvPr/>
        </p:nvSpPr>
        <p:spPr>
          <a:xfrm>
            <a:off x="1524000" y="30956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Safety gates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6FA1DB-6F1F-4466-8123-B1373ED8BBDA}"/>
              </a:ext>
            </a:extLst>
          </p:cNvPr>
          <p:cNvSpPr>
            <a:spLocks noGrp="1"/>
          </p:cNvSpPr>
          <p:nvPr/>
        </p:nvSpPr>
        <p:spPr>
          <a:xfrm>
            <a:off x="3905250" y="3095625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Critical-error thresholds and deterministic checks before release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C5769C-334E-4F76-96CF-94F3F885AC34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10858500" cy="666750"/>
          </a:xfrm>
          <a:prstGeom prst="rect">
            <a:avLst/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30ABA0-D31A-45A9-B429-0ACD3A9ED10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F5EA0B-BA01-40E8-9721-34923C565472}"/>
              </a:ext>
            </a:extLst>
          </p:cNvPr>
          <p:cNvSpPr>
            <a:spLocks noGrp="1"/>
          </p:cNvSpPr>
          <p:nvPr/>
        </p:nvSpPr>
        <p:spPr>
          <a:xfrm>
            <a:off x="1524000" y="39624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Hybrid routing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A6552A-5B74-4ABD-A852-66993487A67E}"/>
              </a:ext>
            </a:extLst>
          </p:cNvPr>
          <p:cNvSpPr>
            <a:spLocks noGrp="1"/>
          </p:cNvSpPr>
          <p:nvPr/>
        </p:nvSpPr>
        <p:spPr>
          <a:xfrm>
            <a:off x="3905250" y="3962400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Use the fine-tune for decisions and a generalist for explanation or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757244-FE20-4C6A-9A89-AFC34C4610B7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0858500" cy="666750"/>
          </a:xfrm>
          <a:prstGeom prst="rect">
            <a:avLst/>
          </a:prstGeom>
          <a:solidFill>
            <a:srgbClr val="F7FA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125D94-FF9A-42EB-B4D2-36E1438946EF}"/>
              </a:ext>
            </a:extLst>
          </p:cNvPr>
          <p:cNvSpPr>
            <a:spLocks noGrp="1"/>
          </p:cNvSpPr>
          <p:nvPr/>
        </p:nvSpPr>
        <p:spPr>
          <a:xfrm>
            <a:off x="876300" y="48482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053500-53B4-4D4D-B055-36B693FBB559}"/>
              </a:ext>
            </a:extLst>
          </p:cNvPr>
          <p:cNvSpPr>
            <a:spLocks noGrp="1"/>
          </p:cNvSpPr>
          <p:nvPr/>
        </p:nvSpPr>
        <p:spPr>
          <a:xfrm>
            <a:off x="1524000" y="482917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Economic proof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DA8D53-1201-4207-B925-F9A8EC330176}"/>
              </a:ext>
            </a:extLst>
          </p:cNvPr>
          <p:cNvSpPr>
            <a:spLocks noGrp="1"/>
          </p:cNvSpPr>
          <p:nvPr/>
        </p:nvSpPr>
        <p:spPr>
          <a:xfrm>
            <a:off x="3905250" y="4829175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throughput, utilization, fallback and successful-request cost</a:t>
            </a:r>
          </a:p>
        </p:txBody>
      </p:sp>
    </p:spTree>
    <p:extLst>
      <p:ext uri="{BB962C8B-B14F-4D97-AF65-F5344CB8AC3E}">
        <p14:creationId xmlns:p14="http://schemas.microsoft.com/office/powerpoint/2010/main" val="132569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D03590-F3D6-41BC-B72C-2E540F7695A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7C05B8-A090-418A-8CAE-DDC6BF28A5E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32C64-16F2-4B03-A384-FD83A9097191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Proposed reference architecture for selective direct inference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A5E1F8-1835-4467-8C7F-A801D3285BA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444D7-139D-44B4-A042-6A81D305A132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E7BED-D989-49F4-8F22-1C57E5A3FEDB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0935AD-769F-44C8-9D86-6FA0B80F4EBA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Existing customer platform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36459-74C9-4A1B-AFD3-E6492FDEA637}"/>
              </a:ext>
            </a:extLst>
          </p:cNvPr>
          <p:cNvSpPr>
            <a:spLocks noGrp="1"/>
          </p:cNvSpPr>
          <p:nvPr/>
        </p:nvSpPr>
        <p:spPr>
          <a:xfrm>
            <a:off x="3905250" y="9525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Customer-controlled integration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482883-8782-4562-BCDE-EA14CCE869F2}"/>
              </a:ext>
            </a:extLst>
          </p:cNvPr>
          <p:cNvSpPr>
            <a:spLocks noGrp="1"/>
          </p:cNvSpPr>
          <p:nvPr/>
        </p:nvSpPr>
        <p:spPr>
          <a:xfrm>
            <a:off x="7810500" y="9525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AI execution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183F95-B02B-4CEE-B425-20FBF86B6907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2762250" cy="3657600"/>
          </a:xfrm>
          <a:prstGeom prst="roundRect">
            <a:avLst>
              <a:gd name="adj" fmla="val 2759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9C8B43-6C23-4E35-90D5-A7C4E1128AD7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D91BB-077E-40D7-AD87-062DC7255BC2}"/>
              </a:ext>
            </a:extLst>
          </p:cNvPr>
          <p:cNvSpPr>
            <a:spLocks noGrp="1"/>
          </p:cNvSpPr>
          <p:nvPr/>
        </p:nvSpPr>
        <p:spPr>
          <a:xfrm>
            <a:off x="876300" y="1838325"/>
            <a:ext cx="1924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Web and mobile apps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044733-A209-4A1F-BF1E-A55620190C5B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24A12-D535-4481-A898-5DEC875937CC}"/>
              </a:ext>
            </a:extLst>
          </p:cNvPr>
          <p:cNvSpPr>
            <a:spLocks noGrp="1"/>
          </p:cNvSpPr>
          <p:nvPr/>
        </p:nvSpPr>
        <p:spPr>
          <a:xfrm>
            <a:off x="876300" y="2581275"/>
            <a:ext cx="1924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systems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E5CEBC-C079-48AB-80F7-3185EC0F6635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D46A1E-B8C6-45C7-ACEB-8370995C91B9}"/>
              </a:ext>
            </a:extLst>
          </p:cNvPr>
          <p:cNvSpPr>
            <a:spLocks noGrp="1"/>
          </p:cNvSpPr>
          <p:nvPr/>
        </p:nvSpPr>
        <p:spPr>
          <a:xfrm>
            <a:off x="876300" y="3324225"/>
            <a:ext cx="1924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AI assistants and agents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4D732E-C23B-4F77-95C5-9894C262A883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E3AAE9-B7E0-4CD8-8888-1FAE45FA6272}"/>
              </a:ext>
            </a:extLst>
          </p:cNvPr>
          <p:cNvSpPr>
            <a:spLocks noGrp="1"/>
          </p:cNvSpPr>
          <p:nvPr/>
        </p:nvSpPr>
        <p:spPr>
          <a:xfrm>
            <a:off x="876300" y="4067175"/>
            <a:ext cx="1924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buNone/>
              <a:def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Business APIs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62ECF8-F019-4314-A511-45E3E231711A}"/>
              </a:ext>
            </a:extLst>
          </p:cNvPr>
          <p:cNvSpPr>
            <a:spLocks noGrp="1"/>
          </p:cNvSpPr>
          <p:nvPr/>
        </p:nvSpPr>
        <p:spPr>
          <a:xfrm>
            <a:off x="3714750" y="1371600"/>
            <a:ext cx="3429000" cy="3657600"/>
          </a:xfrm>
          <a:prstGeom prst="roundRect">
            <a:avLst>
              <a:gd name="adj" fmla="val 2222"/>
            </a:avLst>
          </a:prstGeom>
          <a:solidFill>
            <a:srgbClr val="FFF8EE"/>
          </a:solidFill>
          <a:ln w="9525">
            <a:solidFill>
              <a:srgbClr val="FF633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94CDBB-C746-482A-8384-D269EAB4E342}"/>
              </a:ext>
            </a:extLst>
          </p:cNvPr>
          <p:cNvSpPr>
            <a:spLocks noGrp="1"/>
          </p:cNvSpPr>
          <p:nvPr/>
        </p:nvSpPr>
        <p:spPr>
          <a:xfrm>
            <a:off x="4048125" y="17145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Backend and API integration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148359-1911-4789-B6D0-92230F0C750D}"/>
              </a:ext>
            </a:extLst>
          </p:cNvPr>
          <p:cNvSpPr>
            <a:spLocks noGrp="1"/>
          </p:cNvSpPr>
          <p:nvPr/>
        </p:nvSpPr>
        <p:spPr>
          <a:xfrm>
            <a:off x="4048125" y="24003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Model routing and policy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B27819-55F0-4CE0-9CC3-D121885582F0}"/>
              </a:ext>
            </a:extLst>
          </p:cNvPr>
          <p:cNvSpPr>
            <a:spLocks noGrp="1"/>
          </p:cNvSpPr>
          <p:nvPr/>
        </p:nvSpPr>
        <p:spPr>
          <a:xfrm>
            <a:off x="4048125" y="30861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Auth, secrets and observability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F257CD-3DF1-462E-8C98-E887951ECC26}"/>
              </a:ext>
            </a:extLst>
          </p:cNvPr>
          <p:cNvSpPr>
            <a:spLocks noGrp="1"/>
          </p:cNvSpPr>
          <p:nvPr/>
        </p:nvSpPr>
        <p:spPr>
          <a:xfrm>
            <a:off x="4048125" y="377190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169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•  Logging, cost and usage metrics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FA00B8-78EF-4F03-8F15-23E561E0A2BC}"/>
              </a:ext>
            </a:extLst>
          </p:cNvPr>
          <p:cNvSpPr>
            <a:spLocks noGrp="1"/>
          </p:cNvSpPr>
          <p:nvPr/>
        </p:nvSpPr>
        <p:spPr>
          <a:xfrm>
            <a:off x="3238500" y="276225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3BC6B-36F2-4391-B10D-79CCE6CCC878}"/>
              </a:ext>
            </a:extLst>
          </p:cNvPr>
          <p:cNvSpPr>
            <a:spLocks noGrp="1"/>
          </p:cNvSpPr>
          <p:nvPr/>
        </p:nvSpPr>
        <p:spPr>
          <a:xfrm>
            <a:off x="7191375" y="276225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F9790C3-1868-4687-B14F-9CAF2C4E56AC}"/>
              </a:ext>
            </a:extLst>
          </p:cNvPr>
          <p:cNvSpPr>
            <a:spLocks noGrp="1"/>
          </p:cNvSpPr>
          <p:nvPr/>
        </p:nvSpPr>
        <p:spPr>
          <a:xfrm>
            <a:off x="7696200" y="137160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F0FAF7"/>
          </a:solidFill>
          <a:ln w="9525">
            <a:solidFill>
              <a:srgbClr val="159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4EB985-5B78-434A-8F68-63F55E34D1AE}"/>
              </a:ext>
            </a:extLst>
          </p:cNvPr>
          <p:cNvSpPr>
            <a:spLocks noGrp="1"/>
          </p:cNvSpPr>
          <p:nvPr/>
        </p:nvSpPr>
        <p:spPr>
          <a:xfrm>
            <a:off x="7981950" y="1581150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 algn="l">
              <a:buNone/>
              <a:defRPr sz="11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PRIMARY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C10FF8-38C1-4D07-999A-1C9460C5E56B}"/>
              </a:ext>
            </a:extLst>
          </p:cNvPr>
          <p:cNvSpPr>
            <a:spLocks noGrp="1"/>
          </p:cNvSpPr>
          <p:nvPr/>
        </p:nvSpPr>
        <p:spPr>
          <a:xfrm>
            <a:off x="7981950" y="1971675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83" lnSpcReduction="2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Fine-tuned Qwen on Fireworks AI direct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7D2B16-3F89-4553-B440-3E21A7705825}"/>
              </a:ext>
            </a:extLst>
          </p:cNvPr>
          <p:cNvSpPr>
            <a:spLocks noGrp="1"/>
          </p:cNvSpPr>
          <p:nvPr/>
        </p:nvSpPr>
        <p:spPr>
          <a:xfrm>
            <a:off x="7981950" y="262890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API endpoint with deployment-specific scaling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F25E307-405A-4232-8589-5A0265A7C347}"/>
              </a:ext>
            </a:extLst>
          </p:cNvPr>
          <p:cNvSpPr>
            <a:spLocks noGrp="1"/>
          </p:cNvSpPr>
          <p:nvPr/>
        </p:nvSpPr>
        <p:spPr>
          <a:xfrm>
            <a:off x="7696200" y="331470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F6F1FF"/>
          </a:solidFill>
          <a:ln w="9525">
            <a:solidFill>
              <a:srgbClr val="765A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A93EEA-C722-49FF-9018-52EF3934BFEB}"/>
              </a:ext>
            </a:extLst>
          </p:cNvPr>
          <p:cNvSpPr>
            <a:spLocks noGrp="1"/>
          </p:cNvSpPr>
          <p:nvPr/>
        </p:nvSpPr>
        <p:spPr>
          <a:xfrm>
            <a:off x="7981950" y="3524250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 algn="l">
              <a:buNone/>
              <a:defRPr sz="11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FALLBACK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1E26D0-D5AB-4378-8BAF-C39A20615356}"/>
              </a:ext>
            </a:extLst>
          </p:cNvPr>
          <p:cNvSpPr>
            <a:spLocks noGrp="1"/>
          </p:cNvSpPr>
          <p:nvPr/>
        </p:nvSpPr>
        <p:spPr>
          <a:xfrm>
            <a:off x="7981950" y="3914775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83" lnSpcReduction="20000"/>
          </a:bodyPr>
          <a:lstStyle/>
          <a:p>
            <a:pPr algn="l">
              <a:buNone/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General-purpose LLM or human review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B8D5CB-B369-4BC1-A30A-1C4D863134CD}"/>
              </a:ext>
            </a:extLst>
          </p:cNvPr>
          <p:cNvSpPr>
            <a:spLocks noGrp="1"/>
          </p:cNvSpPr>
          <p:nvPr/>
        </p:nvSpPr>
        <p:spPr>
          <a:xfrm>
            <a:off x="7981950" y="457200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Triggered by uncertainty, policy or risk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01EEDF3-4E98-4D54-887E-4EBC1EE31AA8}"/>
              </a:ext>
            </a:extLst>
          </p:cNvPr>
          <p:cNvSpPr>
            <a:spLocks noGrp="1"/>
          </p:cNvSpPr>
          <p:nvPr/>
        </p:nvSpPr>
        <p:spPr>
          <a:xfrm>
            <a:off x="1143000" y="5334000"/>
            <a:ext cx="9906000" cy="514350"/>
          </a:xfrm>
          <a:prstGeom prst="roundRect">
            <a:avLst>
              <a:gd name="adj" fmla="val 14815"/>
            </a:avLst>
          </a:prstGeom>
          <a:solidFill>
            <a:srgbClr val="EAF3FF"/>
          </a:solidFill>
          <a:ln w="9525">
            <a:solidFill>
              <a:srgbClr val="3486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9175DC-D6D0-4A63-B791-8F8A43D24FEC}"/>
              </a:ext>
            </a:extLst>
          </p:cNvPr>
          <p:cNvSpPr>
            <a:spLocks noGrp="1"/>
          </p:cNvSpPr>
          <p:nvPr/>
        </p:nvSpPr>
        <p:spPr>
          <a:xfrm>
            <a:off x="1390650" y="548640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500" lnSpcReduction="10000"/>
          </a:bodyPr>
          <a:lstStyle/>
          <a:p>
            <a:pPr algn="l">
              <a:buNone/>
              <a:defRPr sz="12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Operational loop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2AD8C1-6508-4F57-BE5C-171F1C28A2C9}"/>
              </a:ext>
            </a:extLst>
          </p:cNvPr>
          <p:cNvSpPr>
            <a:spLocks noGrp="1"/>
          </p:cNvSpPr>
          <p:nvPr/>
        </p:nvSpPr>
        <p:spPr>
          <a:xfrm>
            <a:off x="2952750" y="54768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926" lnSpcReduction="20000"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Quality evaluation  |  errors  |  latency  |  cost per request  |  retraining</a:t>
            </a:r>
          </a:p>
        </p:txBody>
      </p:sp>
    </p:spTree>
    <p:extLst>
      <p:ext uri="{BB962C8B-B14F-4D97-AF65-F5344CB8AC3E}">
        <p14:creationId xmlns:p14="http://schemas.microsoft.com/office/powerpoint/2010/main" val="1296345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46CA959-78C6-4464-986D-1AD790FDA53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6AFBF4-72C4-43DA-A7AB-19F4316DC85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22"/>
          </a:bodyPr>
          <a:lstStyle/>
          <a:p>
            <a:pPr algn="ctr"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COST MODEL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A6C768A-32DD-440B-BAE9-6528606A8881}"/>
              </a:ext>
            </a:extLst>
          </p:cNvPr>
          <p:cNvSpPr>
            <a:spLocks noGrp="1"/>
          </p:cNvSpPr>
          <p:nvPr/>
        </p:nvSpPr>
        <p:spPr>
          <a:xfrm>
            <a:off x="2305050" y="2095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Monthly deployment scenarios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AA40C80-6E6F-4A4C-9CA8-BB55609E7109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9497B9-ACB5-42C3-8226-E112257C1C27}"/>
              </a:ext>
            </a:extLst>
          </p:cNvPr>
          <p:cNvSpPr>
            <a:spLocks noGrp="1"/>
          </p:cNvSpPr>
          <p:nvPr/>
        </p:nvSpPr>
        <p:spPr>
          <a:xfrm>
            <a:off x="2305050" y="723900"/>
            <a:ext cx="8667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1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GPU-hour estimates alongside GPT-5 Global Standard token costs.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6A4811-7C49-4956-A581-9618F0DE9E19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DA7C9A-460D-4E0E-919D-66E5B9020D30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95" name="Table 94"/>
          <p:cNvGraphicFramePr/>
          <p:nvPr>
            <p:extLst>
              <p:ext uri="{D42A27DB-BD31-4B8C-83A1-F6EECF244321}">
                <p14:modId xmlns:p14="http://schemas.microsoft.com/office/powerpoint/2010/main" val="3765910439"/>
              </p:ext>
            </p:extLst>
          </p:nvPr>
        </p:nvGraphicFramePr>
        <p:xfrm>
          <a:off x="876300" y="1411310"/>
          <a:ext cx="9963150" cy="2206580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232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Scenario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14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Active hours / month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14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Foundry ref. $80/h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14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$8/h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14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$13/h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14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Foundry GPT-5 estimated monthly cost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143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54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Always on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720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$57,600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5936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$5,760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5936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$9,360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$19,170 (3.29B tokens)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7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Business hours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176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$14,080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5936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$1,408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5936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$2,288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$4,686 (803M tokens)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3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Intermittent, verified shutdown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80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$6,400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5936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$640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5936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$1,040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$2,130 (365M tokens)</a:t>
                      </a:r>
                    </a:p>
                  </a:txBody>
                  <a:tcPr marL="85725" marR="66675" marT="66675" marB="47625" anchor="ctr">
                    <a:lnL w="9525">
                      <a:solidFill>
                        <a:srgbClr val="DDE3EA"/>
                      </a:solidFill>
                    </a:lnL>
                    <a:lnR w="9525">
                      <a:solidFill>
                        <a:srgbClr val="DDE3EA"/>
                      </a:solidFill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961F4B0-ACF3-449B-BC3F-AC2743AEA28A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0896600" cy="723900"/>
          </a:xfrm>
          <a:prstGeom prst="roundRect">
            <a:avLst>
              <a:gd name="adj" fmla="val 10526"/>
            </a:avLst>
          </a:prstGeom>
          <a:solidFill>
            <a:srgbClr val="F5F8FC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1B048E-0604-429C-BE16-A37A76EDAFEB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lstStyle/>
          <a:p>
            <a:pPr algn="l">
              <a:defRPr sz="1125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14384B"/>
                </a:solidFill>
                <a:latin typeface="Instrument Sans regular"/>
                <a:ea typeface="Instrument Sans regular"/>
                <a:cs typeface="Instrument Sans regular"/>
              </a:rPr>
              <a:t>Pricing basis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9A38E82-9A65-400A-8F53-F18D75FA8D3D}"/>
              </a:ext>
            </a:extLst>
          </p:cNvPr>
          <p:cNvSpPr>
            <a:spLocks noGrp="1"/>
          </p:cNvSpPr>
          <p:nvPr/>
        </p:nvSpPr>
        <p:spPr>
          <a:xfrm>
            <a:off x="2133600" y="5143500"/>
            <a:ext cx="9048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 Global Standard: $1.25 per 1M input tokens and $10 per 1M output tokens. Assumes 1,000 requests/hour and the input/output mix measured in the Amazon</a:t>
            </a:r>
            <a:r>
              <a:rPr lang="es-419"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 Reviews use case</a:t>
            </a:r>
            <a:r>
              <a:rPr sz="12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 benchmark.</a:t>
            </a:r>
          </a:p>
        </p:txBody>
      </p:sp>
    </p:spTree>
    <p:extLst>
      <p:ext uri="{BB962C8B-B14F-4D97-AF65-F5344CB8AC3E}">
        <p14:creationId xmlns:p14="http://schemas.microsoft.com/office/powerpoint/2010/main" val="2082142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30A338-BE3A-4F07-B361-394552917C2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52E522-6526-4756-9A5B-48799195044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4722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1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CREDENTIALS</a:t>
            </a:r>
            <a:endParaRPr sz="1100"/>
          </a:p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endParaRPr sz="1000" b="1">
              <a:solidFill>
                <a:srgbClr val="242424"/>
              </a:solidFill>
              <a:latin typeface="PP Telegraf regular"/>
              <a:ea typeface="PP Telegraf regular"/>
              <a:cs typeface="PP Telegraf regula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A2CB0-D490-4585-9654-BC2F104DE53D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Enterprise engineering credibility is already established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BE616B-57E6-4167-9190-325600F0BA2D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FFE3F1-71AA-49DC-AB39-B58989205929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A3C3F-B8E7-490E-B474-9FB2A1189F50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BA30DD-FD40-4294-8694-A1356A5093E5}"/>
              </a:ext>
            </a:extLst>
          </p:cNvPr>
          <p:cNvSpPr>
            <a:spLocks noGrp="1"/>
          </p:cNvSpPr>
          <p:nvPr/>
        </p:nvSpPr>
        <p:spPr>
          <a:xfrm>
            <a:off x="838200" y="9144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528" lnSpcReduction="10000"/>
          </a:bodyPr>
          <a:lstStyle/>
          <a:p>
            <a:pPr algn="ctr">
              <a:buNone/>
              <a:def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brings customer access and production engineering experience. The proposed partnership adds Fireworks specialization to that base.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615B20-866D-46F1-AA68-20F00252A24C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414516-EAD5-4D4D-87D4-E70ADD2D4F24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2762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20+ years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40249F-1877-414D-A050-F9F5E5353899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working with Microsoft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562829-BF11-4B09-BFFA-EF74292E44F8}"/>
              </a:ext>
            </a:extLst>
          </p:cNvPr>
          <p:cNvSpPr>
            <a:spLocks noGrp="1"/>
          </p:cNvSpPr>
          <p:nvPr/>
        </p:nvSpPr>
        <p:spPr>
          <a:xfrm>
            <a:off x="4524375" y="1828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B2BCD1-F734-451A-B2F4-86B842EA8D4A}"/>
              </a:ext>
            </a:extLst>
          </p:cNvPr>
          <p:cNvSpPr>
            <a:spLocks noGrp="1"/>
          </p:cNvSpPr>
          <p:nvPr/>
        </p:nvSpPr>
        <p:spPr>
          <a:xfrm>
            <a:off x="4714875" y="1962150"/>
            <a:ext cx="2762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2025 winner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35D1E6-DDB6-4871-B520-E7BBD0F263A6}"/>
              </a:ext>
            </a:extLst>
          </p:cNvPr>
          <p:cNvSpPr>
            <a:spLocks noGrp="1"/>
          </p:cNvSpPr>
          <p:nvPr/>
        </p:nvSpPr>
        <p:spPr>
          <a:xfrm>
            <a:off x="4714875" y="26098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921"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Microsoft Partner of the Year, Gaming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A51E8D-38CB-41C1-A816-077FE0C5134C}"/>
              </a:ext>
            </a:extLst>
          </p:cNvPr>
          <p:cNvSpPr>
            <a:spLocks noGrp="1"/>
          </p:cNvSpPr>
          <p:nvPr/>
        </p:nvSpPr>
        <p:spPr>
          <a:xfrm>
            <a:off x="8343900" y="1828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EF5F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2741BA-3FA2-4F48-B832-0D22D77AE5F1}"/>
              </a:ext>
            </a:extLst>
          </p:cNvPr>
          <p:cNvSpPr>
            <a:spLocks noGrp="1"/>
          </p:cNvSpPr>
          <p:nvPr/>
        </p:nvSpPr>
        <p:spPr>
          <a:xfrm>
            <a:off x="8534400" y="1962150"/>
            <a:ext cx="2762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98"/>
          </a:bodyPr>
          <a:lstStyle/>
          <a:p>
            <a:pPr algn="l">
              <a:buNone/>
              <a:def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225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2025 finalist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9D5ECE-B3E7-4546-ABFD-676D76D32EFB}"/>
              </a:ext>
            </a:extLst>
          </p:cNvPr>
          <p:cNvSpPr>
            <a:spLocks noGrp="1"/>
          </p:cNvSpPr>
          <p:nvPr/>
        </p:nvSpPr>
        <p:spPr>
          <a:xfrm>
            <a:off x="8534400" y="26098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Innovate with Azure AI Platform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426E6-7A5F-435A-B391-5E998296D57E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Cloud and modernization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B509FE-3BB6-41C4-988E-E500B4DA5074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3048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Azure migration, cloud-native systems and production operations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484B41-C140-431F-8348-48A66211EB86}"/>
              </a:ext>
            </a:extLst>
          </p:cNvPr>
          <p:cNvSpPr>
            <a:spLocks noGrp="1"/>
          </p:cNvSpPr>
          <p:nvPr/>
        </p:nvSpPr>
        <p:spPr>
          <a:xfrm>
            <a:off x="4552950" y="38576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AI applications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6DDCD7-C9F7-4BD4-9A43-5802B0861279}"/>
              </a:ext>
            </a:extLst>
          </p:cNvPr>
          <p:cNvSpPr>
            <a:spLocks noGrp="1"/>
          </p:cNvSpPr>
          <p:nvPr/>
        </p:nvSpPr>
        <p:spPr>
          <a:xfrm>
            <a:off x="4552950" y="4305300"/>
            <a:ext cx="3048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Assistants, agents and applied AI experiences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196542-4DCE-46B4-9429-4A292D6C4703}"/>
              </a:ext>
            </a:extLst>
          </p:cNvPr>
          <p:cNvSpPr>
            <a:spLocks noGrp="1"/>
          </p:cNvSpPr>
          <p:nvPr/>
        </p:nvSpPr>
        <p:spPr>
          <a:xfrm>
            <a:off x="8324850" y="38576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Enterprise delivery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368DB0-68EC-4F3F-B7A3-2A752CA665D7}"/>
              </a:ext>
            </a:extLst>
          </p:cNvPr>
          <p:cNvSpPr>
            <a:spLocks noGrp="1"/>
          </p:cNvSpPr>
          <p:nvPr/>
        </p:nvSpPr>
        <p:spPr>
          <a:xfrm>
            <a:off x="8324850" y="4305300"/>
            <a:ext cx="3048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Security, reliability, integration and DevOps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FB0352-6F4E-4F12-A89B-95288829A424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1762125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50" b="1">
              <a:solidFill>
                <a:srgbClr val="FF6339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ACBF18-23B3-479E-93DA-358FA02F3E89}"/>
              </a:ext>
            </a:extLst>
          </p:cNvPr>
          <p:cNvSpPr>
            <a:spLocks noGrp="1"/>
          </p:cNvSpPr>
          <p:nvPr/>
        </p:nvSpPr>
        <p:spPr>
          <a:xfrm>
            <a:off x="2571750" y="5391150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098"/>
          </a:bodyPr>
          <a:lstStyle/>
          <a:p>
            <a:pPr algn="l">
              <a:buNone/>
              <a:defRPr sz="17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70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95824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2F2047-C651-40E1-8B43-032331ED7A7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C13E56-C844-482B-AD4B-1202694B309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OFFERING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02DFCD-DCDA-40F2-B753-C5290926B791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Specialized AI Optimization Services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A9FCB-A657-48AF-912D-87DD0FB5C6A9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15793-EABE-422C-9602-EF6552472164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BB57BA-8340-4318-B0B1-234E26D453BA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337B84-6D85-427C-BC13-DD92E4C8120C}"/>
              </a:ext>
            </a:extLst>
          </p:cNvPr>
          <p:cNvSpPr>
            <a:spLocks noGrp="1"/>
          </p:cNvSpPr>
          <p:nvPr/>
        </p:nvSpPr>
        <p:spPr>
          <a:xfrm>
            <a:off x="590550" y="114300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6482F7-672D-493D-B501-FB7F43813548}"/>
              </a:ext>
            </a:extLst>
          </p:cNvPr>
          <p:cNvSpPr>
            <a:spLocks noGrp="1"/>
          </p:cNvSpPr>
          <p:nvPr/>
        </p:nvSpPr>
        <p:spPr>
          <a:xfrm>
            <a:off x="819150" y="13335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E936A-91DF-4457-B32B-C780E1194D70}"/>
              </a:ext>
            </a:extLst>
          </p:cNvPr>
          <p:cNvSpPr>
            <a:spLocks noGrp="1"/>
          </p:cNvSpPr>
          <p:nvPr/>
        </p:nvSpPr>
        <p:spPr>
          <a:xfrm>
            <a:off x="1447800" y="13144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AI cost and workload assessment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FFD731-B249-4566-A08B-51D000921F67}"/>
              </a:ext>
            </a:extLst>
          </p:cNvPr>
          <p:cNvSpPr>
            <a:spLocks noGrp="1"/>
          </p:cNvSpPr>
          <p:nvPr/>
        </p:nvSpPr>
        <p:spPr>
          <a:xfrm>
            <a:off x="1447800" y="17716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Find stable, expensive tasks suited to specialization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5332BE-451C-4559-A9EF-41AD3B34CD0E}"/>
              </a:ext>
            </a:extLst>
          </p:cNvPr>
          <p:cNvSpPr>
            <a:spLocks noGrp="1"/>
          </p:cNvSpPr>
          <p:nvPr/>
        </p:nvSpPr>
        <p:spPr>
          <a:xfrm>
            <a:off x="6324600" y="114300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44B1CA-BAE6-4CA0-835A-0AFE4AFFE18F}"/>
              </a:ext>
            </a:extLst>
          </p:cNvPr>
          <p:cNvSpPr>
            <a:spLocks noGrp="1"/>
          </p:cNvSpPr>
          <p:nvPr/>
        </p:nvSpPr>
        <p:spPr>
          <a:xfrm>
            <a:off x="6553200" y="13335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3D22E-2F78-4AD2-9A5B-DA409EF81397}"/>
              </a:ext>
            </a:extLst>
          </p:cNvPr>
          <p:cNvSpPr>
            <a:spLocks noGrp="1"/>
          </p:cNvSpPr>
          <p:nvPr/>
        </p:nvSpPr>
        <p:spPr>
          <a:xfrm>
            <a:off x="7181850" y="13144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 preparation and fine-tuning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C5079F-943E-482B-B341-F26ED786B0D5}"/>
              </a:ext>
            </a:extLst>
          </p:cNvPr>
          <p:cNvSpPr>
            <a:spLocks noGrp="1"/>
          </p:cNvSpPr>
          <p:nvPr/>
        </p:nvSpPr>
        <p:spPr>
          <a:xfrm>
            <a:off x="7181850" y="17716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Build validated datasets and train compact models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C68B8C-1E0E-4440-990C-0C3429E945F0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08C8C9-7A21-43AD-BDC5-BCBB085E872F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6840A0-9195-43CA-8DAE-F424B9A8D6AF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Quality and performance benchmarking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8A3AF0-BB3C-4A23-AF0A-1FBB52E68A6A}"/>
              </a:ext>
            </a:extLst>
          </p:cNvPr>
          <p:cNvSpPr>
            <a:spLocks noGrp="1"/>
          </p:cNvSpPr>
          <p:nvPr/>
        </p:nvSpPr>
        <p:spPr>
          <a:xfrm>
            <a:off x="1447800" y="335280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Compare quality, errors, latency and throughput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99D8B9-2482-4163-AAB3-62FF5A7C96A0}"/>
              </a:ext>
            </a:extLst>
          </p:cNvPr>
          <p:cNvSpPr>
            <a:spLocks noGrp="1"/>
          </p:cNvSpPr>
          <p:nvPr/>
        </p:nvSpPr>
        <p:spPr>
          <a:xfrm>
            <a:off x="6324600" y="272415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0ACEC4-06B7-464F-80E0-F5FDD50A6D14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6CB29-6AAC-45D2-BD2E-22A0B2417746}"/>
              </a:ext>
            </a:extLst>
          </p:cNvPr>
          <p:cNvSpPr>
            <a:spLocks noGrp="1"/>
          </p:cNvSpPr>
          <p:nvPr/>
        </p:nvSpPr>
        <p:spPr>
          <a:xfrm>
            <a:off x="7181850" y="28956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deployment and integration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D10F06-C15B-4544-AFAC-DA94E4F78EC1}"/>
              </a:ext>
            </a:extLst>
          </p:cNvPr>
          <p:cNvSpPr>
            <a:spLocks noGrp="1"/>
          </p:cNvSpPr>
          <p:nvPr/>
        </p:nvSpPr>
        <p:spPr>
          <a:xfrm>
            <a:off x="7181850" y="335280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Connect direct endpoints to existing applications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DDEC4F-005B-43BA-9163-87D18D8FADD9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A7A200-F595-43DF-BA98-2189AC601DA0}"/>
              </a:ext>
            </a:extLst>
          </p:cNvPr>
          <p:cNvSpPr>
            <a:spLocks noGrp="1"/>
          </p:cNvSpPr>
          <p:nvPr/>
        </p:nvSpPr>
        <p:spPr>
          <a:xfrm>
            <a:off x="819150" y="44958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60F6EC-02B1-484F-B1B4-FB94EBBAC57D}"/>
              </a:ext>
            </a:extLst>
          </p:cNvPr>
          <p:cNvSpPr>
            <a:spLocks noGrp="1"/>
          </p:cNvSpPr>
          <p:nvPr/>
        </p:nvSpPr>
        <p:spPr>
          <a:xfrm>
            <a:off x="1447800" y="44767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AI FinOps optimization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B63B72-B3BC-4341-8F9B-B3098A0957DE}"/>
              </a:ext>
            </a:extLst>
          </p:cNvPr>
          <p:cNvSpPr>
            <a:spLocks noGrp="1"/>
          </p:cNvSpPr>
          <p:nvPr/>
        </p:nvSpPr>
        <p:spPr>
          <a:xfrm>
            <a:off x="1447800" y="49339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Improve utilization, active hours and fallback economics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06BFD09-F692-4BD4-81D4-A09422C1D9A6}"/>
              </a:ext>
            </a:extLst>
          </p:cNvPr>
          <p:cNvSpPr>
            <a:spLocks noGrp="1"/>
          </p:cNvSpPr>
          <p:nvPr/>
        </p:nvSpPr>
        <p:spPr>
          <a:xfrm>
            <a:off x="6324600" y="4305300"/>
            <a:ext cx="52959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9F80D-E471-41F2-92D2-FDBA059BE778}"/>
              </a:ext>
            </a:extLst>
          </p:cNvPr>
          <p:cNvSpPr>
            <a:spLocks noGrp="1"/>
          </p:cNvSpPr>
          <p:nvPr/>
        </p:nvSpPr>
        <p:spPr>
          <a:xfrm>
            <a:off x="6553200" y="44958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06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6253E7-91B1-491A-A05D-343E1B11C9F8}"/>
              </a:ext>
            </a:extLst>
          </p:cNvPr>
          <p:cNvSpPr>
            <a:spLocks noGrp="1"/>
          </p:cNvSpPr>
          <p:nvPr/>
        </p:nvSpPr>
        <p:spPr>
          <a:xfrm>
            <a:off x="7181850" y="44767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Production engineering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3A6832-1A6D-483C-AAE3-F1CAE744DC1B}"/>
              </a:ext>
            </a:extLst>
          </p:cNvPr>
          <p:cNvSpPr>
            <a:spLocks noGrp="1"/>
          </p:cNvSpPr>
          <p:nvPr/>
        </p:nvSpPr>
        <p:spPr>
          <a:xfrm>
            <a:off x="7181850" y="49339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Add reliability, security, monitoring and model updates</a:t>
            </a:r>
          </a:p>
        </p:txBody>
      </p:sp>
    </p:spTree>
    <p:extLst>
      <p:ext uri="{BB962C8B-B14F-4D97-AF65-F5344CB8AC3E}">
        <p14:creationId xmlns:p14="http://schemas.microsoft.com/office/powerpoint/2010/main" val="565364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46518F-5E7A-498C-8824-F11CC62D0983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BF896A-D61D-498B-A17B-57A2C9560F8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0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PARTNERSHIP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E180C-30CD-4A56-8C49-42F9E6146767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Southworks can accelerate Fireworks enterprise adoption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845BD-7E89-40F8-93A4-0EEC7931C120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CD18E-096F-4BFB-82A4-4DE47B8611CF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CE8BA-1D90-45F4-A2FE-BD93C7264DEE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C2AA6A-2087-45B0-9BA8-4EB03C918416}"/>
              </a:ext>
            </a:extLst>
          </p:cNvPr>
          <p:cNvSpPr>
            <a:spLocks noGrp="1"/>
          </p:cNvSpPr>
          <p:nvPr/>
        </p:nvSpPr>
        <p:spPr>
          <a:xfrm>
            <a:off x="552450" y="1238250"/>
            <a:ext cx="3524250" cy="3857625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C0FB13-402A-46E4-9381-4BA377A62BEB}"/>
              </a:ext>
            </a:extLst>
          </p:cNvPr>
          <p:cNvSpPr>
            <a:spLocks noGrp="1"/>
          </p:cNvSpPr>
          <p:nvPr/>
        </p:nvSpPr>
        <p:spPr>
          <a:xfrm>
            <a:off x="1257300" y="1476375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15936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0A27C6-8344-4980-8275-24FE437A1F83}"/>
              </a:ext>
            </a:extLst>
          </p:cNvPr>
          <p:cNvSpPr>
            <a:spLocks noGrp="1"/>
          </p:cNvSpPr>
          <p:nvPr/>
        </p:nvSpPr>
        <p:spPr>
          <a:xfrm>
            <a:off x="1333500" y="1524000"/>
            <a:ext cx="18478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FOR FIREWORKS AI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B969B-92D0-428A-9313-B2AEAE5ADC25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5DB552-CF63-4136-A2C6-A273A52AA97A}"/>
              </a:ext>
            </a:extLst>
          </p:cNvPr>
          <p:cNvSpPr>
            <a:spLocks noGrp="1"/>
          </p:cNvSpPr>
          <p:nvPr/>
        </p:nvSpPr>
        <p:spPr>
          <a:xfrm>
            <a:off x="1162050" y="21526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More qualified enterprise opportunities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4AAB97-3206-4C04-B511-6B5856D4C5CE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42730A-2D2B-46E8-A2F2-D3AFFA097D50}"/>
              </a:ext>
            </a:extLst>
          </p:cNvPr>
          <p:cNvSpPr>
            <a:spLocks noGrp="1"/>
          </p:cNvSpPr>
          <p:nvPr/>
        </p:nvSpPr>
        <p:spPr>
          <a:xfrm>
            <a:off x="1162050" y="27622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Faster path from experiment to deployment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F927C-D1A7-467F-A2B6-1CA27CD040BB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B29119-239D-4F3B-83A6-46793395994C}"/>
              </a:ext>
            </a:extLst>
          </p:cNvPr>
          <p:cNvSpPr>
            <a:spLocks noGrp="1"/>
          </p:cNvSpPr>
          <p:nvPr/>
        </p:nvSpPr>
        <p:spPr>
          <a:xfrm>
            <a:off x="1162050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Implementation support for Microsoft customers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5DACB0-D913-45C2-BDFC-94CE4F5E72F4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493A0-DF52-400E-B0DE-9916A12E03AD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Greater production usage over time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B67718-5E60-498C-8811-D1E08FCA09B5}"/>
              </a:ext>
            </a:extLst>
          </p:cNvPr>
          <p:cNvSpPr>
            <a:spLocks noGrp="1"/>
          </p:cNvSpPr>
          <p:nvPr/>
        </p:nvSpPr>
        <p:spPr>
          <a:xfrm>
            <a:off x="4429125" y="1238250"/>
            <a:ext cx="3524250" cy="3857625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157AA2-7300-43EC-85C3-A64B40D7E177}"/>
              </a:ext>
            </a:extLst>
          </p:cNvPr>
          <p:cNvSpPr>
            <a:spLocks noGrp="1"/>
          </p:cNvSpPr>
          <p:nvPr/>
        </p:nvSpPr>
        <p:spPr>
          <a:xfrm>
            <a:off x="5172075" y="1476375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8D32AC-BD41-4DDB-AB3A-5457F790344E}"/>
              </a:ext>
            </a:extLst>
          </p:cNvPr>
          <p:cNvSpPr>
            <a:spLocks noGrp="1"/>
          </p:cNvSpPr>
          <p:nvPr/>
        </p:nvSpPr>
        <p:spPr>
          <a:xfrm>
            <a:off x="5248275" y="1524000"/>
            <a:ext cx="18478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FOR CUSTOMERS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21F7C5-D0DA-4DC5-9EA5-039B5C9F9D69}"/>
              </a:ext>
            </a:extLst>
          </p:cNvPr>
          <p:cNvSpPr>
            <a:spLocks noGrp="1"/>
          </p:cNvSpPr>
          <p:nvPr/>
        </p:nvSpPr>
        <p:spPr>
          <a:xfrm>
            <a:off x="4752975" y="21907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6B7806-8698-4C3B-86CA-8B7648E8C7DF}"/>
              </a:ext>
            </a:extLst>
          </p:cNvPr>
          <p:cNvSpPr>
            <a:spLocks noGrp="1"/>
          </p:cNvSpPr>
          <p:nvPr/>
        </p:nvSpPr>
        <p:spPr>
          <a:xfrm>
            <a:off x="5038725" y="21526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42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Potentially lower AI operating cost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903DB2-5454-476F-89CF-D3F9EB0B6484}"/>
              </a:ext>
            </a:extLst>
          </p:cNvPr>
          <p:cNvSpPr>
            <a:spLocks noGrp="1"/>
          </p:cNvSpPr>
          <p:nvPr/>
        </p:nvSpPr>
        <p:spPr>
          <a:xfrm>
            <a:off x="4752975" y="28003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087473-6E5E-4ED2-8D75-76AE3518E096}"/>
              </a:ext>
            </a:extLst>
          </p:cNvPr>
          <p:cNvSpPr>
            <a:spLocks noGrp="1"/>
          </p:cNvSpPr>
          <p:nvPr/>
        </p:nvSpPr>
        <p:spPr>
          <a:xfrm>
            <a:off x="5038725" y="27622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Specialized task performance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66C5B7-B15E-49C1-9887-DBE7581385B4}"/>
              </a:ext>
            </a:extLst>
          </p:cNvPr>
          <p:cNvSpPr>
            <a:spLocks noGrp="1"/>
          </p:cNvSpPr>
          <p:nvPr/>
        </p:nvSpPr>
        <p:spPr>
          <a:xfrm>
            <a:off x="4752975" y="34099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D0B6F-AC8F-471C-9860-8A5BF3A6EBCF}"/>
              </a:ext>
            </a:extLst>
          </p:cNvPr>
          <p:cNvSpPr>
            <a:spLocks noGrp="1"/>
          </p:cNvSpPr>
          <p:nvPr/>
        </p:nvSpPr>
        <p:spPr>
          <a:xfrm>
            <a:off x="5038725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897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Controlled migration with fallback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4E2846-5BD1-4431-AA96-3A24B8127AEF}"/>
              </a:ext>
            </a:extLst>
          </p:cNvPr>
          <p:cNvSpPr>
            <a:spLocks noGrp="1"/>
          </p:cNvSpPr>
          <p:nvPr/>
        </p:nvSpPr>
        <p:spPr>
          <a:xfrm>
            <a:off x="4752975" y="40195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69F1B0-D0CD-4EE6-86DF-77BABBF48594}"/>
              </a:ext>
            </a:extLst>
          </p:cNvPr>
          <p:cNvSpPr>
            <a:spLocks noGrp="1"/>
          </p:cNvSpPr>
          <p:nvPr/>
        </p:nvSpPr>
        <p:spPr>
          <a:xfrm>
            <a:off x="5038725" y="39814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Integration into existing cloud estates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FA8B65D-BE2E-4C2B-84E2-50E8AF9A1694}"/>
              </a:ext>
            </a:extLst>
          </p:cNvPr>
          <p:cNvSpPr>
            <a:spLocks noGrp="1"/>
          </p:cNvSpPr>
          <p:nvPr/>
        </p:nvSpPr>
        <p:spPr>
          <a:xfrm>
            <a:off x="8305800" y="1238250"/>
            <a:ext cx="3524250" cy="3857625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ABF7D04-A567-41FA-BAFA-A6309D6490B2}"/>
              </a:ext>
            </a:extLst>
          </p:cNvPr>
          <p:cNvSpPr>
            <a:spLocks noGrp="1"/>
          </p:cNvSpPr>
          <p:nvPr/>
        </p:nvSpPr>
        <p:spPr>
          <a:xfrm>
            <a:off x="9077325" y="1476375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765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BA872C-D3CA-4CEC-AF67-0D45A7F8EDFE}"/>
              </a:ext>
            </a:extLst>
          </p:cNvPr>
          <p:cNvSpPr>
            <a:spLocks noGrp="1"/>
          </p:cNvSpPr>
          <p:nvPr/>
        </p:nvSpPr>
        <p:spPr>
          <a:xfrm>
            <a:off x="9153525" y="1524000"/>
            <a:ext cx="18478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FOR SOUTHWORKS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BCFA18-EF58-4593-A0FB-91DE702BCD6C}"/>
              </a:ext>
            </a:extLst>
          </p:cNvPr>
          <p:cNvSpPr>
            <a:spLocks noGrp="1"/>
          </p:cNvSpPr>
          <p:nvPr/>
        </p:nvSpPr>
        <p:spPr>
          <a:xfrm>
            <a:off x="8629650" y="21907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2AADFE-1569-48DD-AD05-0E34868242E9}"/>
              </a:ext>
            </a:extLst>
          </p:cNvPr>
          <p:cNvSpPr>
            <a:spLocks noGrp="1"/>
          </p:cNvSpPr>
          <p:nvPr/>
        </p:nvSpPr>
        <p:spPr>
          <a:xfrm>
            <a:off x="8915400" y="21526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942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Expanded AI optimization services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3DDBC9-0DB4-486B-A810-A987ED6B9FB5}"/>
              </a:ext>
            </a:extLst>
          </p:cNvPr>
          <p:cNvSpPr>
            <a:spLocks noGrp="1"/>
          </p:cNvSpPr>
          <p:nvPr/>
        </p:nvSpPr>
        <p:spPr>
          <a:xfrm>
            <a:off x="8629650" y="28003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9C8CE1-A474-4A7D-B0BE-3DFD310CBCC1}"/>
              </a:ext>
            </a:extLst>
          </p:cNvPr>
          <p:cNvSpPr>
            <a:spLocks noGrp="1"/>
          </p:cNvSpPr>
          <p:nvPr/>
        </p:nvSpPr>
        <p:spPr>
          <a:xfrm>
            <a:off x="8915400" y="27622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 differentiated Fireworks delivery practice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C2B2DC-12CC-4016-ADAA-ED261F0C1F0B}"/>
              </a:ext>
            </a:extLst>
          </p:cNvPr>
          <p:cNvSpPr>
            <a:spLocks noGrp="1"/>
          </p:cNvSpPr>
          <p:nvPr/>
        </p:nvSpPr>
        <p:spPr>
          <a:xfrm>
            <a:off x="8629650" y="34099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25B70B-A6B8-46B8-8660-4705FEB327AA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Joint pilots with measurable economics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A2230FE-D17F-47F0-AA5D-78FD5491B724}"/>
              </a:ext>
            </a:extLst>
          </p:cNvPr>
          <p:cNvSpPr>
            <a:spLocks noGrp="1"/>
          </p:cNvSpPr>
          <p:nvPr/>
        </p:nvSpPr>
        <p:spPr>
          <a:xfrm>
            <a:off x="8629650" y="4019550"/>
            <a:ext cx="228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87" lnSpcReduction="20000"/>
          </a:bodyPr>
          <a:lstStyle/>
          <a:p>
            <a:pPr algn="l">
              <a:buNone/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•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AED987-ED17-4893-899A-5602203A4F03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Long-term production engineering work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D67545-7142-4BE4-8809-6CCA167B4290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1428750" cy="2381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708" lnSpcReduction="20000"/>
          </a:bodyPr>
          <a:lstStyle/>
          <a:p>
            <a:pPr algn="l">
              <a:buNone/>
              <a:defRPr sz="12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200" b="1">
              <a:solidFill>
                <a:srgbClr val="FF6339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88797F-4CBA-4C4D-9F54-258CAE128879}"/>
              </a:ext>
            </a:extLst>
          </p:cNvPr>
          <p:cNvSpPr>
            <a:spLocks noGrp="1"/>
          </p:cNvSpPr>
          <p:nvPr/>
        </p:nvSpPr>
        <p:spPr>
          <a:xfrm>
            <a:off x="2333625" y="5486400"/>
            <a:ext cx="8858250" cy="4000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287"/>
          </a:bodyPr>
          <a:lstStyle/>
          <a:p>
            <a:pPr algn="l">
              <a:buNone/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500" b="1">
              <a:solidFill>
                <a:srgbClr val="242424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45656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B40A49-31C0-4601-B603-CCACFC461C1D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FEF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C59719-39D1-4E7F-837D-D24F43A1604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619250" cy="190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722" lnSpcReduction="10000"/>
          </a:bodyPr>
          <a:lstStyle/>
          <a:p>
            <a:pPr algn="ctr">
              <a:buNone/>
              <a:def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00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PILOT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3FD16-A551-4D75-A06E-67B4D94DE1B4}"/>
              </a:ext>
            </a:extLst>
          </p:cNvPr>
          <p:cNvSpPr>
            <a:spLocks noGrp="1"/>
          </p:cNvSpPr>
          <p:nvPr/>
        </p:nvSpPr>
        <p:spPr>
          <a:xfrm>
            <a:off x="2305050" y="22860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3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joint customer pilot can validate quality and economics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6EA4E0-C54F-4A86-BA6C-47A01B07C45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 algn="r">
              <a:buNone/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4830B1-F93E-475D-B55A-916302BEF64B}"/>
              </a:ext>
            </a:extLst>
          </p:cNvPr>
          <p:cNvSpPr>
            <a:spLocks noGrp="1"/>
          </p:cNvSpPr>
          <p:nvPr/>
        </p:nvSpPr>
        <p:spPr>
          <a:xfrm>
            <a:off x="304800" y="6200775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l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8551F-B7F6-433C-B49A-B5B4F019598A}"/>
              </a:ext>
            </a:extLst>
          </p:cNvPr>
          <p:cNvSpPr>
            <a:spLocks noGrp="1"/>
          </p:cNvSpPr>
          <p:nvPr/>
        </p:nvSpPr>
        <p:spPr>
          <a:xfrm>
            <a:off x="7334250" y="62007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808" lnSpcReduction="10000"/>
          </a:bodyPr>
          <a:lstStyle/>
          <a:p>
            <a:pPr algn="r">
              <a:buNone/>
              <a:def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75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266587-7B0C-408E-A0FB-64F16934786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46BB27-0B5E-4551-96EE-15BA26E0954C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676400" cy="533400"/>
          </a:xfrm>
          <a:prstGeom prst="rect">
            <a:avLst/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E331CB-207E-4433-B11E-185CEEFC2D12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9285F5-B130-49E4-B450-28628DC50DC1}"/>
              </a:ext>
            </a:extLst>
          </p:cNvPr>
          <p:cNvSpPr>
            <a:spLocks noGrp="1"/>
          </p:cNvSpPr>
          <p:nvPr/>
        </p:nvSpPr>
        <p:spPr>
          <a:xfrm>
            <a:off x="89535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Candidate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52625-E0FE-492D-9CD5-11679FF001CF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Select a stable task with material inference spend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96529-9EA0-427F-A5F5-FF49B163947C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7A149D-9CFA-4BF5-9DB2-88F49DFCE20E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11E50E-56B6-4897-A8B2-059C419998DF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1676400" cy="533400"/>
          </a:xfrm>
          <a:prstGeom prst="rect">
            <a:avLst/>
          </a:prstGeom>
          <a:solidFill>
            <a:srgbClr val="15936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05454F-56EF-43A9-9958-14275FBA6D19}"/>
              </a:ext>
            </a:extLst>
          </p:cNvPr>
          <p:cNvSpPr>
            <a:spLocks noGrp="1"/>
          </p:cNvSpPr>
          <p:nvPr/>
        </p:nvSpPr>
        <p:spPr>
          <a:xfrm>
            <a:off x="249555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38574A-AC9E-46AB-ABBF-033B80E55CFD}"/>
              </a:ext>
            </a:extLst>
          </p:cNvPr>
          <p:cNvSpPr>
            <a:spLocks noGrp="1"/>
          </p:cNvSpPr>
          <p:nvPr/>
        </p:nvSpPr>
        <p:spPr>
          <a:xfrm>
            <a:off x="281940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Baseline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3ECCB9-2BDC-4A8B-9B1B-F970893317CA}"/>
              </a:ext>
            </a:extLst>
          </p:cNvPr>
          <p:cNvSpPr>
            <a:spLocks noGrp="1"/>
          </p:cNvSpPr>
          <p:nvPr/>
        </p:nvSpPr>
        <p:spPr>
          <a:xfrm>
            <a:off x="255270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current quality, latency, tokens and cost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B1FE9F-66F2-435A-A7F5-F225B7F931DA}"/>
              </a:ext>
            </a:extLst>
          </p:cNvPr>
          <p:cNvSpPr>
            <a:spLocks noGrp="1"/>
          </p:cNvSpPr>
          <p:nvPr/>
        </p:nvSpPr>
        <p:spPr>
          <a:xfrm>
            <a:off x="403860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98B92F-F725-4CD7-B6C0-35C70158A85B}"/>
              </a:ext>
            </a:extLst>
          </p:cNvPr>
          <p:cNvSpPr>
            <a:spLocks noGrp="1"/>
          </p:cNvSpPr>
          <p:nvPr/>
        </p:nvSpPr>
        <p:spPr>
          <a:xfrm>
            <a:off x="430530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D7A8E8-680E-4BA2-8532-17D344C94C1B}"/>
              </a:ext>
            </a:extLst>
          </p:cNvPr>
          <p:cNvSpPr>
            <a:spLocks noGrp="1"/>
          </p:cNvSpPr>
          <p:nvPr/>
        </p:nvSpPr>
        <p:spPr>
          <a:xfrm>
            <a:off x="4305300" y="1428750"/>
            <a:ext cx="1676400" cy="533400"/>
          </a:xfrm>
          <a:prstGeom prst="rect">
            <a:avLst/>
          </a:prstGeom>
          <a:solidFill>
            <a:srgbClr val="765A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3F65CA-B10E-4979-A9D1-7F537D0C6E36}"/>
              </a:ext>
            </a:extLst>
          </p:cNvPr>
          <p:cNvSpPr>
            <a:spLocks noGrp="1"/>
          </p:cNvSpPr>
          <p:nvPr/>
        </p:nvSpPr>
        <p:spPr>
          <a:xfrm>
            <a:off x="441960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A62A44-4483-4F78-8B87-D3ADEEFB077A}"/>
              </a:ext>
            </a:extLst>
          </p:cNvPr>
          <p:cNvSpPr>
            <a:spLocks noGrp="1"/>
          </p:cNvSpPr>
          <p:nvPr/>
        </p:nvSpPr>
        <p:spPr>
          <a:xfrm>
            <a:off x="474345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Fine-tune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C49860-457D-4CAA-806E-9FBB088416DA}"/>
              </a:ext>
            </a:extLst>
          </p:cNvPr>
          <p:cNvSpPr>
            <a:spLocks noGrp="1"/>
          </p:cNvSpPr>
          <p:nvPr/>
        </p:nvSpPr>
        <p:spPr>
          <a:xfrm>
            <a:off x="447675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Prepare data and train a compact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C7E59A-85FB-417B-8868-48BFA982DF37}"/>
              </a:ext>
            </a:extLst>
          </p:cNvPr>
          <p:cNvSpPr>
            <a:spLocks noGrp="1"/>
          </p:cNvSpPr>
          <p:nvPr/>
        </p:nvSpPr>
        <p:spPr>
          <a:xfrm>
            <a:off x="596265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142F26-A6AD-4FBB-98E9-863305745B6E}"/>
              </a:ext>
            </a:extLst>
          </p:cNvPr>
          <p:cNvSpPr>
            <a:spLocks noGrp="1"/>
          </p:cNvSpPr>
          <p:nvPr/>
        </p:nvSpPr>
        <p:spPr>
          <a:xfrm>
            <a:off x="622935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F53745-9ED6-4304-8FEE-63E9E94BD759}"/>
              </a:ext>
            </a:extLst>
          </p:cNvPr>
          <p:cNvSpPr>
            <a:spLocks noGrp="1"/>
          </p:cNvSpPr>
          <p:nvPr/>
        </p:nvSpPr>
        <p:spPr>
          <a:xfrm>
            <a:off x="6229350" y="1428750"/>
            <a:ext cx="1676400" cy="533400"/>
          </a:xfrm>
          <a:prstGeom prst="rect">
            <a:avLst/>
          </a:prstGeom>
          <a:solidFill>
            <a:srgbClr val="176D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7AB8E2-05F4-431F-999F-696CA1E6F236}"/>
              </a:ext>
            </a:extLst>
          </p:cNvPr>
          <p:cNvSpPr>
            <a:spLocks noGrp="1"/>
          </p:cNvSpPr>
          <p:nvPr/>
        </p:nvSpPr>
        <p:spPr>
          <a:xfrm>
            <a:off x="634365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4CCF81-F73A-4B77-AA83-1868EE2DC99C}"/>
              </a:ext>
            </a:extLst>
          </p:cNvPr>
          <p:cNvSpPr>
            <a:spLocks noGrp="1"/>
          </p:cNvSpPr>
          <p:nvPr/>
        </p:nvSpPr>
        <p:spPr>
          <a:xfrm>
            <a:off x="666750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Deploy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1EFDDE-D1D3-4388-A865-1F7770C94395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Integrate a direct Fireworks endpoint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8A0EB1-AE19-419D-99BC-4051C5FB285C}"/>
              </a:ext>
            </a:extLst>
          </p:cNvPr>
          <p:cNvSpPr>
            <a:spLocks noGrp="1"/>
          </p:cNvSpPr>
          <p:nvPr/>
        </p:nvSpPr>
        <p:spPr>
          <a:xfrm>
            <a:off x="788670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3A41BF-0165-48FF-A82C-3F077378A2E0}"/>
              </a:ext>
            </a:extLst>
          </p:cNvPr>
          <p:cNvSpPr>
            <a:spLocks noGrp="1"/>
          </p:cNvSpPr>
          <p:nvPr/>
        </p:nvSpPr>
        <p:spPr>
          <a:xfrm>
            <a:off x="815340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FA5884-9D78-41FB-805D-AA5B5E24E73D}"/>
              </a:ext>
            </a:extLst>
          </p:cNvPr>
          <p:cNvSpPr>
            <a:spLocks noGrp="1"/>
          </p:cNvSpPr>
          <p:nvPr/>
        </p:nvSpPr>
        <p:spPr>
          <a:xfrm>
            <a:off x="8153400" y="1428750"/>
            <a:ext cx="1676400" cy="533400"/>
          </a:xfrm>
          <a:prstGeom prst="rect">
            <a:avLst/>
          </a:prstGeom>
          <a:solidFill>
            <a:srgbClr val="FF633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1A8C5B-6ECD-43D4-83FF-2A6DD2378547}"/>
              </a:ext>
            </a:extLst>
          </p:cNvPr>
          <p:cNvSpPr>
            <a:spLocks noGrp="1"/>
          </p:cNvSpPr>
          <p:nvPr/>
        </p:nvSpPr>
        <p:spPr>
          <a:xfrm>
            <a:off x="826770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3B66A3-9322-481E-9AA3-0716D4931B67}"/>
              </a:ext>
            </a:extLst>
          </p:cNvPr>
          <p:cNvSpPr>
            <a:spLocks noGrp="1"/>
          </p:cNvSpPr>
          <p:nvPr/>
        </p:nvSpPr>
        <p:spPr>
          <a:xfrm>
            <a:off x="859155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Evaluate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A6EE65-B889-4100-9985-88F3E8B0337A}"/>
              </a:ext>
            </a:extLst>
          </p:cNvPr>
          <p:cNvSpPr>
            <a:spLocks noGrp="1"/>
          </p:cNvSpPr>
          <p:nvPr/>
        </p:nvSpPr>
        <p:spPr>
          <a:xfrm>
            <a:off x="832485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Compare quality, errors, throughput and unit cost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857BFF-E958-49C8-9BDB-CAF1304B467D}"/>
              </a:ext>
            </a:extLst>
          </p:cNvPr>
          <p:cNvSpPr>
            <a:spLocks noGrp="1"/>
          </p:cNvSpPr>
          <p:nvPr/>
        </p:nvSpPr>
        <p:spPr>
          <a:xfrm>
            <a:off x="9810750" y="2781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33" lnSpcReduction="20000"/>
          </a:bodyPr>
          <a:lstStyle/>
          <a:p>
            <a:pPr algn="ctr">
              <a:buNone/>
              <a:def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1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8526A6E-B980-4BD7-9893-DDA39A39EB49}"/>
              </a:ext>
            </a:extLst>
          </p:cNvPr>
          <p:cNvSpPr>
            <a:spLocks noGrp="1"/>
          </p:cNvSpPr>
          <p:nvPr/>
        </p:nvSpPr>
        <p:spPr>
          <a:xfrm>
            <a:off x="10077450" y="1428750"/>
            <a:ext cx="1676400" cy="2341407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9D7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CC1B15-9098-4769-B7ED-AFD1B8AACC0A}"/>
              </a:ext>
            </a:extLst>
          </p:cNvPr>
          <p:cNvSpPr>
            <a:spLocks noGrp="1"/>
          </p:cNvSpPr>
          <p:nvPr/>
        </p:nvSpPr>
        <p:spPr>
          <a:xfrm>
            <a:off x="10077450" y="1428750"/>
            <a:ext cx="1676400" cy="533400"/>
          </a:xfrm>
          <a:prstGeom prst="rect">
            <a:avLst/>
          </a:prstGeom>
          <a:solidFill>
            <a:srgbClr val="3486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79B574-9AAC-4F8E-B5E3-DE28C8A77B03}"/>
              </a:ext>
            </a:extLst>
          </p:cNvPr>
          <p:cNvSpPr>
            <a:spLocks noGrp="1"/>
          </p:cNvSpPr>
          <p:nvPr/>
        </p:nvSpPr>
        <p:spPr>
          <a:xfrm>
            <a:off x="10191750" y="156210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6C21AC-C97C-48F0-B262-51FE643CB956}"/>
              </a:ext>
            </a:extLst>
          </p:cNvPr>
          <p:cNvSpPr>
            <a:spLocks noGrp="1"/>
          </p:cNvSpPr>
          <p:nvPr/>
        </p:nvSpPr>
        <p:spPr>
          <a:xfrm>
            <a:off x="10515600" y="1562100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Decide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80F3DC-DE4E-42FC-99DC-08D12DAA8618}"/>
              </a:ext>
            </a:extLst>
          </p:cNvPr>
          <p:cNvSpPr>
            <a:spLocks noGrp="1"/>
          </p:cNvSpPr>
          <p:nvPr/>
        </p:nvSpPr>
        <p:spPr>
          <a:xfrm>
            <a:off x="10248900" y="2343150"/>
            <a:ext cx="133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Deliver ROI evidence and a go / no-go decision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8393C6-FAA1-4EA2-B760-75B2245F7815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Success measures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DBE43F-7267-4F9F-9924-B8253B105F76}"/>
              </a:ext>
            </a:extLst>
          </p:cNvPr>
          <p:cNvSpPr>
            <a:spLocks noGrp="1"/>
          </p:cNvSpPr>
          <p:nvPr/>
        </p:nvSpPr>
        <p:spPr>
          <a:xfrm>
            <a:off x="2362200" y="4819650"/>
            <a:ext cx="9144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368" lnSpcReduction="10000"/>
          </a:bodyPr>
          <a:lstStyle/>
          <a:p>
            <a:pPr algn="l">
              <a:buNone/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Task quality, critical errors, latency, throughput, cost per 1,000 successful requests, fallback frequency and operating requirements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D515C4-410F-4271-AF22-ADCD0F642ACD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8246"/>
          </a:bodyPr>
          <a:lstStyle/>
          <a:p>
            <a:pPr algn="ctr">
              <a:buNone/>
              <a:defRPr sz="142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400" b="1">
              <a:solidFill>
                <a:srgbClr val="D24747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39998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E5299B-85B6-45C9-A877-3EA9158EE580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✦ southworks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DAA9F-9170-49EE-AD01-1DCB482A41EB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6286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36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Partnership discussion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C9E07A-BA9B-4A56-B140-3AFF03D9116F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A focused next step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0C5148-4334-4A5D-84A9-53B6AB2F5437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D28C10-534C-4DD0-BD12-F98A8D1E277E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Select one joint customer profile or internal workload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F30CC0-EAF4-4346-BB1D-421B6BBAA64B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AD41F-27A0-418E-AB66-15857858A839}"/>
              </a:ext>
            </a:extLst>
          </p:cNvPr>
          <p:cNvSpPr>
            <a:spLocks noGrp="1"/>
          </p:cNvSpPr>
          <p:nvPr/>
        </p:nvSpPr>
        <p:spPr>
          <a:xfrm>
            <a:off x="1428750" y="34671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Confirm </a:t>
            </a:r>
            <a:r>
              <a:rPr sz="155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</a:t>
            </a:r>
            <a:r>
              <a:rPr sz="15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 and Fireworks deployment assumptions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4D00E8-CB52-44FC-AC8A-163A0B1BA6A3}"/>
              </a:ext>
            </a:extLst>
          </p:cNvPr>
          <p:cNvSpPr>
            <a:spLocks noGrp="1"/>
          </p:cNvSpPr>
          <p:nvPr/>
        </p:nvSpPr>
        <p:spPr>
          <a:xfrm>
            <a:off x="838200" y="4114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07F53-C4E5-491F-8AE8-5E5D60DC24F7}"/>
              </a:ext>
            </a:extLst>
          </p:cNvPr>
          <p:cNvSpPr>
            <a:spLocks noGrp="1"/>
          </p:cNvSpPr>
          <p:nvPr/>
        </p:nvSpPr>
        <p:spPr>
          <a:xfrm>
            <a:off x="1428750" y="40767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Agree pilot success thresholds and ownership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2A9511-109C-40D2-BC5F-6C2ED10E0E65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8202" lnSpcReduction="10000"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400" b="1">
              <a:solidFill>
                <a:srgbClr val="FFFFF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757C4C-9E91-402E-859A-EEA354B4E02D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endParaRPr sz="1550" b="0">
              <a:solidFill>
                <a:srgbClr val="FFFFFF"/>
              </a:solidFill>
              <a:latin typeface="Instrument Sans regular"/>
              <a:ea typeface="Instrument Sans regular"/>
              <a:cs typeface="Instrument Sans regular"/>
            </a:endParaRPr>
          </a:p>
        </p:txBody>
      </p:sp>
      <p:pic>
        <p:nvPicPr>
          <p:cNvPr id="30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72500" y="1752600"/>
            <a:ext cx="2762250" cy="27622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AE140BD-3618-4B98-932F-5C6021FDD54B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7429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528" lnSpcReduction="10000"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brings the engineering layer between a promising model and a defensible production business case.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63C575-BC6B-4C0E-A0E5-32B20C4FC197}"/>
              </a:ext>
            </a:extLst>
          </p:cNvPr>
          <p:cNvSpPr>
            <a:spLocks noGrp="1"/>
          </p:cNvSpPr>
          <p:nvPr/>
        </p:nvSpPr>
        <p:spPr>
          <a:xfrm>
            <a:off x="438150" y="61912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4" lnSpcReduction="10000"/>
          </a:bodyPr>
          <a:lstStyle/>
          <a:p>
            <a:pPr algn="l">
              <a:buNone/>
              <a:def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</p:spTree>
    <p:extLst>
      <p:ext uri="{BB962C8B-B14F-4D97-AF65-F5344CB8AC3E}">
        <p14:creationId xmlns:p14="http://schemas.microsoft.com/office/powerpoint/2010/main" val="7883186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3083</Words>
  <Application>Microsoft Macintosh PowerPoint</Application>
  <DocSecurity>0</DocSecurity>
  <PresentationFormat>Widescreen</PresentationFormat>
  <Paragraphs>567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Instrument Sans regular</vt:lpstr>
      <vt:lpstr>PP Telegraf regular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Alberto Ito</cp:lastModifiedBy>
  <cp:revision>5</cp:revision>
  <dcterms:created xsi:type="dcterms:W3CDTF">2026-10-23T17:24:08Z</dcterms:created>
  <dcterms:modified xsi:type="dcterms:W3CDTF">2026-10-23T18:01:05Z</dcterms:modified>
</cp:coreProperties>
</file>